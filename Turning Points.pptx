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handoutMasterIdLst>
    <p:handoutMasterId r:id="rId32"/>
  </p:handoutMasterIdLst>
  <p:sldIdLst>
    <p:sldId id="365" r:id="rId2"/>
    <p:sldId id="258" r:id="rId3"/>
    <p:sldId id="260" r:id="rId4"/>
    <p:sldId id="394" r:id="rId5"/>
    <p:sldId id="408" r:id="rId6"/>
    <p:sldId id="409" r:id="rId7"/>
    <p:sldId id="411" r:id="rId8"/>
    <p:sldId id="410" r:id="rId9"/>
    <p:sldId id="412" r:id="rId10"/>
    <p:sldId id="414" r:id="rId11"/>
    <p:sldId id="416" r:id="rId12"/>
    <p:sldId id="415" r:id="rId13"/>
    <p:sldId id="413" r:id="rId14"/>
    <p:sldId id="417" r:id="rId15"/>
    <p:sldId id="429" r:id="rId16"/>
    <p:sldId id="418" r:id="rId17"/>
    <p:sldId id="419" r:id="rId18"/>
    <p:sldId id="355" r:id="rId19"/>
    <p:sldId id="422" r:id="rId20"/>
    <p:sldId id="421" r:id="rId21"/>
    <p:sldId id="420" r:id="rId22"/>
    <p:sldId id="358" r:id="rId23"/>
    <p:sldId id="423" r:id="rId24"/>
    <p:sldId id="424" r:id="rId25"/>
    <p:sldId id="425" r:id="rId26"/>
    <p:sldId id="426" r:id="rId27"/>
    <p:sldId id="427" r:id="rId28"/>
    <p:sldId id="428" r:id="rId29"/>
    <p:sldId id="430" r:id="rId30"/>
  </p:sldIdLst>
  <p:sldSz cx="12188825" cy="6858000"/>
  <p:notesSz cx="7010400" cy="9296400"/>
  <p:custDataLst>
    <p:tags r:id="rId33"/>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335">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ieter Gawlick" initials="DG" lastIdx="3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2521" autoAdjust="0"/>
  </p:normalViewPr>
  <p:slideViewPr>
    <p:cSldViewPr>
      <p:cViewPr varScale="1">
        <p:scale>
          <a:sx n="89" d="100"/>
          <a:sy n="89" d="100"/>
        </p:scale>
        <p:origin x="466" y="72"/>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151" d="100"/>
        <a:sy n="151" d="100"/>
      </p:scale>
      <p:origin x="0" y="-13315"/>
    </p:cViewPr>
  </p:sorterViewPr>
  <p:notesViewPr>
    <p:cSldViewPr>
      <p:cViewPr varScale="1">
        <p:scale>
          <a:sx n="83" d="100"/>
          <a:sy n="83" d="100"/>
        </p:scale>
        <p:origin x="-3156" y="-7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wrap="square" lIns="93177" tIns="46589" rIns="93177" bIns="46589" numCol="1" anchor="t" anchorCtr="0" compatLnSpc="1">
            <a:prstTxWarp prst="textNoShape">
              <a:avLst/>
            </a:prstTxWarp>
          </a:bodyPr>
          <a:lstStyle>
            <a:lvl1pPr>
              <a:defRPr sz="1200">
                <a:latin typeface="Calibri" pitchFamily="34" charset="0"/>
              </a:defRPr>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Calibri" pitchFamily="34" charset="0"/>
              </a:defRPr>
            </a:lvl1pPr>
          </a:lstStyle>
          <a:p>
            <a:fld id="{74FFCAA9-E484-4DBD-93AF-469080BFBFD6}" type="datetimeFigureOut">
              <a:rPr lang="en-US"/>
              <a:pPr/>
              <a:t>12/31/2024</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wrap="square" lIns="93177" tIns="46589" rIns="93177" bIns="46589" numCol="1" anchor="b" anchorCtr="0" compatLnSpc="1">
            <a:prstTxWarp prst="textNoShape">
              <a:avLst/>
            </a:prstTxWarp>
          </a:bodyPr>
          <a:lstStyle>
            <a:lvl1pPr>
              <a:defRPr sz="1200">
                <a:latin typeface="Calibri" pitchFamily="34" charset="0"/>
              </a:defRPr>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pitchFamily="34" charset="0"/>
              </a:defRPr>
            </a:lvl1pPr>
          </a:lstStyle>
          <a:p>
            <a:fld id="{186F4FB2-FB67-4E27-9226-CD7E0DC3AD67}" type="slidenum">
              <a:rPr lang="en-US"/>
              <a:pPr/>
              <a:t>‹#›</a:t>
            </a:fld>
            <a:endParaRPr lang="en-US"/>
          </a:p>
        </p:txBody>
      </p:sp>
    </p:spTree>
    <p:extLst>
      <p:ext uri="{BB962C8B-B14F-4D97-AF65-F5344CB8AC3E}">
        <p14:creationId xmlns:p14="http://schemas.microsoft.com/office/powerpoint/2010/main" val="21128867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1638" y="387350"/>
            <a:ext cx="4651375" cy="2616200"/>
          </a:xfrm>
          <a:prstGeom prst="rect">
            <a:avLst/>
          </a:prstGeom>
          <a:noFill/>
          <a:ln w="12700">
            <a:solidFill>
              <a:prstClr val="black"/>
            </a:solidFill>
          </a:ln>
        </p:spPr>
        <p:txBody>
          <a:bodyPr vert="horz" lIns="93177" tIns="46589" rIns="93177" bIns="46589" rtlCol="0" anchor="ctr"/>
          <a:lstStyle/>
          <a:p>
            <a:pPr lvl="0"/>
            <a:endParaRPr noProof="0" dirty="0"/>
          </a:p>
        </p:txBody>
      </p:sp>
      <p:sp>
        <p:nvSpPr>
          <p:cNvPr id="5" name="Notes Placeholder 4"/>
          <p:cNvSpPr>
            <a:spLocks noGrp="1"/>
          </p:cNvSpPr>
          <p:nvPr>
            <p:ph type="body" sz="quarter" idx="3"/>
          </p:nvPr>
        </p:nvSpPr>
        <p:spPr>
          <a:xfrm>
            <a:off x="389467" y="3176270"/>
            <a:ext cx="6231467" cy="5422900"/>
          </a:xfrm>
          <a:prstGeom prst="rect">
            <a:avLst/>
          </a:prstGeom>
        </p:spPr>
        <p:txBody>
          <a:bodyPr vert="horz" lIns="0" tIns="0" rIns="0" bIns="93177" rtlCol="0">
            <a:normAutofit/>
          </a:bodyPr>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p:cNvSpPr>
            <a:spLocks noGrp="1"/>
          </p:cNvSpPr>
          <p:nvPr>
            <p:ph type="ftr" sz="quarter" idx="4"/>
          </p:nvPr>
        </p:nvSpPr>
        <p:spPr>
          <a:xfrm>
            <a:off x="389467" y="8754110"/>
            <a:ext cx="4751493" cy="230797"/>
          </a:xfrm>
          <a:prstGeom prst="rect">
            <a:avLst/>
          </a:prstGeom>
        </p:spPr>
        <p:txBody>
          <a:bodyPr vert="horz" wrap="square" lIns="93177" tIns="46589" rIns="93177" bIns="46589" numCol="1" anchor="b" anchorCtr="0" compatLnSpc="1">
            <a:prstTxWarp prst="textNoShape">
              <a:avLst/>
            </a:prstTxWarp>
          </a:bodyPr>
          <a:lstStyle>
            <a:lvl1pPr>
              <a:defRPr sz="1200">
                <a:latin typeface="Calibri" pitchFamily="34" charset="0"/>
              </a:defRPr>
            </a:lvl1pPr>
          </a:lstStyle>
          <a:p>
            <a:endParaRPr lang="en-US"/>
          </a:p>
        </p:txBody>
      </p:sp>
      <p:sp>
        <p:nvSpPr>
          <p:cNvPr id="7" name="Slide Number Placeholder 6"/>
          <p:cNvSpPr>
            <a:spLocks noGrp="1"/>
          </p:cNvSpPr>
          <p:nvPr>
            <p:ph type="sldNum" sz="quarter" idx="5"/>
          </p:nvPr>
        </p:nvSpPr>
        <p:spPr>
          <a:xfrm>
            <a:off x="5842000" y="8754110"/>
            <a:ext cx="778933" cy="230797"/>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pitchFamily="34" charset="0"/>
              </a:defRPr>
            </a:lvl1pPr>
          </a:lstStyle>
          <a:p>
            <a:fld id="{63426149-B0F5-4797-9621-2F74950A61C2}" type="slidenum">
              <a:rPr lang="en-US"/>
              <a:pPr/>
              <a:t>‹#›</a:t>
            </a:fld>
            <a:endParaRPr lang="en-US"/>
          </a:p>
        </p:txBody>
      </p:sp>
    </p:spTree>
    <p:extLst>
      <p:ext uri="{BB962C8B-B14F-4D97-AF65-F5344CB8AC3E}">
        <p14:creationId xmlns:p14="http://schemas.microsoft.com/office/powerpoint/2010/main" val="528473631"/>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100" kern="1200">
        <a:solidFill>
          <a:schemeClr val="tx1"/>
        </a:solidFill>
        <a:latin typeface="+mn-lt"/>
        <a:ea typeface="+mn-ea"/>
        <a:cs typeface="+mn-cs"/>
      </a:defRPr>
    </a:lvl1pPr>
    <a:lvl2pPr marL="228600" indent="-114300" algn="l" rtl="0" eaLnBrk="0" fontAlgn="base" hangingPunct="0">
      <a:spcBef>
        <a:spcPts val="600"/>
      </a:spcBef>
      <a:spcAft>
        <a:spcPct val="0"/>
      </a:spcAft>
      <a:buFont typeface="Arial" charset="0"/>
      <a:buChar char="•"/>
      <a:defRPr sz="1000" kern="1200">
        <a:solidFill>
          <a:schemeClr val="tx1"/>
        </a:solidFill>
        <a:latin typeface="+mn-lt"/>
        <a:ea typeface="+mn-ea"/>
        <a:cs typeface="+mn-cs"/>
      </a:defRPr>
    </a:lvl2pPr>
    <a:lvl3pPr marL="400050" indent="-114300" algn="l" rtl="0" eaLnBrk="0" fontAlgn="base" hangingPunct="0">
      <a:spcBef>
        <a:spcPts val="600"/>
      </a:spcBef>
      <a:spcAft>
        <a:spcPct val="0"/>
      </a:spcAft>
      <a:buFont typeface="Arial" charset="0"/>
      <a:buChar char="–"/>
      <a:defRPr sz="900" kern="1200">
        <a:solidFill>
          <a:schemeClr val="tx1"/>
        </a:solidFill>
        <a:latin typeface="+mn-lt"/>
        <a:ea typeface="+mn-ea"/>
        <a:cs typeface="+mn-cs"/>
      </a:defRPr>
    </a:lvl3pPr>
    <a:lvl4pPr marL="571500" indent="-114300" algn="l" rtl="0" eaLnBrk="0" fontAlgn="base" hangingPunct="0">
      <a:spcBef>
        <a:spcPts val="600"/>
      </a:spcBef>
      <a:spcAft>
        <a:spcPct val="0"/>
      </a:spcAft>
      <a:buFont typeface="Arial" charset="0"/>
      <a:buChar char="•"/>
      <a:defRPr sz="900" kern="1200">
        <a:solidFill>
          <a:schemeClr val="tx1"/>
        </a:solidFill>
        <a:latin typeface="+mn-lt"/>
        <a:ea typeface="+mn-ea"/>
        <a:cs typeface="+mn-cs"/>
      </a:defRPr>
    </a:lvl4pPr>
    <a:lvl5pPr marL="742950" indent="-114300" algn="l" rtl="0" eaLnBrk="0" fontAlgn="base" hangingPunct="0">
      <a:spcBef>
        <a:spcPts val="600"/>
      </a:spcBef>
      <a:spcAft>
        <a:spcPct val="0"/>
      </a:spcAft>
      <a:buFont typeface="Arial"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mailto:Revrec-americasiebc_us@oracle.com"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my.oracle.com/site/fin/gfo/GlobalProcesses/cnt452504.pdf"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a:p>
        </p:txBody>
      </p:sp>
      <p:sp>
        <p:nvSpPr>
          <p:cNvPr id="51204" name="Slide Number Placeholder 3"/>
          <p:cNvSpPr>
            <a:spLocks noGrp="1"/>
          </p:cNvSpPr>
          <p:nvPr>
            <p:ph type="sldNum" sz="quarter" idx="5"/>
          </p:nvPr>
        </p:nvSpPr>
        <p:spPr bwMode="auto">
          <a:noFill/>
          <a:ln>
            <a:miter lim="800000"/>
            <a:headEnd/>
            <a:tailEnd/>
          </a:ln>
        </p:spPr>
        <p:txBody>
          <a:bodyPr/>
          <a:lstStyle/>
          <a:p>
            <a:fld id="{A2A0C082-AA9C-4E2A-8754-030906AED1A4}"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p:spPr>
      </p:sp>
      <p:sp>
        <p:nvSpPr>
          <p:cNvPr id="522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t>This is a </a:t>
            </a:r>
            <a:r>
              <a:rPr lang="en-US" b="1"/>
              <a:t>Title Slide with Picture </a:t>
            </a:r>
            <a:r>
              <a:rPr lang="en-US"/>
              <a:t>slide</a:t>
            </a:r>
            <a:r>
              <a:rPr lang="en-US" b="1"/>
              <a:t> </a:t>
            </a:r>
            <a:r>
              <a:rPr lang="en-US"/>
              <a:t>ideal for including a picture with a brief title, subtitle and presenter information.</a:t>
            </a:r>
          </a:p>
          <a:p>
            <a:pPr eaLnBrk="1" hangingPunct="1"/>
            <a:endParaRPr lang="en-US"/>
          </a:p>
          <a:p>
            <a:pPr eaLnBrk="1" hangingPunct="1"/>
            <a:r>
              <a:rPr lang="en-US"/>
              <a:t>To customize this slide with your own picture:</a:t>
            </a:r>
          </a:p>
          <a:p>
            <a:pPr eaLnBrk="1" hangingPunct="1"/>
            <a:endParaRPr lang="en-US"/>
          </a:p>
          <a:p>
            <a:pPr eaLnBrk="1" hangingPunct="1"/>
            <a:r>
              <a:rPr lang="en-US" b="1"/>
              <a:t>Right-click</a:t>
            </a:r>
            <a:r>
              <a:rPr lang="en-US"/>
              <a:t> the slide area and choose </a:t>
            </a:r>
            <a:r>
              <a:rPr lang="en-US" b="1"/>
              <a:t>Format Background </a:t>
            </a:r>
            <a:r>
              <a:rPr lang="en-US"/>
              <a:t>from the pop-up menu. From the </a:t>
            </a:r>
            <a:r>
              <a:rPr lang="en-US" b="1"/>
              <a:t>Fill</a:t>
            </a:r>
            <a:r>
              <a:rPr lang="en-US"/>
              <a:t> menu, click </a:t>
            </a:r>
            <a:r>
              <a:rPr lang="en-US" b="1"/>
              <a:t>Picture</a:t>
            </a:r>
            <a:r>
              <a:rPr lang="en-US"/>
              <a:t> </a:t>
            </a:r>
            <a:r>
              <a:rPr lang="en-US" b="1"/>
              <a:t>and texture fill</a:t>
            </a:r>
            <a:r>
              <a:rPr lang="en-US"/>
              <a:t>. Under </a:t>
            </a:r>
            <a:r>
              <a:rPr lang="en-US" b="1"/>
              <a:t>Insert from: </a:t>
            </a:r>
            <a:r>
              <a:rPr lang="en-US"/>
              <a:t>click </a:t>
            </a:r>
            <a:r>
              <a:rPr lang="en-US" b="1"/>
              <a:t>File</a:t>
            </a:r>
            <a:r>
              <a:rPr lang="en-US"/>
              <a:t>. Locate your new picture and click </a:t>
            </a:r>
            <a:r>
              <a:rPr lang="en-US" b="1"/>
              <a:t>Insert</a:t>
            </a:r>
            <a:r>
              <a:rPr lang="en-US"/>
              <a:t>.</a:t>
            </a:r>
          </a:p>
        </p:txBody>
      </p:sp>
      <p:sp>
        <p:nvSpPr>
          <p:cNvPr id="52228" name="Slide Number Placeholder 3"/>
          <p:cNvSpPr>
            <a:spLocks noGrp="1"/>
          </p:cNvSpPr>
          <p:nvPr>
            <p:ph type="sldNum" sz="quarter" idx="5"/>
          </p:nvPr>
        </p:nvSpPr>
        <p:spPr bwMode="auto">
          <a:noFill/>
          <a:ln>
            <a:miter lim="800000"/>
            <a:headEnd/>
            <a:tailEnd/>
          </a:ln>
        </p:spPr>
        <p:txBody>
          <a:bodyPr/>
          <a:lstStyle/>
          <a:p>
            <a:fld id="{3F7E1975-03CD-42E6-A846-C403A556B56C}" type="slidenum">
              <a:rPr lang="en-US"/>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t>This is a </a:t>
            </a:r>
            <a:r>
              <a:rPr lang="en-US" b="1"/>
              <a:t>Safe Harbor Front </a:t>
            </a:r>
            <a:r>
              <a:rPr lang="en-US"/>
              <a:t>slide, one of two Safe Harbor Statement slides included in this template. </a:t>
            </a:r>
          </a:p>
          <a:p>
            <a:pPr eaLnBrk="1" hangingPunct="1"/>
            <a:endParaRPr lang="en-US"/>
          </a:p>
          <a:p>
            <a:pPr eaLnBrk="1" hangingPunct="1"/>
            <a:r>
              <a:rPr lang="en-US"/>
              <a:t>One of the Safe Harbor slides must be used if your presentation covers material affected by Oracle’s Revenue Recognition Policy </a:t>
            </a:r>
          </a:p>
          <a:p>
            <a:pPr eaLnBrk="1" hangingPunct="1"/>
            <a:endParaRPr lang="en-US"/>
          </a:p>
          <a:p>
            <a:pPr eaLnBrk="1" hangingPunct="1"/>
            <a:r>
              <a:rPr lang="en-US"/>
              <a:t>To learn more about this policy, e-mail: </a:t>
            </a:r>
            <a:r>
              <a:rPr lang="en-US">
                <a:hlinkClick r:id="rId3"/>
              </a:rPr>
              <a:t>Revrec-americasiebc_us@oracle.com </a:t>
            </a:r>
            <a:endParaRPr lang="en-US"/>
          </a:p>
          <a:p>
            <a:pPr eaLnBrk="1" hangingPunct="1"/>
            <a:endParaRPr lang="en-US"/>
          </a:p>
          <a:p>
            <a:pPr eaLnBrk="1" hangingPunct="1"/>
            <a:r>
              <a:rPr lang="en-US"/>
              <a:t>For internal communication, Safe Harbor Statements are not required. However, there is an applicable disclaimer (Exhibit E) that should be used, found in the Oracle Revenue Recognition Policy for Future Product Communications. Copy and paste this link into a web browser, to find out more information.  </a:t>
            </a:r>
          </a:p>
          <a:p>
            <a:pPr eaLnBrk="1" hangingPunct="1"/>
            <a:endParaRPr lang="en-US"/>
          </a:p>
          <a:p>
            <a:pPr eaLnBrk="1" hangingPunct="1"/>
            <a:r>
              <a:rPr lang="en-US" u="sng">
                <a:hlinkClick r:id="rId4"/>
              </a:rPr>
              <a:t>http://my.oracle.com/site/fin/gfo/GlobalProcesses/cnt452504.pdf</a:t>
            </a:r>
            <a:endParaRPr lang="en-US" u="sng"/>
          </a:p>
          <a:p>
            <a:pPr eaLnBrk="1" hangingPunct="1"/>
            <a:endParaRPr lang="en-US" u="sng"/>
          </a:p>
          <a:p>
            <a:pPr eaLnBrk="1" hangingPunct="1"/>
            <a:r>
              <a:rPr lang="en-US"/>
              <a:t>For all external communications such as press release, roadmaps, PowerPoint presentations, Safe Harbor Statements are required. You can refer to the link mentioned above to find out additional information/disclaimers required depending on your audience.</a:t>
            </a:r>
          </a:p>
        </p:txBody>
      </p:sp>
      <p:sp>
        <p:nvSpPr>
          <p:cNvPr id="53252" name="Slide Number Placeholder 3"/>
          <p:cNvSpPr>
            <a:spLocks noGrp="1"/>
          </p:cNvSpPr>
          <p:nvPr>
            <p:ph type="sldNum" sz="quarter" idx="5"/>
          </p:nvPr>
        </p:nvSpPr>
        <p:spPr bwMode="auto">
          <a:noFill/>
          <a:ln>
            <a:miter lim="800000"/>
            <a:headEnd/>
            <a:tailEnd/>
          </a:ln>
        </p:spPr>
        <p:txBody>
          <a:bodyPr/>
          <a:lstStyle/>
          <a:p>
            <a:fld id="{B3BF071B-FCD6-4CE7-83E3-A2BE8123C2A8}" type="slidenum">
              <a:rPr lang="en-US"/>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3.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Master" Target="../slideMasters/slideMaster1.xml"/><Relationship Id="rId1" Type="http://schemas.openxmlformats.org/officeDocument/2006/relationships/themeOverride" Target="../theme/themeOverride5.xml"/><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5" name="TextBox 4"/>
          <p:cNvSpPr txBox="1"/>
          <p:nvPr/>
        </p:nvSpPr>
        <p:spPr>
          <a:xfrm>
            <a:off x="5989638" y="6556375"/>
            <a:ext cx="2787650" cy="182563"/>
          </a:xfrm>
          <a:prstGeom prst="rect">
            <a:avLst/>
          </a:prstGeom>
          <a:noFill/>
        </p:spPr>
        <p:txBody>
          <a:bodyPr wrap="none" lIns="0" tIns="0" rIns="0" bIns="0" anchor="ctr"/>
          <a:lstStyle/>
          <a:p>
            <a:pPr fontAlgn="auto">
              <a:spcBef>
                <a:spcPts val="0"/>
              </a:spcBef>
              <a:spcAft>
                <a:spcPts val="0"/>
              </a:spcAft>
              <a:defRPr/>
            </a:pPr>
            <a:r>
              <a:rPr sz="800" dirty="0">
                <a:solidFill>
                  <a:schemeClr val="tx1">
                    <a:lumMod val="60000"/>
                    <a:lumOff val="40000"/>
                  </a:schemeClr>
                </a:solidFill>
                <a:latin typeface="+mn-lt"/>
                <a:cs typeface="+mn-cs"/>
              </a:rPr>
              <a:t>Copyright © 2014 Oracle and/or its affiliates. All rights reserved.  |</a:t>
            </a:r>
          </a:p>
        </p:txBody>
      </p:sp>
      <p:pic>
        <p:nvPicPr>
          <p:cNvPr id="6" name="Oracle red badge logo" descr="Oracle logo in white on red staging background"/>
          <p:cNvPicPr>
            <a:picLocks noChangeAspect="1"/>
          </p:cNvPicPr>
          <p:nvPr/>
        </p:nvPicPr>
        <p:blipFill>
          <a:blip r:embed="rId2" cstate="print"/>
          <a:srcRect/>
          <a:stretch>
            <a:fillRect/>
          </a:stretch>
        </p:blipFill>
        <p:spPr bwMode="ltGray">
          <a:xfrm>
            <a:off x="531813" y="6264275"/>
            <a:ext cx="1622425" cy="593725"/>
          </a:xfrm>
          <a:prstGeom prst="rect">
            <a:avLst/>
          </a:prstGeom>
          <a:noFill/>
          <a:ln w="9525">
            <a:noFill/>
            <a:miter lim="800000"/>
            <a:headEnd/>
            <a:tailEnd/>
          </a:ln>
        </p:spPr>
      </p:pic>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Text Placeholder 12"/>
          <p:cNvSpPr>
            <a:spLocks noGrp="1"/>
          </p:cNvSpPr>
          <p:nvPr>
            <p:ph type="body" sz="quarter" idx="13"/>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7" name="Date Placeholder 3"/>
          <p:cNvSpPr>
            <a:spLocks noGrp="1"/>
          </p:cNvSpPr>
          <p:nvPr>
            <p:ph type="dt" sz="half" idx="14"/>
          </p:nvPr>
        </p:nvSpPr>
        <p:spPr/>
        <p:txBody>
          <a:bodyPr/>
          <a:lstStyle>
            <a:lvl1pPr>
              <a:defRPr/>
            </a:lvl1pPr>
          </a:lstStyle>
          <a:p>
            <a:r>
              <a:rPr lang="en-US"/>
              <a:t>May 27, 2023</a:t>
            </a:r>
          </a:p>
        </p:txBody>
      </p:sp>
      <p:sp>
        <p:nvSpPr>
          <p:cNvPr id="8" name="Footer Placeholder 4"/>
          <p:cNvSpPr>
            <a:spLocks noGrp="1"/>
          </p:cNvSpPr>
          <p:nvPr>
            <p:ph type="ftr" sz="quarter" idx="15"/>
          </p:nvPr>
        </p:nvSpPr>
        <p:spPr/>
        <p:txBody>
          <a:bodyPr/>
          <a:lstStyle>
            <a:lvl1pPr>
              <a:defRPr/>
            </a:lvl1pPr>
          </a:lstStyle>
          <a:p>
            <a:pPr>
              <a:defRPr/>
            </a:pPr>
            <a:r>
              <a:rPr lang="en-US"/>
              <a:t>MArburg - Turning Points</a:t>
            </a:r>
            <a:endParaRPr/>
          </a:p>
        </p:txBody>
      </p:sp>
      <p:sp>
        <p:nvSpPr>
          <p:cNvPr id="9" name="Slide Number Placeholder 5"/>
          <p:cNvSpPr>
            <a:spLocks noGrp="1"/>
          </p:cNvSpPr>
          <p:nvPr>
            <p:ph type="sldNum" sz="quarter" idx="16"/>
          </p:nvPr>
        </p:nvSpPr>
        <p:spPr>
          <a:xfrm>
            <a:off x="11276013" y="6934200"/>
            <a:ext cx="381000" cy="182563"/>
          </a:xfrm>
        </p:spPr>
        <p:txBody>
          <a:bodyPr/>
          <a:lstStyle>
            <a:lvl1pPr>
              <a:defRPr/>
            </a:lvl1pPr>
          </a:lstStyle>
          <a:p>
            <a:fld id="{E8CBB727-C775-4BEE-9F25-4D80C20A24D8}" type="slidenum">
              <a:rPr lang="en-US"/>
              <a:pPr/>
              <a:t>‹#›</a:t>
            </a:fld>
            <a:endParaRPr 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TextBox 3"/>
          <p:cNvSpPr txBox="1"/>
          <p:nvPr/>
        </p:nvSpPr>
        <p:spPr>
          <a:xfrm>
            <a:off x="5989638" y="6556375"/>
            <a:ext cx="2787650" cy="182563"/>
          </a:xfrm>
          <a:prstGeom prst="rect">
            <a:avLst/>
          </a:prstGeom>
          <a:noFill/>
        </p:spPr>
        <p:txBody>
          <a:bodyPr wrap="none" lIns="0" tIns="0" rIns="0" bIns="0" anchor="ctr"/>
          <a:lstStyle/>
          <a:p>
            <a:pPr fontAlgn="auto">
              <a:spcBef>
                <a:spcPts val="0"/>
              </a:spcBef>
              <a:spcAft>
                <a:spcPts val="0"/>
              </a:spcAft>
              <a:defRPr/>
            </a:pPr>
            <a:r>
              <a:rPr sz="800" dirty="0">
                <a:solidFill>
                  <a:schemeClr val="tx1">
                    <a:lumMod val="60000"/>
                    <a:lumOff val="40000"/>
                  </a:schemeClr>
                </a:solidFill>
                <a:latin typeface="+mn-lt"/>
                <a:cs typeface="+mn-cs"/>
              </a:rPr>
              <a:t>Copyright © 2014 Oracle and/or its affiliates. All rights reserved.  |</a:t>
            </a:r>
          </a:p>
        </p:txBody>
      </p:sp>
      <p:pic>
        <p:nvPicPr>
          <p:cNvPr id="5" name="Oracle red badge logo" descr="Oracle logo in white on red staging background"/>
          <p:cNvPicPr>
            <a:picLocks noChangeAspect="1"/>
          </p:cNvPicPr>
          <p:nvPr userDrawn="1"/>
        </p:nvPicPr>
        <p:blipFill>
          <a:blip r:embed="rId2" cstate="print"/>
          <a:srcRect/>
          <a:stretch>
            <a:fillRect/>
          </a:stretch>
        </p:blipFill>
        <p:spPr bwMode="ltGray">
          <a:xfrm>
            <a:off x="531813" y="6264275"/>
            <a:ext cx="1622425" cy="593725"/>
          </a:xfrm>
          <a:prstGeom prst="rect">
            <a:avLst/>
          </a:prstGeom>
          <a:noFill/>
          <a:ln w="9525">
            <a:noFill/>
            <a:miter lim="800000"/>
            <a:headEnd/>
            <a:tailEnd/>
          </a:ln>
        </p:spPr>
      </p:pic>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6" name="Date Placeholder 3"/>
          <p:cNvSpPr>
            <a:spLocks noGrp="1"/>
          </p:cNvSpPr>
          <p:nvPr>
            <p:ph type="dt" sz="half" idx="10"/>
          </p:nvPr>
        </p:nvSpPr>
        <p:spPr/>
        <p:txBody>
          <a:bodyPr/>
          <a:lstStyle>
            <a:lvl1pPr>
              <a:defRPr/>
            </a:lvl1pPr>
          </a:lstStyle>
          <a:p>
            <a:r>
              <a:rPr lang="en-US"/>
              <a:t>May 27, 2023</a:t>
            </a:r>
          </a:p>
        </p:txBody>
      </p:sp>
      <p:sp>
        <p:nvSpPr>
          <p:cNvPr id="7"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8" name="Slide Number Placeholder 5"/>
          <p:cNvSpPr>
            <a:spLocks noGrp="1"/>
          </p:cNvSpPr>
          <p:nvPr>
            <p:ph type="sldNum" sz="quarter" idx="12"/>
          </p:nvPr>
        </p:nvSpPr>
        <p:spPr>
          <a:xfrm>
            <a:off x="11276013" y="6934200"/>
            <a:ext cx="381000" cy="182563"/>
          </a:xfrm>
        </p:spPr>
        <p:txBody>
          <a:bodyPr/>
          <a:lstStyle>
            <a:lvl1pPr>
              <a:defRPr/>
            </a:lvl1pPr>
          </a:lstStyle>
          <a:p>
            <a:fld id="{88E5DC3A-32C0-468B-9FFC-E551665AACD2}" type="slidenum">
              <a:rPr lang="en-US"/>
              <a:pPr/>
              <a:t>‹#›</a:t>
            </a:fld>
            <a:endParaRPr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Rectangle 4"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cs typeface="Arial" charset="0"/>
            </a:endParaRPr>
          </a:p>
        </p:txBody>
      </p:sp>
      <p:sp>
        <p:nvSpPr>
          <p:cNvPr id="6" name="TextBox 5"/>
          <p:cNvSpPr txBox="1"/>
          <p:nvPr/>
        </p:nvSpPr>
        <p:spPr>
          <a:xfrm>
            <a:off x="5989638" y="6556375"/>
            <a:ext cx="2787650" cy="182563"/>
          </a:xfrm>
          <a:prstGeom prst="rect">
            <a:avLst/>
          </a:prstGeom>
          <a:noFill/>
        </p:spPr>
        <p:txBody>
          <a:bodyPr wrap="none" lIns="0" tIns="0" rIns="0" bIns="0" anchor="ctr"/>
          <a:lstStyle/>
          <a:p>
            <a:pPr fontAlgn="auto">
              <a:spcBef>
                <a:spcPts val="0"/>
              </a:spcBef>
              <a:spcAft>
                <a:spcPts val="0"/>
              </a:spcAft>
              <a:defRPr/>
            </a:pPr>
            <a:r>
              <a:rPr sz="800" dirty="0">
                <a:solidFill>
                  <a:schemeClr val="tx1">
                    <a:lumMod val="60000"/>
                    <a:lumOff val="40000"/>
                  </a:schemeClr>
                </a:solidFill>
                <a:latin typeface="+mn-lt"/>
                <a:cs typeface="+mn-cs"/>
              </a:rPr>
              <a:t>Copyright © 2014 Oracle and/or its affiliates. All rights reserved.  |</a:t>
            </a:r>
          </a:p>
        </p:txBody>
      </p:sp>
      <p:pic>
        <p:nvPicPr>
          <p:cNvPr id="7" name="Oracle red badge logo" descr="Oracle logo in white on red staging background"/>
          <p:cNvPicPr>
            <a:picLocks noChangeAspect="1"/>
          </p:cNvPicPr>
          <p:nvPr userDrawn="1"/>
        </p:nvPicPr>
        <p:blipFill>
          <a:blip r:embed="rId4" cstate="print"/>
          <a:srcRect/>
          <a:stretch>
            <a:fillRect/>
          </a:stretch>
        </p:blipFill>
        <p:spPr bwMode="ltGray">
          <a:xfrm>
            <a:off x="531813" y="6264275"/>
            <a:ext cx="1622425" cy="593725"/>
          </a:xfrm>
          <a:prstGeom prst="rect">
            <a:avLst/>
          </a:prstGeom>
          <a:noFill/>
          <a:ln w="9525">
            <a:noFill/>
            <a:miter lim="800000"/>
            <a:headEnd/>
            <a:tailEnd/>
          </a:ln>
        </p:spPr>
      </p:pic>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Text Placeholder 12"/>
          <p:cNvSpPr>
            <a:spLocks noGrp="1"/>
          </p:cNvSpPr>
          <p:nvPr>
            <p:ph type="body" sz="quarter" idx="13"/>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8" name="Date Placeholder 3"/>
          <p:cNvSpPr>
            <a:spLocks noGrp="1"/>
          </p:cNvSpPr>
          <p:nvPr>
            <p:ph type="dt" sz="half" idx="14"/>
          </p:nvPr>
        </p:nvSpPr>
        <p:spPr/>
        <p:txBody>
          <a:bodyPr/>
          <a:lstStyle>
            <a:lvl1pPr>
              <a:defRPr>
                <a:solidFill>
                  <a:srgbClr val="FFFFFF"/>
                </a:solidFill>
              </a:defRPr>
            </a:lvl1pPr>
          </a:lstStyle>
          <a:p>
            <a:r>
              <a:rPr lang="en-US"/>
              <a:t>May 27, 2023</a:t>
            </a:r>
          </a:p>
        </p:txBody>
      </p:sp>
      <p:sp>
        <p:nvSpPr>
          <p:cNvPr id="9" name="Footer Placeholder 4"/>
          <p:cNvSpPr>
            <a:spLocks noGrp="1"/>
          </p:cNvSpPr>
          <p:nvPr>
            <p:ph type="ftr" sz="quarter" idx="15"/>
          </p:nvPr>
        </p:nvSpPr>
        <p:spPr/>
        <p:txBody>
          <a:bodyPr/>
          <a:lstStyle>
            <a:lvl1pPr>
              <a:defRPr/>
            </a:lvl1pPr>
          </a:lstStyle>
          <a:p>
            <a:pPr>
              <a:defRPr/>
            </a:pPr>
            <a:r>
              <a:rPr lang="en-US"/>
              <a:t>MArburg - Turning Points</a:t>
            </a:r>
            <a:endParaRPr/>
          </a:p>
        </p:txBody>
      </p:sp>
      <p:sp>
        <p:nvSpPr>
          <p:cNvPr id="10" name="Slide Number Placeholder 5"/>
          <p:cNvSpPr>
            <a:spLocks noGrp="1"/>
          </p:cNvSpPr>
          <p:nvPr>
            <p:ph type="sldNum" sz="quarter" idx="16"/>
          </p:nvPr>
        </p:nvSpPr>
        <p:spPr>
          <a:xfrm>
            <a:off x="11276013" y="6934200"/>
            <a:ext cx="381000" cy="182563"/>
          </a:xfrm>
        </p:spPr>
        <p:txBody>
          <a:bodyPr/>
          <a:lstStyle>
            <a:lvl1pPr>
              <a:defRPr>
                <a:solidFill>
                  <a:srgbClr val="BDC1C5"/>
                </a:solidFill>
              </a:defRPr>
            </a:lvl1pPr>
          </a:lstStyle>
          <a:p>
            <a:fld id="{F650D2CB-7F99-475F-AF8D-5BDC4CA66DD1}"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 name="Rectangle 5"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cs typeface="Arial" charset="0"/>
            </a:endParaRPr>
          </a:p>
        </p:txBody>
      </p:sp>
      <p:sp>
        <p:nvSpPr>
          <p:cNvPr id="7" name="TextBox 6"/>
          <p:cNvSpPr txBox="1"/>
          <p:nvPr/>
        </p:nvSpPr>
        <p:spPr>
          <a:xfrm>
            <a:off x="5989638" y="6556375"/>
            <a:ext cx="2787650" cy="182563"/>
          </a:xfrm>
          <a:prstGeom prst="rect">
            <a:avLst/>
          </a:prstGeom>
          <a:noFill/>
        </p:spPr>
        <p:txBody>
          <a:bodyPr wrap="none" lIns="0" tIns="0" rIns="0" bIns="0" anchor="ctr"/>
          <a:lstStyle/>
          <a:p>
            <a:pPr fontAlgn="auto">
              <a:spcBef>
                <a:spcPts val="0"/>
              </a:spcBef>
              <a:spcAft>
                <a:spcPts val="0"/>
              </a:spcAft>
              <a:defRPr/>
            </a:pPr>
            <a:r>
              <a:rPr sz="800" dirty="0">
                <a:solidFill>
                  <a:schemeClr val="tx1">
                    <a:lumMod val="60000"/>
                    <a:lumOff val="40000"/>
                  </a:schemeClr>
                </a:solidFill>
                <a:latin typeface="+mn-lt"/>
                <a:cs typeface="+mn-cs"/>
              </a:rPr>
              <a:t>Copyright © 2014 Oracle and/or its affiliates. All rights reserved.  |</a:t>
            </a:r>
          </a:p>
        </p:txBody>
      </p:sp>
      <p:sp>
        <p:nvSpPr>
          <p:cNvPr id="8" name="Rectangle 7"/>
          <p:cNvSpPr/>
          <p:nvPr/>
        </p:nvSpPr>
        <p:spPr bwMode="white">
          <a:xfrm>
            <a:off x="9828213"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cs typeface="Arial" charset="0"/>
            </a:endParaRPr>
          </a:p>
        </p:txBody>
      </p:sp>
      <p:pic>
        <p:nvPicPr>
          <p:cNvPr id="9" name="Oracle red badge logo" descr="Oracle logo in white on red staging background"/>
          <p:cNvPicPr>
            <a:picLocks noChangeAspect="1"/>
          </p:cNvPicPr>
          <p:nvPr userDrawn="1"/>
        </p:nvPicPr>
        <p:blipFill>
          <a:blip r:embed="rId4" cstate="print"/>
          <a:srcRect/>
          <a:stretch>
            <a:fillRect/>
          </a:stretch>
        </p:blipFill>
        <p:spPr bwMode="ltGray">
          <a:xfrm>
            <a:off x="531813" y="6264275"/>
            <a:ext cx="1622425" cy="593725"/>
          </a:xfrm>
          <a:prstGeom prst="rect">
            <a:avLst/>
          </a:prstGeom>
          <a:noFill/>
          <a:ln w="9525">
            <a:noFill/>
            <a:miter lim="800000"/>
            <a:headEnd/>
            <a:tailEnd/>
          </a:ln>
        </p:spPr>
      </p:pic>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Text Placeholder 12"/>
          <p:cNvSpPr>
            <a:spLocks noGrp="1"/>
          </p:cNvSpPr>
          <p:nvPr>
            <p:ph type="body" sz="quarter" idx="13"/>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21" name="Text Placeholder 12"/>
          <p:cNvSpPr>
            <a:spLocks noGrp="1"/>
          </p:cNvSpPr>
          <p:nvPr>
            <p:ph type="body" sz="quarter" idx="15"/>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10" name="Date Placeholder 3"/>
          <p:cNvSpPr>
            <a:spLocks noGrp="1"/>
          </p:cNvSpPr>
          <p:nvPr>
            <p:ph type="dt" sz="half" idx="16"/>
          </p:nvPr>
        </p:nvSpPr>
        <p:spPr/>
        <p:txBody>
          <a:bodyPr/>
          <a:lstStyle>
            <a:lvl1pPr>
              <a:defRPr>
                <a:solidFill>
                  <a:srgbClr val="FFFFFF"/>
                </a:solidFill>
              </a:defRPr>
            </a:lvl1pPr>
          </a:lstStyle>
          <a:p>
            <a:r>
              <a:rPr lang="en-US"/>
              <a:t>May 27, 2023</a:t>
            </a:r>
          </a:p>
        </p:txBody>
      </p:sp>
      <p:sp>
        <p:nvSpPr>
          <p:cNvPr id="11" name="Footer Placeholder 4"/>
          <p:cNvSpPr>
            <a:spLocks noGrp="1"/>
          </p:cNvSpPr>
          <p:nvPr>
            <p:ph type="ftr" sz="quarter" idx="17"/>
          </p:nvPr>
        </p:nvSpPr>
        <p:spPr/>
        <p:txBody>
          <a:bodyPr/>
          <a:lstStyle>
            <a:lvl1pPr>
              <a:defRPr/>
            </a:lvl1pPr>
          </a:lstStyle>
          <a:p>
            <a:pPr>
              <a:defRPr/>
            </a:pPr>
            <a:r>
              <a:rPr lang="en-US"/>
              <a:t>MArburg - Turning Points</a:t>
            </a:r>
            <a:endParaRPr/>
          </a:p>
        </p:txBody>
      </p:sp>
      <p:sp>
        <p:nvSpPr>
          <p:cNvPr id="12" name="Slide Number Placeholder 5"/>
          <p:cNvSpPr>
            <a:spLocks noGrp="1"/>
          </p:cNvSpPr>
          <p:nvPr>
            <p:ph type="sldNum" sz="quarter" idx="18"/>
          </p:nvPr>
        </p:nvSpPr>
        <p:spPr>
          <a:xfrm>
            <a:off x="11276013" y="6934200"/>
            <a:ext cx="381000" cy="182563"/>
          </a:xfrm>
        </p:spPr>
        <p:txBody>
          <a:bodyPr/>
          <a:lstStyle>
            <a:lvl1pPr>
              <a:defRPr>
                <a:solidFill>
                  <a:srgbClr val="BCC0C4"/>
                </a:solidFill>
              </a:defRPr>
            </a:lvl1pPr>
          </a:lstStyle>
          <a:p>
            <a:fld id="{817CE5BE-932B-489C-A348-5734B84339AF}"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 name="Rectangle 5"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cs typeface="Arial" charset="0"/>
            </a:endParaRPr>
          </a:p>
        </p:txBody>
      </p:sp>
      <p:sp>
        <p:nvSpPr>
          <p:cNvPr id="7" name="TextBox 6"/>
          <p:cNvSpPr txBox="1"/>
          <p:nvPr/>
        </p:nvSpPr>
        <p:spPr>
          <a:xfrm>
            <a:off x="5989638" y="6556375"/>
            <a:ext cx="2787650" cy="182563"/>
          </a:xfrm>
          <a:prstGeom prst="rect">
            <a:avLst/>
          </a:prstGeom>
          <a:noFill/>
        </p:spPr>
        <p:txBody>
          <a:bodyPr wrap="none" lIns="0" tIns="0" rIns="0" bIns="0" anchor="ctr"/>
          <a:lstStyle/>
          <a:p>
            <a:pPr fontAlgn="auto">
              <a:spcBef>
                <a:spcPts val="0"/>
              </a:spcBef>
              <a:spcAft>
                <a:spcPts val="0"/>
              </a:spcAft>
              <a:defRPr/>
            </a:pPr>
            <a:r>
              <a:rPr sz="800" dirty="0">
                <a:solidFill>
                  <a:schemeClr val="tx1">
                    <a:lumMod val="60000"/>
                    <a:lumOff val="40000"/>
                  </a:schemeClr>
                </a:solidFill>
                <a:latin typeface="+mn-lt"/>
                <a:cs typeface="+mn-cs"/>
              </a:rPr>
              <a:t>Copyright © 2014 Oracle and/or its affiliates. All rights reserved.  |</a:t>
            </a:r>
          </a:p>
        </p:txBody>
      </p:sp>
      <p:sp>
        <p:nvSpPr>
          <p:cNvPr id="8" name="Rectangle 7"/>
          <p:cNvSpPr/>
          <p:nvPr/>
        </p:nvSpPr>
        <p:spPr bwMode="white">
          <a:xfrm>
            <a:off x="9828213"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cs typeface="Arial" charset="0"/>
            </a:endParaRPr>
          </a:p>
        </p:txBody>
      </p:sp>
      <p:pic>
        <p:nvPicPr>
          <p:cNvPr id="9" name="Oracle red badge logo" descr="Oracle logo in white on red staging background"/>
          <p:cNvPicPr>
            <a:picLocks noChangeAspect="1"/>
          </p:cNvPicPr>
          <p:nvPr userDrawn="1"/>
        </p:nvPicPr>
        <p:blipFill>
          <a:blip r:embed="rId4" cstate="print"/>
          <a:srcRect/>
          <a:stretch>
            <a:fillRect/>
          </a:stretch>
        </p:blipFill>
        <p:spPr bwMode="ltGray">
          <a:xfrm>
            <a:off x="531813" y="6264275"/>
            <a:ext cx="1622425" cy="593725"/>
          </a:xfrm>
          <a:prstGeom prst="rect">
            <a:avLst/>
          </a:prstGeom>
          <a:noFill/>
          <a:ln w="9525">
            <a:noFill/>
            <a:miter lim="800000"/>
            <a:headEnd/>
            <a:tailEnd/>
          </a:ln>
        </p:spPr>
      </p:pic>
      <p:sp>
        <p:nvSpPr>
          <p:cNvPr id="10" name="Rectangle 9"/>
          <p:cNvSpPr/>
          <p:nvPr userDrawn="1"/>
        </p:nvSpPr>
        <p:spPr>
          <a:xfrm>
            <a:off x="9823450" y="5410200"/>
            <a:ext cx="1828800" cy="850900"/>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pPr>
            <a:endParaRPr lang="en-US">
              <a:solidFill>
                <a:srgbClr val="FFFFFF"/>
              </a:solidFill>
              <a:cs typeface="Arial" charset="0"/>
            </a:endParaRPr>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Text Placeholder 12"/>
          <p:cNvSpPr>
            <a:spLocks noGrp="1"/>
          </p:cNvSpPr>
          <p:nvPr>
            <p:ph type="body" sz="quarter" idx="13"/>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21" name="Text Placeholder 12"/>
          <p:cNvSpPr>
            <a:spLocks noGrp="1"/>
          </p:cNvSpPr>
          <p:nvPr>
            <p:ph type="body" sz="quarter" idx="15"/>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11" name="Date Placeholder 3"/>
          <p:cNvSpPr>
            <a:spLocks noGrp="1"/>
          </p:cNvSpPr>
          <p:nvPr>
            <p:ph type="dt" sz="half" idx="16"/>
          </p:nvPr>
        </p:nvSpPr>
        <p:spPr/>
        <p:txBody>
          <a:bodyPr/>
          <a:lstStyle>
            <a:lvl1pPr>
              <a:defRPr>
                <a:solidFill>
                  <a:srgbClr val="FFFFFF"/>
                </a:solidFill>
              </a:defRPr>
            </a:lvl1pPr>
          </a:lstStyle>
          <a:p>
            <a:r>
              <a:rPr lang="en-US"/>
              <a:t>May 27, 2023</a:t>
            </a:r>
          </a:p>
        </p:txBody>
      </p:sp>
      <p:sp>
        <p:nvSpPr>
          <p:cNvPr id="12" name="Footer Placeholder 4"/>
          <p:cNvSpPr>
            <a:spLocks noGrp="1"/>
          </p:cNvSpPr>
          <p:nvPr>
            <p:ph type="ftr" sz="quarter" idx="17"/>
          </p:nvPr>
        </p:nvSpPr>
        <p:spPr/>
        <p:txBody>
          <a:bodyPr/>
          <a:lstStyle>
            <a:lvl1pPr>
              <a:defRPr/>
            </a:lvl1pPr>
          </a:lstStyle>
          <a:p>
            <a:pPr>
              <a:defRPr/>
            </a:pPr>
            <a:r>
              <a:rPr lang="en-US"/>
              <a:t>MArburg - Turning Points</a:t>
            </a:r>
            <a:endParaRPr/>
          </a:p>
        </p:txBody>
      </p:sp>
      <p:sp>
        <p:nvSpPr>
          <p:cNvPr id="14" name="Slide Number Placeholder 5"/>
          <p:cNvSpPr>
            <a:spLocks noGrp="1"/>
          </p:cNvSpPr>
          <p:nvPr>
            <p:ph type="sldNum" sz="quarter" idx="18"/>
          </p:nvPr>
        </p:nvSpPr>
        <p:spPr>
          <a:xfrm>
            <a:off x="11276013" y="6934200"/>
            <a:ext cx="381000" cy="182563"/>
          </a:xfrm>
        </p:spPr>
        <p:txBody>
          <a:bodyPr/>
          <a:lstStyle>
            <a:lvl1pPr>
              <a:defRPr>
                <a:solidFill>
                  <a:srgbClr val="BCC0C4"/>
                </a:solidFill>
              </a:defRPr>
            </a:lvl1pPr>
          </a:lstStyle>
          <a:p>
            <a:fld id="{9FDAB68A-746B-4062-8AB2-11A1772F6246}"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lvl1pPr>
              <a:defRPr/>
            </a:lvl1pPr>
          </a:lstStyle>
          <a:p>
            <a:r>
              <a:rPr lang="en-US"/>
              <a:t>May 27, 2023</a:t>
            </a:r>
          </a:p>
        </p:txBody>
      </p:sp>
      <p:sp>
        <p:nvSpPr>
          <p:cNvPr id="5"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6" name="Slide Number Placeholder 5"/>
          <p:cNvSpPr>
            <a:spLocks noGrp="1"/>
          </p:cNvSpPr>
          <p:nvPr>
            <p:ph type="sldNum" sz="quarter" idx="12"/>
          </p:nvPr>
        </p:nvSpPr>
        <p:spPr/>
        <p:txBody>
          <a:bodyPr/>
          <a:lstStyle>
            <a:lvl1pPr>
              <a:defRPr/>
            </a:lvl1pPr>
          </a:lstStyle>
          <a:p>
            <a:fld id="{B9C143FC-47DE-4D18-B57A-9E2A542ABB25}" type="slidenum">
              <a:rPr lang="en-US"/>
              <a:pPr/>
              <a:t>‹#›</a:t>
            </a:fld>
            <a:endParaRPr 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7" name="Text Placeholder 12"/>
          <p:cNvSpPr>
            <a:spLocks noGrp="1"/>
          </p:cNvSpPr>
          <p:nvPr>
            <p:ph type="body" sz="quarter" idx="13"/>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3" name="Content Placeholder 2"/>
          <p:cNvSpPr>
            <a:spLocks noGrp="1"/>
          </p:cNvSpPr>
          <p:nvPr>
            <p:ph idx="1"/>
          </p:nvPr>
        </p:nvSpPr>
        <p:spPr>
          <a:xfrm>
            <a:off x="531151" y="1981200"/>
            <a:ext cx="11126522"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p:cNvSpPr>
            <a:spLocks noGrp="1"/>
          </p:cNvSpPr>
          <p:nvPr>
            <p:ph type="dt" sz="half" idx="14"/>
          </p:nvPr>
        </p:nvSpPr>
        <p:spPr/>
        <p:txBody>
          <a:bodyPr/>
          <a:lstStyle>
            <a:lvl1pPr>
              <a:defRPr/>
            </a:lvl1pPr>
          </a:lstStyle>
          <a:p>
            <a:r>
              <a:rPr lang="en-US"/>
              <a:t>May 27, 2023</a:t>
            </a:r>
          </a:p>
        </p:txBody>
      </p:sp>
      <p:sp>
        <p:nvSpPr>
          <p:cNvPr id="6" name="Footer Placeholder 4"/>
          <p:cNvSpPr>
            <a:spLocks noGrp="1"/>
          </p:cNvSpPr>
          <p:nvPr>
            <p:ph type="ftr" sz="quarter" idx="15"/>
          </p:nvPr>
        </p:nvSpPr>
        <p:spPr/>
        <p:txBody>
          <a:bodyPr/>
          <a:lstStyle>
            <a:lvl1pPr>
              <a:defRPr/>
            </a:lvl1pPr>
          </a:lstStyle>
          <a:p>
            <a:pPr>
              <a:defRPr/>
            </a:pPr>
            <a:r>
              <a:rPr lang="en-US"/>
              <a:t>MArburg - Turning Points</a:t>
            </a:r>
            <a:endParaRPr/>
          </a:p>
        </p:txBody>
      </p:sp>
      <p:sp>
        <p:nvSpPr>
          <p:cNvPr id="8" name="Slide Number Placeholder 5"/>
          <p:cNvSpPr>
            <a:spLocks noGrp="1"/>
          </p:cNvSpPr>
          <p:nvPr>
            <p:ph type="sldNum" sz="quarter" idx="16"/>
          </p:nvPr>
        </p:nvSpPr>
        <p:spPr/>
        <p:txBody>
          <a:bodyPr/>
          <a:lstStyle>
            <a:lvl1pPr>
              <a:defRPr/>
            </a:lvl1pPr>
          </a:lstStyle>
          <a:p>
            <a:fld id="{CC77C980-6282-4591-829A-F03B80F55423}" type="slidenum">
              <a:rPr lang="en-US"/>
              <a:pPr/>
              <a:t>‹#›</a:t>
            </a:fld>
            <a:endParaRPr 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4"/>
          </p:nvPr>
        </p:nvSpPr>
        <p:spPr/>
        <p:txBody>
          <a:bodyPr>
            <a:noAutofit/>
          </a:bodyPr>
          <a:lstStyle>
            <a:lvl1pPr>
              <a:defRPr/>
            </a:lvl1pPr>
          </a:lstStyle>
          <a:p>
            <a:r>
              <a:rPr lang="en-US"/>
              <a:t>May 27, 2023</a:t>
            </a:r>
          </a:p>
        </p:txBody>
      </p:sp>
      <p:sp>
        <p:nvSpPr>
          <p:cNvPr id="5" name="Footer Placeholder 4"/>
          <p:cNvSpPr>
            <a:spLocks noGrp="1"/>
          </p:cNvSpPr>
          <p:nvPr>
            <p:ph type="ftr" sz="quarter" idx="15"/>
          </p:nvPr>
        </p:nvSpPr>
        <p:spPr/>
        <p:txBody>
          <a:bodyPr>
            <a:noAutofit/>
          </a:bodyPr>
          <a:lstStyle>
            <a:lvl1pPr>
              <a:defRPr/>
            </a:lvl1pPr>
          </a:lstStyle>
          <a:p>
            <a:pPr>
              <a:defRPr/>
            </a:pPr>
            <a:r>
              <a:rPr lang="en-US"/>
              <a:t>MArburg - Turning Points</a:t>
            </a:r>
            <a:endParaRPr/>
          </a:p>
        </p:txBody>
      </p:sp>
      <p:sp>
        <p:nvSpPr>
          <p:cNvPr id="6" name="Slide Number Placeholder 5"/>
          <p:cNvSpPr>
            <a:spLocks noGrp="1"/>
          </p:cNvSpPr>
          <p:nvPr>
            <p:ph type="sldNum" sz="quarter" idx="16"/>
          </p:nvPr>
        </p:nvSpPr>
        <p:spPr/>
        <p:txBody>
          <a:bodyPr>
            <a:noAutofit/>
          </a:bodyPr>
          <a:lstStyle>
            <a:lvl1pPr>
              <a:defRPr/>
            </a:lvl1pPr>
          </a:lstStyle>
          <a:p>
            <a:fld id="{44CB46A5-629B-4CAE-8F41-04D3E974FE5D}" type="slidenum">
              <a:rPr lang="en-US"/>
              <a:pPr/>
              <a:t>‹#›</a:t>
            </a:fld>
            <a:endParaRPr 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531813" y="4038598"/>
            <a:ext cx="11125200" cy="914400"/>
          </a:xfrm>
        </p:spPr>
        <p:txBody>
          <a:bodyPr>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en-US"/>
              <a:t>May 27, 2023</a:t>
            </a:r>
          </a:p>
        </p:txBody>
      </p:sp>
      <p:sp>
        <p:nvSpPr>
          <p:cNvPr id="5"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6" name="Slide Number Placeholder 5"/>
          <p:cNvSpPr>
            <a:spLocks noGrp="1"/>
          </p:cNvSpPr>
          <p:nvPr>
            <p:ph type="sldNum" sz="quarter" idx="12"/>
          </p:nvPr>
        </p:nvSpPr>
        <p:spPr/>
        <p:txBody>
          <a:bodyPr/>
          <a:lstStyle>
            <a:lvl1pPr>
              <a:defRPr/>
            </a:lvl1pPr>
          </a:lstStyle>
          <a:p>
            <a:fld id="{6211AF68-E585-43D7-9287-0CA7E440A8F7}" type="slidenum">
              <a:rPr lang="en-US"/>
              <a:pPr/>
              <a:t>‹#›</a:t>
            </a:fld>
            <a:endParaRPr lang="en-US"/>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cs typeface="Arial" charset="0"/>
            </a:endParaRPr>
          </a:p>
        </p:txBody>
      </p:sp>
      <p:grpSp>
        <p:nvGrpSpPr>
          <p:cNvPr id="5" name="Group 15"/>
          <p:cNvGrpSpPr>
            <a:grpSpLocks/>
          </p:cNvGrpSpPr>
          <p:nvPr/>
        </p:nvGrpSpPr>
        <p:grpSpPr bwMode="auto">
          <a:xfrm>
            <a:off x="0" y="0"/>
            <a:ext cx="12188825" cy="6858000"/>
            <a:chOff x="-287" y="0"/>
            <a:chExt cx="12189399" cy="6858000"/>
          </a:xfrm>
        </p:grpSpPr>
        <p:sp>
          <p:nvSpPr>
            <p:cNvPr id="6" name="Rectangle 5"/>
            <p:cNvSpPr/>
            <p:nvPr/>
          </p:nvSpPr>
          <p:spPr bwMode="gray">
            <a:xfrm>
              <a:off x="-287" y="0"/>
              <a:ext cx="193684" cy="685165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7" name="Rectangle 6"/>
            <p:cNvSpPr/>
            <p:nvPr/>
          </p:nvSpPr>
          <p:spPr bwMode="gray">
            <a:xfrm>
              <a:off x="11995428" y="6350"/>
              <a:ext cx="193684" cy="685165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8" name="Rectangle 7"/>
            <p:cNvSpPr/>
            <p:nvPr/>
          </p:nvSpPr>
          <p:spPr bwMode="gray">
            <a:xfrm>
              <a:off x="-287" y="6400800"/>
              <a:ext cx="12189399"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9" name="Rectangle 8"/>
            <p:cNvSpPr/>
            <p:nvPr/>
          </p:nvSpPr>
          <p:spPr bwMode="gray">
            <a:xfrm>
              <a:off x="-287" y="0"/>
              <a:ext cx="12189399" cy="19208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grpSp>
      <p:sp>
        <p:nvSpPr>
          <p:cNvPr id="10" name="TextBox 9"/>
          <p:cNvSpPr txBox="1"/>
          <p:nvPr/>
        </p:nvSpPr>
        <p:spPr>
          <a:xfrm>
            <a:off x="5989638" y="6556375"/>
            <a:ext cx="2787650" cy="182563"/>
          </a:xfrm>
          <a:prstGeom prst="rect">
            <a:avLst/>
          </a:prstGeom>
          <a:noFill/>
        </p:spPr>
        <p:txBody>
          <a:bodyPr wrap="none" lIns="0" tIns="0" rIns="0" bIns="0" anchor="ctr"/>
          <a:lstStyle/>
          <a:p>
            <a:pPr fontAlgn="auto">
              <a:spcBef>
                <a:spcPts val="0"/>
              </a:spcBef>
              <a:spcAft>
                <a:spcPts val="0"/>
              </a:spcAft>
              <a:defRPr/>
            </a:pPr>
            <a:r>
              <a:rPr sz="800" dirty="0">
                <a:solidFill>
                  <a:schemeClr val="bg1">
                    <a:lumMod val="60000"/>
                    <a:lumOff val="40000"/>
                  </a:schemeClr>
                </a:solidFill>
                <a:latin typeface="+mn-lt"/>
                <a:cs typeface="+mn-cs"/>
              </a:rPr>
              <a:t>Copyright © 2014 Oracle and/or its affiliates. All rights reserved.  |</a:t>
            </a:r>
          </a:p>
        </p:txBody>
      </p:sp>
      <p:pic>
        <p:nvPicPr>
          <p:cNvPr id="11" name="Oracle red badge logo" descr="Oracle logo in white on red staging background"/>
          <p:cNvPicPr>
            <a:picLocks noChangeAspect="1"/>
          </p:cNvPicPr>
          <p:nvPr userDrawn="1"/>
        </p:nvPicPr>
        <p:blipFill>
          <a:blip r:embed="rId4" cstate="print"/>
          <a:srcRect/>
          <a:stretch>
            <a:fillRect/>
          </a:stretch>
        </p:blipFill>
        <p:spPr bwMode="ltGray">
          <a:xfrm>
            <a:off x="531813" y="6264275"/>
            <a:ext cx="1622425" cy="593725"/>
          </a:xfrm>
          <a:prstGeom prst="rect">
            <a:avLst/>
          </a:prstGeom>
          <a:noFill/>
          <a:ln w="9525">
            <a:noFill/>
            <a:miter lim="800000"/>
            <a:headEnd/>
            <a:tailEnd/>
          </a:ln>
        </p:spPr>
      </p:pic>
      <p:sp>
        <p:nvSpPr>
          <p:cNvPr id="2" name="Title 1"/>
          <p:cNvSpPr>
            <a:spLocks noGrp="1"/>
          </p:cNvSpPr>
          <p:nvPr>
            <p:ph type="title"/>
          </p:nvPr>
        </p:nvSpPr>
        <p:spPr>
          <a:xfrm>
            <a:off x="531813" y="2600324"/>
            <a:ext cx="11125200" cy="1371600"/>
          </a:xfrm>
        </p:spPr>
        <p:txBody>
          <a:bodyPr>
            <a:noAutofit/>
          </a:bodyPr>
          <a:lstStyle>
            <a:lvl1pPr algn="l">
              <a:lnSpc>
                <a:spcPct val="80000"/>
              </a:lnSpc>
              <a:defRPr sz="4800" b="0" cap="none" baseline="0"/>
            </a:lvl1pPr>
          </a:lstStyle>
          <a:p>
            <a:r>
              <a:rPr lang="en-US"/>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Date Placeholder 3"/>
          <p:cNvSpPr>
            <a:spLocks noGrp="1"/>
          </p:cNvSpPr>
          <p:nvPr>
            <p:ph type="dt" sz="half" idx="10"/>
          </p:nvPr>
        </p:nvSpPr>
        <p:spPr/>
        <p:txBody>
          <a:bodyPr>
            <a:noAutofit/>
          </a:bodyPr>
          <a:lstStyle>
            <a:lvl1pPr>
              <a:defRPr/>
            </a:lvl1pPr>
          </a:lstStyle>
          <a:p>
            <a:r>
              <a:rPr lang="en-US"/>
              <a:t>May 27, 2023</a:t>
            </a:r>
          </a:p>
        </p:txBody>
      </p:sp>
      <p:sp>
        <p:nvSpPr>
          <p:cNvPr id="13"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pPr>
              <a:defRPr/>
            </a:pPr>
            <a:r>
              <a:rPr lang="en-US"/>
              <a:t>MArburg - Turning Points</a:t>
            </a:r>
            <a:endParaRPr/>
          </a:p>
        </p:txBody>
      </p:sp>
      <p:sp>
        <p:nvSpPr>
          <p:cNvPr id="14" name="Slide Number Placeholder 5"/>
          <p:cNvSpPr>
            <a:spLocks noGrp="1"/>
          </p:cNvSpPr>
          <p:nvPr>
            <p:ph type="sldNum" sz="quarter" idx="12"/>
          </p:nvPr>
        </p:nvSpPr>
        <p:spPr/>
        <p:txBody>
          <a:bodyPr>
            <a:noAutofit/>
          </a:bodyPr>
          <a:lstStyle>
            <a:lvl1pPr>
              <a:defRPr/>
            </a:lvl1pPr>
          </a:lstStyle>
          <a:p>
            <a:fld id="{2A9F3207-8671-4AB9-A487-4235F5151443}"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lstStyle>
            <a:lvl1pPr algn="l">
              <a:lnSpc>
                <a:spcPct val="80000"/>
              </a:lnSpc>
              <a:defRPr sz="4800" b="0"/>
            </a:lvl1pPr>
          </a:lstStyle>
          <a:p>
            <a:r>
              <a:rPr lang="en-US"/>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rtlCol="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5" name="Date Placeholder 3"/>
          <p:cNvSpPr>
            <a:spLocks noGrp="1"/>
          </p:cNvSpPr>
          <p:nvPr>
            <p:ph type="dt" sz="half" idx="10"/>
          </p:nvPr>
        </p:nvSpPr>
        <p:spPr/>
        <p:txBody>
          <a:bodyPr/>
          <a:lstStyle>
            <a:lvl1pPr>
              <a:defRPr/>
            </a:lvl1pPr>
          </a:lstStyle>
          <a:p>
            <a:r>
              <a:rPr lang="en-US"/>
              <a:t>May 27, 2023</a:t>
            </a:r>
          </a:p>
        </p:txBody>
      </p:sp>
      <p:sp>
        <p:nvSpPr>
          <p:cNvPr id="6"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7" name="Slide Number Placeholder 5"/>
          <p:cNvSpPr>
            <a:spLocks noGrp="1"/>
          </p:cNvSpPr>
          <p:nvPr>
            <p:ph type="sldNum" sz="quarter" idx="12"/>
          </p:nvPr>
        </p:nvSpPr>
        <p:spPr/>
        <p:txBody>
          <a:bodyPr/>
          <a:lstStyle>
            <a:lvl1pPr>
              <a:defRPr/>
            </a:lvl1pPr>
          </a:lstStyle>
          <a:p>
            <a:fld id="{FD2DE6F9-08E1-4DEB-87CC-5FE6607C36F3}" type="slidenum">
              <a:rPr lang="en-US"/>
              <a:pPr/>
              <a:t>‹#›</a:t>
            </a:fld>
            <a:endParaRPr lang="en-US"/>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rtlCol="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11" name="Text Placeholder 10"/>
          <p:cNvSpPr>
            <a:spLocks noGrp="1"/>
          </p:cNvSpPr>
          <p:nvPr>
            <p:ph type="body" sz="quarter" idx="14"/>
          </p:nvPr>
        </p:nvSpPr>
        <p:spPr>
          <a:xfrm>
            <a:off x="6035040" y="1828799"/>
            <a:ext cx="5102352" cy="3840480"/>
          </a:xfrm>
        </p:spPr>
        <p:txBody>
          <a:bodyPr anchor="ctr"/>
          <a:lstStyle>
            <a:lvl1pPr>
              <a:spcBef>
                <a:spcPts val="0"/>
              </a:spcBef>
              <a:spcAft>
                <a:spcPts val="800"/>
              </a:spcAft>
              <a:buClr>
                <a:schemeClr val="bg1"/>
              </a:buClr>
              <a:defRPr b="1"/>
            </a:lvl1pPr>
            <a:lvl2pPr marL="228600">
              <a:spcBef>
                <a:spcPts val="0"/>
              </a:spcBef>
              <a:buClr>
                <a:schemeClr val="bg1"/>
              </a:buClr>
              <a:defRPr/>
            </a:lvl2pPr>
          </a:lstStyle>
          <a:p>
            <a:pPr lvl="0"/>
            <a:r>
              <a:rPr lang="en-US"/>
              <a:t>Click to edit Master text styles</a:t>
            </a:r>
          </a:p>
          <a:p>
            <a:pPr lvl="1"/>
            <a:r>
              <a:rPr lang="en-US"/>
              <a:t>Second level</a:t>
            </a:r>
          </a:p>
        </p:txBody>
      </p:sp>
      <p:sp>
        <p:nvSpPr>
          <p:cNvPr id="5" name="Date Placeholder 2"/>
          <p:cNvSpPr>
            <a:spLocks noGrp="1"/>
          </p:cNvSpPr>
          <p:nvPr>
            <p:ph type="dt" sz="half" idx="15"/>
          </p:nvPr>
        </p:nvSpPr>
        <p:spPr/>
        <p:txBody>
          <a:bodyPr/>
          <a:lstStyle>
            <a:lvl1pPr>
              <a:defRPr/>
            </a:lvl1pPr>
          </a:lstStyle>
          <a:p>
            <a:r>
              <a:rPr lang="en-US"/>
              <a:t>May 27, 2023</a:t>
            </a:r>
          </a:p>
        </p:txBody>
      </p:sp>
      <p:sp>
        <p:nvSpPr>
          <p:cNvPr id="7" name="Footer Placeholder 3"/>
          <p:cNvSpPr>
            <a:spLocks noGrp="1"/>
          </p:cNvSpPr>
          <p:nvPr>
            <p:ph type="ftr" sz="quarter" idx="16"/>
          </p:nvPr>
        </p:nvSpPr>
        <p:spPr/>
        <p:txBody>
          <a:bodyPr/>
          <a:lstStyle>
            <a:lvl1pPr>
              <a:defRPr/>
            </a:lvl1pPr>
          </a:lstStyle>
          <a:p>
            <a:pPr>
              <a:defRPr/>
            </a:pPr>
            <a:r>
              <a:rPr lang="en-US"/>
              <a:t>MArburg - Turning Points</a:t>
            </a:r>
          </a:p>
        </p:txBody>
      </p:sp>
      <p:sp>
        <p:nvSpPr>
          <p:cNvPr id="8" name="Slide Number Placeholder 4"/>
          <p:cNvSpPr>
            <a:spLocks noGrp="1"/>
          </p:cNvSpPr>
          <p:nvPr>
            <p:ph type="sldNum" sz="quarter" idx="17"/>
          </p:nvPr>
        </p:nvSpPr>
        <p:spPr/>
        <p:txBody>
          <a:bodyPr/>
          <a:lstStyle>
            <a:lvl1pPr>
              <a:defRPr/>
            </a:lvl1pPr>
          </a:lstStyle>
          <a:p>
            <a:fld id="{23629421-DCBE-49E7-89DB-E53CDF4255A2}" type="slidenum">
              <a:rPr lang="en-US"/>
              <a:pPr/>
              <a:t>‹#›</a:t>
            </a:fld>
            <a:endParaRPr lang="en-US"/>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p:nvPr>
        </p:nvSpPr>
        <p:spPr>
          <a:xfrm>
            <a:off x="3198812" y="1905000"/>
            <a:ext cx="8456613" cy="2209800"/>
          </a:xfrm>
        </p:spPr>
        <p:txBody>
          <a:bodyPr anchor="t"/>
          <a:lstStyle>
            <a:lvl1pPr marL="228600" indent="-228600" algn="l">
              <a:defRPr sz="4000" b="0"/>
            </a:lvl1pPr>
          </a:lstStyle>
          <a:p>
            <a:r>
              <a:rPr lang="en-US"/>
              <a:t>Click to edit Master title style</a:t>
            </a:r>
            <a:endParaRPr dirty="0"/>
          </a:p>
        </p:txBody>
      </p:sp>
      <p:sp>
        <p:nvSpPr>
          <p:cNvPr id="4" name="Text Placeholder 3"/>
          <p:cNvSpPr>
            <a:spLocks noGrp="1"/>
          </p:cNvSpPr>
          <p:nvPr>
            <p:ph type="body" sz="half" idx="2"/>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r>
              <a:rPr lang="en-US"/>
              <a:t>May 27, 2023</a:t>
            </a:r>
          </a:p>
        </p:txBody>
      </p:sp>
      <p:sp>
        <p:nvSpPr>
          <p:cNvPr id="6"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7" name="Slide Number Placeholder 5"/>
          <p:cNvSpPr>
            <a:spLocks noGrp="1"/>
          </p:cNvSpPr>
          <p:nvPr>
            <p:ph type="sldNum" sz="quarter" idx="12"/>
          </p:nvPr>
        </p:nvSpPr>
        <p:spPr/>
        <p:txBody>
          <a:bodyPr/>
          <a:lstStyle>
            <a:lvl1pPr>
              <a:defRPr/>
            </a:lvl1pPr>
          </a:lstStyle>
          <a:p>
            <a:fld id="{9A910393-6E5A-449B-919F-FB2DFBB50120}" type="slidenum">
              <a:rPr lang="en-US"/>
              <a:pPr/>
              <a:t>‹#›</a:t>
            </a:fld>
            <a:endParaRPr lang="en-US"/>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p:nvPr>
        </p:nvSpPr>
        <p:spPr>
          <a:xfrm>
            <a:off x="531812" y="1905000"/>
            <a:ext cx="2194560" cy="3072384"/>
          </a:xfrm>
          <a:noFill/>
        </p:spPr>
        <p:txBody>
          <a:bodyPr tIns="91440" rtlCol="0">
            <a:noAutofit/>
          </a:bodyPr>
          <a:lstStyle>
            <a:lvl1pPr marL="0" indent="0" algn="ctr">
              <a:spcBef>
                <a:spcPts val="0"/>
              </a:spcBef>
              <a:buNone/>
              <a:defRPr sz="1800" baseline="0">
                <a:solidFill>
                  <a:schemeClr val="tx1"/>
                </a:solidFill>
              </a:defRPr>
            </a:lvl1pPr>
          </a:lstStyle>
          <a:p>
            <a:pPr lvl="0"/>
            <a:r>
              <a:rPr lang="en-US" noProof="0"/>
              <a:t>Click icon to add picture</a:t>
            </a:r>
            <a:endParaRPr noProof="0" dirty="0"/>
          </a:p>
        </p:txBody>
      </p:sp>
      <p:sp>
        <p:nvSpPr>
          <p:cNvPr id="2" name="Title 1"/>
          <p:cNvSpPr>
            <a:spLocks noGrp="1"/>
          </p:cNvSpPr>
          <p:nvPr>
            <p:ph type="title"/>
          </p:nvPr>
        </p:nvSpPr>
        <p:spPr>
          <a:xfrm>
            <a:off x="3198812" y="1905000"/>
            <a:ext cx="8456613" cy="2209800"/>
          </a:xfrm>
        </p:spPr>
        <p:txBody>
          <a:bodyPr anchor="t"/>
          <a:lstStyle>
            <a:lvl1pPr marL="228600" indent="-228600" algn="l">
              <a:defRPr sz="4000" b="0"/>
            </a:lvl1pPr>
          </a:lstStyle>
          <a:p>
            <a:r>
              <a:rPr lang="en-US"/>
              <a:t>Click to edit Master title style</a:t>
            </a:r>
            <a:endParaRPr dirty="0"/>
          </a:p>
        </p:txBody>
      </p:sp>
      <p:sp>
        <p:nvSpPr>
          <p:cNvPr id="4" name="Text Placeholder 3"/>
          <p:cNvSpPr>
            <a:spLocks noGrp="1"/>
          </p:cNvSpPr>
          <p:nvPr>
            <p:ph type="body" sz="half" idx="2"/>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5"/>
          </p:nvPr>
        </p:nvSpPr>
        <p:spPr/>
        <p:txBody>
          <a:bodyPr/>
          <a:lstStyle>
            <a:lvl1pPr>
              <a:defRPr/>
            </a:lvl1pPr>
          </a:lstStyle>
          <a:p>
            <a:r>
              <a:rPr lang="en-US"/>
              <a:t>May 27, 2023</a:t>
            </a:r>
          </a:p>
        </p:txBody>
      </p:sp>
      <p:sp>
        <p:nvSpPr>
          <p:cNvPr id="6" name="Footer Placeholder 4"/>
          <p:cNvSpPr>
            <a:spLocks noGrp="1"/>
          </p:cNvSpPr>
          <p:nvPr>
            <p:ph type="ftr" sz="quarter" idx="16"/>
          </p:nvPr>
        </p:nvSpPr>
        <p:spPr/>
        <p:txBody>
          <a:bodyPr/>
          <a:lstStyle>
            <a:lvl1pPr>
              <a:defRPr/>
            </a:lvl1pPr>
          </a:lstStyle>
          <a:p>
            <a:pPr>
              <a:defRPr/>
            </a:pPr>
            <a:r>
              <a:rPr lang="en-US"/>
              <a:t>MArburg - Turning Points</a:t>
            </a:r>
            <a:endParaRPr/>
          </a:p>
        </p:txBody>
      </p:sp>
      <p:sp>
        <p:nvSpPr>
          <p:cNvPr id="7" name="Slide Number Placeholder 5"/>
          <p:cNvSpPr>
            <a:spLocks noGrp="1"/>
          </p:cNvSpPr>
          <p:nvPr>
            <p:ph type="sldNum" sz="quarter" idx="17"/>
          </p:nvPr>
        </p:nvSpPr>
        <p:spPr/>
        <p:txBody>
          <a:bodyPr/>
          <a:lstStyle>
            <a:lvl1pPr>
              <a:defRPr/>
            </a:lvl1pPr>
          </a:lstStyle>
          <a:p>
            <a:fld id="{8343E2FE-5F38-4A04-A598-C462D502190B}" type="slidenum">
              <a:rPr lang="en-US"/>
              <a:pPr/>
              <a:t>‹#›</a:t>
            </a:fld>
            <a:endParaRPr lang="en-US"/>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cxnSp>
        <p:nvCxnSpPr>
          <p:cNvPr id="5" name="Straight Connector 4"/>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p:cNvSpPr>
            <a:spLocks noGrp="1"/>
          </p:cNvSpPr>
          <p:nvPr>
            <p:ph type="dt" sz="half" idx="10"/>
          </p:nvPr>
        </p:nvSpPr>
        <p:spPr/>
        <p:txBody>
          <a:bodyPr/>
          <a:lstStyle>
            <a:lvl1pPr>
              <a:defRPr/>
            </a:lvl1pPr>
          </a:lstStyle>
          <a:p>
            <a:r>
              <a:rPr lang="en-US"/>
              <a:t>May 27, 2023</a:t>
            </a:r>
          </a:p>
        </p:txBody>
      </p:sp>
      <p:sp>
        <p:nvSpPr>
          <p:cNvPr id="7" name="Footer Placeholder 5"/>
          <p:cNvSpPr>
            <a:spLocks noGrp="1"/>
          </p:cNvSpPr>
          <p:nvPr>
            <p:ph type="ftr" sz="quarter" idx="11"/>
          </p:nvPr>
        </p:nvSpPr>
        <p:spPr/>
        <p:txBody>
          <a:bodyPr/>
          <a:lstStyle>
            <a:lvl1pPr>
              <a:defRPr/>
            </a:lvl1pPr>
          </a:lstStyle>
          <a:p>
            <a:pPr>
              <a:defRPr/>
            </a:pPr>
            <a:r>
              <a:rPr lang="en-US"/>
              <a:t>MArburg - Turning Points</a:t>
            </a:r>
            <a:endParaRPr/>
          </a:p>
        </p:txBody>
      </p:sp>
      <p:sp>
        <p:nvSpPr>
          <p:cNvPr id="9" name="Slide Number Placeholder 6"/>
          <p:cNvSpPr>
            <a:spLocks noGrp="1"/>
          </p:cNvSpPr>
          <p:nvPr>
            <p:ph type="sldNum" sz="quarter" idx="12"/>
          </p:nvPr>
        </p:nvSpPr>
        <p:spPr/>
        <p:txBody>
          <a:bodyPr/>
          <a:lstStyle>
            <a:lvl1pPr>
              <a:defRPr/>
            </a:lvl1pPr>
          </a:lstStyle>
          <a:p>
            <a:fld id="{049E1CC2-D338-4355-BCCE-BC4D66B8D078}" type="slidenum">
              <a:rPr lang="en-US"/>
              <a:pPr/>
              <a:t>‹#›</a:t>
            </a:fld>
            <a:endParaRPr lang="en-US"/>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cxnSp>
        <p:nvCxnSpPr>
          <p:cNvPr id="6" name="Straight Connector 5"/>
          <p:cNvCxnSpPr/>
          <p:nvPr/>
        </p:nvCxnSpPr>
        <p:spPr bwMode="ltGray">
          <a:xfrm>
            <a:off x="4189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ltGray">
          <a:xfrm>
            <a:off x="7999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4"/>
          <p:cNvSpPr>
            <a:spLocks noGrp="1"/>
          </p:cNvSpPr>
          <p:nvPr>
            <p:ph type="dt" sz="half" idx="14"/>
          </p:nvPr>
        </p:nvSpPr>
        <p:spPr/>
        <p:txBody>
          <a:bodyPr/>
          <a:lstStyle>
            <a:lvl1pPr>
              <a:defRPr/>
            </a:lvl1pPr>
          </a:lstStyle>
          <a:p>
            <a:r>
              <a:rPr lang="en-US"/>
              <a:t>May 27, 2023</a:t>
            </a:r>
          </a:p>
        </p:txBody>
      </p:sp>
      <p:sp>
        <p:nvSpPr>
          <p:cNvPr id="10" name="Footer Placeholder 5"/>
          <p:cNvSpPr>
            <a:spLocks noGrp="1"/>
          </p:cNvSpPr>
          <p:nvPr>
            <p:ph type="ftr" sz="quarter" idx="15"/>
          </p:nvPr>
        </p:nvSpPr>
        <p:spPr/>
        <p:txBody>
          <a:bodyPr/>
          <a:lstStyle>
            <a:lvl1pPr>
              <a:defRPr/>
            </a:lvl1pPr>
          </a:lstStyle>
          <a:p>
            <a:pPr>
              <a:defRPr/>
            </a:pPr>
            <a:r>
              <a:rPr lang="en-US"/>
              <a:t>MArburg - Turning Points</a:t>
            </a:r>
            <a:endParaRPr/>
          </a:p>
        </p:txBody>
      </p:sp>
      <p:sp>
        <p:nvSpPr>
          <p:cNvPr id="12" name="Slide Number Placeholder 6"/>
          <p:cNvSpPr>
            <a:spLocks noGrp="1"/>
          </p:cNvSpPr>
          <p:nvPr>
            <p:ph type="sldNum" sz="quarter" idx="16"/>
          </p:nvPr>
        </p:nvSpPr>
        <p:spPr/>
        <p:txBody>
          <a:bodyPr/>
          <a:lstStyle>
            <a:lvl1pPr>
              <a:defRPr/>
            </a:lvl1pPr>
          </a:lstStyle>
          <a:p>
            <a:fld id="{151B6854-49C0-49C6-B521-224A0D1D06A5}" type="slidenum">
              <a:rPr lang="en-US"/>
              <a:pPr/>
              <a:t>‹#›</a:t>
            </a:fld>
            <a:endParaRPr lang="en-US"/>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cxnSp>
        <p:nvCxnSpPr>
          <p:cNvPr id="7" name="Straight Connector 6"/>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p:cNvSpPr>
            <a:spLocks noGrp="1"/>
          </p:cNvSpPr>
          <p:nvPr>
            <p:ph type="title"/>
          </p:nvPr>
        </p:nvSpPr>
        <p:spPr/>
        <p:txBody>
          <a:bodyPr/>
          <a:lstStyle/>
          <a:p>
            <a:r>
              <a:rPr lang="en-US"/>
              <a:t>Click to edit Master title style</a:t>
            </a:r>
            <a:endParaRPr dirty="0"/>
          </a:p>
        </p:txBody>
      </p:sp>
      <p:sp>
        <p:nvSpPr>
          <p:cNvPr id="10" name="Date Placeholder 4"/>
          <p:cNvSpPr>
            <a:spLocks noGrp="1"/>
          </p:cNvSpPr>
          <p:nvPr>
            <p:ph type="dt" sz="half" idx="15"/>
          </p:nvPr>
        </p:nvSpPr>
        <p:spPr/>
        <p:txBody>
          <a:bodyPr/>
          <a:lstStyle>
            <a:lvl1pPr>
              <a:defRPr/>
            </a:lvl1pPr>
          </a:lstStyle>
          <a:p>
            <a:r>
              <a:rPr lang="en-US"/>
              <a:t>May 27, 2023</a:t>
            </a:r>
          </a:p>
        </p:txBody>
      </p:sp>
      <p:sp>
        <p:nvSpPr>
          <p:cNvPr id="12" name="Footer Placeholder 5"/>
          <p:cNvSpPr>
            <a:spLocks noGrp="1"/>
          </p:cNvSpPr>
          <p:nvPr>
            <p:ph type="ftr" sz="quarter" idx="16"/>
          </p:nvPr>
        </p:nvSpPr>
        <p:spPr/>
        <p:txBody>
          <a:bodyPr/>
          <a:lstStyle>
            <a:lvl1pPr>
              <a:defRPr/>
            </a:lvl1pPr>
          </a:lstStyle>
          <a:p>
            <a:pPr>
              <a:defRPr/>
            </a:pPr>
            <a:r>
              <a:rPr lang="en-US"/>
              <a:t>MArburg - Turning Points</a:t>
            </a:r>
            <a:endParaRPr/>
          </a:p>
        </p:txBody>
      </p:sp>
      <p:sp>
        <p:nvSpPr>
          <p:cNvPr id="13" name="Slide Number Placeholder 6"/>
          <p:cNvSpPr>
            <a:spLocks noGrp="1"/>
          </p:cNvSpPr>
          <p:nvPr>
            <p:ph type="sldNum" sz="quarter" idx="17"/>
          </p:nvPr>
        </p:nvSpPr>
        <p:spPr/>
        <p:txBody>
          <a:bodyPr/>
          <a:lstStyle>
            <a:lvl1pPr>
              <a:defRPr/>
            </a:lvl1pPr>
          </a:lstStyle>
          <a:p>
            <a:fld id="{7B27FE2A-D3EC-42E1-9C35-35339E1717CA}" type="slidenum">
              <a:rPr lang="en-US"/>
              <a:pPr/>
              <a:t>‹#›</a:t>
            </a:fld>
            <a:endParaRPr lang="en-US"/>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cxnSp>
        <p:nvCxnSpPr>
          <p:cNvPr id="7" name="Straight Connector 6"/>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bwMode="ltGray">
          <a:xfrm flipH="1">
            <a:off x="531813" y="3733800"/>
            <a:ext cx="11125200"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p:txBody>
          <a:bodyPr/>
          <a:lstStyle/>
          <a:p>
            <a:r>
              <a:rPr lang="en-US"/>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9" name="Date Placeholder 4"/>
          <p:cNvSpPr>
            <a:spLocks noGrp="1"/>
          </p:cNvSpPr>
          <p:nvPr>
            <p:ph type="dt" sz="half" idx="19"/>
          </p:nvPr>
        </p:nvSpPr>
        <p:spPr/>
        <p:txBody>
          <a:bodyPr/>
          <a:lstStyle>
            <a:lvl1pPr>
              <a:defRPr/>
            </a:lvl1pPr>
          </a:lstStyle>
          <a:p>
            <a:r>
              <a:rPr lang="en-US"/>
              <a:t>May 27, 2023</a:t>
            </a:r>
          </a:p>
        </p:txBody>
      </p:sp>
      <p:sp>
        <p:nvSpPr>
          <p:cNvPr id="10" name="Footer Placeholder 5"/>
          <p:cNvSpPr>
            <a:spLocks noGrp="1"/>
          </p:cNvSpPr>
          <p:nvPr>
            <p:ph type="ftr" sz="quarter" idx="20"/>
          </p:nvPr>
        </p:nvSpPr>
        <p:spPr/>
        <p:txBody>
          <a:bodyPr/>
          <a:lstStyle>
            <a:lvl1pPr>
              <a:defRPr/>
            </a:lvl1pPr>
          </a:lstStyle>
          <a:p>
            <a:pPr>
              <a:defRPr/>
            </a:pPr>
            <a:r>
              <a:rPr lang="en-US"/>
              <a:t>MArburg - Turning Points</a:t>
            </a:r>
            <a:endParaRPr/>
          </a:p>
        </p:txBody>
      </p:sp>
      <p:sp>
        <p:nvSpPr>
          <p:cNvPr id="11" name="Slide Number Placeholder 6"/>
          <p:cNvSpPr>
            <a:spLocks noGrp="1"/>
          </p:cNvSpPr>
          <p:nvPr>
            <p:ph type="sldNum" sz="quarter" idx="21"/>
          </p:nvPr>
        </p:nvSpPr>
        <p:spPr/>
        <p:txBody>
          <a:bodyPr/>
          <a:lstStyle>
            <a:lvl1pPr>
              <a:defRPr/>
            </a:lvl1pPr>
          </a:lstStyle>
          <a:p>
            <a:fld id="{6B808D1B-9A4D-4781-B267-BD70F231D85D}" type="slidenum">
              <a:rPr lang="en-US"/>
              <a:pPr/>
              <a:t>‹#›</a:t>
            </a:fld>
            <a:endParaRPr lang="en-US"/>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p:nvPr>
        </p:nvSpPr>
        <p:spPr>
          <a:xfrm>
            <a:off x="760412" y="1524000"/>
            <a:ext cx="4076700" cy="2743200"/>
          </a:xfrm>
        </p:spPr>
        <p:txBody>
          <a:bodyPr anchor="ctr"/>
          <a:lstStyle>
            <a:lvl1pPr algn="r">
              <a:defRPr sz="16600" b="1">
                <a:solidFill>
                  <a:schemeClr val="accent5"/>
                </a:solidFill>
              </a:defRPr>
            </a:lvl1pPr>
          </a:lstStyle>
          <a:p>
            <a:r>
              <a:rPr lang="en-US"/>
              <a:t>Click to edit Master title style</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a:t>Click to edit Master text styles</a:t>
            </a:r>
          </a:p>
        </p:txBody>
      </p:sp>
      <p:sp>
        <p:nvSpPr>
          <p:cNvPr id="4" name="Date Placeholder 3"/>
          <p:cNvSpPr>
            <a:spLocks noGrp="1"/>
          </p:cNvSpPr>
          <p:nvPr>
            <p:ph type="dt" sz="half" idx="16"/>
          </p:nvPr>
        </p:nvSpPr>
        <p:spPr/>
        <p:txBody>
          <a:bodyPr/>
          <a:lstStyle>
            <a:lvl1pPr>
              <a:defRPr/>
            </a:lvl1pPr>
          </a:lstStyle>
          <a:p>
            <a:r>
              <a:rPr lang="en-US"/>
              <a:t>May 27, 2023</a:t>
            </a:r>
          </a:p>
        </p:txBody>
      </p:sp>
      <p:sp>
        <p:nvSpPr>
          <p:cNvPr id="5" name="Footer Placeholder 4"/>
          <p:cNvSpPr>
            <a:spLocks noGrp="1"/>
          </p:cNvSpPr>
          <p:nvPr>
            <p:ph type="ftr" sz="quarter" idx="17"/>
          </p:nvPr>
        </p:nvSpPr>
        <p:spPr/>
        <p:txBody>
          <a:bodyPr/>
          <a:lstStyle>
            <a:lvl1pPr>
              <a:defRPr/>
            </a:lvl1pPr>
          </a:lstStyle>
          <a:p>
            <a:pPr>
              <a:defRPr/>
            </a:pPr>
            <a:r>
              <a:rPr lang="en-US"/>
              <a:t>MArburg - Turning Points</a:t>
            </a:r>
            <a:endParaRPr/>
          </a:p>
        </p:txBody>
      </p:sp>
      <p:sp>
        <p:nvSpPr>
          <p:cNvPr id="6" name="Slide Number Placeholder 5"/>
          <p:cNvSpPr>
            <a:spLocks noGrp="1"/>
          </p:cNvSpPr>
          <p:nvPr>
            <p:ph type="sldNum" sz="quarter" idx="18"/>
          </p:nvPr>
        </p:nvSpPr>
        <p:spPr/>
        <p:txBody>
          <a:bodyPr/>
          <a:lstStyle>
            <a:lvl1pPr>
              <a:defRPr/>
            </a:lvl1pPr>
          </a:lstStyle>
          <a:p>
            <a:fld id="{4A62F849-773C-4BC2-B15F-D9B9C82BBC30}" type="slidenum">
              <a:rPr lang="en-US"/>
              <a:pPr/>
              <a:t>‹#›</a:t>
            </a:fld>
            <a:endParaRPr lang="en-US"/>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cxnSp>
        <p:nvCxnSpPr>
          <p:cNvPr id="7" name="Straight Connector 6"/>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noAutofit/>
          </a:bodyPr>
          <a:lstStyle/>
          <a:p>
            <a:r>
              <a:rPr lang="en-US"/>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p:cNvSpPr>
            <a:spLocks noGrp="1"/>
          </p:cNvSpPr>
          <p:nvPr>
            <p:ph type="dt" sz="half" idx="10"/>
          </p:nvPr>
        </p:nvSpPr>
        <p:spPr/>
        <p:txBody>
          <a:bodyPr>
            <a:noAutofit/>
          </a:bodyPr>
          <a:lstStyle>
            <a:lvl1pPr>
              <a:defRPr/>
            </a:lvl1pPr>
          </a:lstStyle>
          <a:p>
            <a:r>
              <a:rPr lang="en-US"/>
              <a:t>May 27, 2023</a:t>
            </a:r>
          </a:p>
        </p:txBody>
      </p:sp>
      <p:sp>
        <p:nvSpPr>
          <p:cNvPr id="9" name="Footer Placeholder 7"/>
          <p:cNvSpPr>
            <a:spLocks noGrp="1"/>
          </p:cNvSpPr>
          <p:nvPr>
            <p:ph type="ftr" sz="quarter" idx="11"/>
          </p:nvPr>
        </p:nvSpPr>
        <p:spPr/>
        <p:txBody>
          <a:bodyPr>
            <a:noAutofit/>
          </a:bodyPr>
          <a:lstStyle>
            <a:lvl1pPr>
              <a:defRPr/>
            </a:lvl1pPr>
          </a:lstStyle>
          <a:p>
            <a:pPr>
              <a:defRPr/>
            </a:pPr>
            <a:r>
              <a:rPr lang="en-US"/>
              <a:t>MArburg - Turning Points</a:t>
            </a:r>
            <a:endParaRPr/>
          </a:p>
        </p:txBody>
      </p:sp>
      <p:sp>
        <p:nvSpPr>
          <p:cNvPr id="10" name="Slide Number Placeholder 8"/>
          <p:cNvSpPr>
            <a:spLocks noGrp="1"/>
          </p:cNvSpPr>
          <p:nvPr>
            <p:ph type="sldNum" sz="quarter" idx="12"/>
          </p:nvPr>
        </p:nvSpPr>
        <p:spPr/>
        <p:txBody>
          <a:bodyPr>
            <a:noAutofit/>
          </a:bodyPr>
          <a:lstStyle>
            <a:lvl1pPr>
              <a:defRPr/>
            </a:lvl1pPr>
          </a:lstStyle>
          <a:p>
            <a:fld id="{1D3C8427-47AF-4ED6-859E-C50DFBB23514}" type="slidenum">
              <a:rPr lang="en-US"/>
              <a:pPr/>
              <a:t>‹#›</a:t>
            </a:fld>
            <a:endParaRPr lang="en-US"/>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r>
              <a:rPr lang="en-US"/>
              <a:t>May 27, 2023</a:t>
            </a:r>
          </a:p>
        </p:txBody>
      </p:sp>
      <p:sp>
        <p:nvSpPr>
          <p:cNvPr id="4"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5" name="Slide Number Placeholder 5"/>
          <p:cNvSpPr>
            <a:spLocks noGrp="1"/>
          </p:cNvSpPr>
          <p:nvPr>
            <p:ph type="sldNum" sz="quarter" idx="12"/>
          </p:nvPr>
        </p:nvSpPr>
        <p:spPr/>
        <p:txBody>
          <a:bodyPr/>
          <a:lstStyle>
            <a:lvl1pPr>
              <a:defRPr/>
            </a:lvl1pPr>
          </a:lstStyle>
          <a:p>
            <a:fld id="{32B768C1-90FF-4057-8892-09CE017186EE}" type="slidenum">
              <a:rPr lang="en-US"/>
              <a:pPr/>
              <a:t>‹#›</a:t>
            </a:fld>
            <a:endParaRPr lang="en-US"/>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endParaRPr dirty="0"/>
          </a:p>
        </p:txBody>
      </p:sp>
      <p:sp>
        <p:nvSpPr>
          <p:cNvPr id="6" name="Text Placeholder 12"/>
          <p:cNvSpPr>
            <a:spLocks noGrp="1"/>
          </p:cNvSpPr>
          <p:nvPr>
            <p:ph type="body" sz="quarter" idx="13"/>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4" name="Date Placeholder 3"/>
          <p:cNvSpPr>
            <a:spLocks noGrp="1"/>
          </p:cNvSpPr>
          <p:nvPr>
            <p:ph type="dt" sz="half" idx="14"/>
          </p:nvPr>
        </p:nvSpPr>
        <p:spPr/>
        <p:txBody>
          <a:bodyPr/>
          <a:lstStyle>
            <a:lvl1pPr>
              <a:defRPr/>
            </a:lvl1pPr>
          </a:lstStyle>
          <a:p>
            <a:r>
              <a:rPr lang="en-US"/>
              <a:t>May 27, 2023</a:t>
            </a:r>
          </a:p>
        </p:txBody>
      </p:sp>
      <p:sp>
        <p:nvSpPr>
          <p:cNvPr id="5" name="Footer Placeholder 4"/>
          <p:cNvSpPr>
            <a:spLocks noGrp="1"/>
          </p:cNvSpPr>
          <p:nvPr>
            <p:ph type="ftr" sz="quarter" idx="15"/>
          </p:nvPr>
        </p:nvSpPr>
        <p:spPr/>
        <p:txBody>
          <a:bodyPr/>
          <a:lstStyle>
            <a:lvl1pPr>
              <a:defRPr/>
            </a:lvl1pPr>
          </a:lstStyle>
          <a:p>
            <a:pPr>
              <a:defRPr/>
            </a:pPr>
            <a:r>
              <a:rPr lang="en-US"/>
              <a:t>MArburg - Turning Points</a:t>
            </a:r>
            <a:endParaRPr/>
          </a:p>
        </p:txBody>
      </p:sp>
      <p:sp>
        <p:nvSpPr>
          <p:cNvPr id="8" name="Slide Number Placeholder 5"/>
          <p:cNvSpPr>
            <a:spLocks noGrp="1"/>
          </p:cNvSpPr>
          <p:nvPr>
            <p:ph type="sldNum" sz="quarter" idx="16"/>
          </p:nvPr>
        </p:nvSpPr>
        <p:spPr/>
        <p:txBody>
          <a:bodyPr/>
          <a:lstStyle>
            <a:lvl1pPr>
              <a:defRPr/>
            </a:lvl1pPr>
          </a:lstStyle>
          <a:p>
            <a:fld id="{7D44530B-3815-4D4A-BA4A-56983D29A6B3}" type="slidenum">
              <a:rPr lang="en-US"/>
              <a:pPr/>
              <a:t>‹#›</a:t>
            </a:fld>
            <a:endParaRPr lang="en-US"/>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US"/>
              <a:t>May 27, 2023</a:t>
            </a:r>
          </a:p>
        </p:txBody>
      </p:sp>
      <p:sp>
        <p:nvSpPr>
          <p:cNvPr id="3"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4" name="Slide Number Placeholder 5"/>
          <p:cNvSpPr>
            <a:spLocks noGrp="1"/>
          </p:cNvSpPr>
          <p:nvPr>
            <p:ph type="sldNum" sz="quarter" idx="12"/>
          </p:nvPr>
        </p:nvSpPr>
        <p:spPr/>
        <p:txBody>
          <a:bodyPr/>
          <a:lstStyle>
            <a:lvl1pPr>
              <a:defRPr/>
            </a:lvl1pPr>
          </a:lstStyle>
          <a:p>
            <a:fld id="{0ED20AAA-37D5-4ACE-BCC7-267C284B409F}" type="slidenum">
              <a:rPr lang="en-US"/>
              <a:pPr/>
              <a:t>‹#›</a:t>
            </a:fld>
            <a:endParaRPr lang="en-US"/>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r>
              <a:rPr lang="en-US"/>
              <a:t>May 27, 2023</a:t>
            </a:r>
          </a:p>
        </p:txBody>
      </p:sp>
      <p:sp>
        <p:nvSpPr>
          <p:cNvPr id="6"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7" name="Slide Number Placeholder 5"/>
          <p:cNvSpPr>
            <a:spLocks noGrp="1"/>
          </p:cNvSpPr>
          <p:nvPr>
            <p:ph type="sldNum" sz="quarter" idx="12"/>
          </p:nvPr>
        </p:nvSpPr>
        <p:spPr/>
        <p:txBody>
          <a:bodyPr/>
          <a:lstStyle>
            <a:lvl1pPr>
              <a:defRPr/>
            </a:lvl1pPr>
          </a:lstStyle>
          <a:p>
            <a:fld id="{33B12EC8-00F7-4078-8B88-89D0B623E3F2}" type="slidenum">
              <a:rPr lang="en-US"/>
              <a:pPr/>
              <a:t>‹#›</a:t>
            </a:fld>
            <a:endParaRPr lang="en-US"/>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rtlCol="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r>
              <a:rPr lang="en-US"/>
              <a:t>May 27, 2023</a:t>
            </a:r>
          </a:p>
        </p:txBody>
      </p:sp>
      <p:sp>
        <p:nvSpPr>
          <p:cNvPr id="6"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7" name="Slide Number Placeholder 5"/>
          <p:cNvSpPr>
            <a:spLocks noGrp="1"/>
          </p:cNvSpPr>
          <p:nvPr>
            <p:ph type="sldNum" sz="quarter" idx="12"/>
          </p:nvPr>
        </p:nvSpPr>
        <p:spPr/>
        <p:txBody>
          <a:bodyPr/>
          <a:lstStyle>
            <a:lvl1pPr>
              <a:defRPr/>
            </a:lvl1pPr>
          </a:lstStyle>
          <a:p>
            <a:fld id="{2949440F-2DE8-46B1-A970-85A31B938F7D}" type="slidenum">
              <a:rPr lang="en-US"/>
              <a:pPr/>
              <a:t>‹#›</a:t>
            </a:fld>
            <a:endParaRPr lang="en-US"/>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cxnSp>
        <p:nvCxnSpPr>
          <p:cNvPr id="7" name="Straight Connector 6"/>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noAutofit/>
          </a:bodyPr>
          <a:lstStyle/>
          <a:p>
            <a:r>
              <a:rPr lang="en-US"/>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rtlCol="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Picture Placeholder 2"/>
          <p:cNvSpPr>
            <a:spLocks noGrp="1"/>
          </p:cNvSpPr>
          <p:nvPr>
            <p:ph type="pic" idx="13"/>
          </p:nvPr>
        </p:nvSpPr>
        <p:spPr bwMode="gray">
          <a:xfrm>
            <a:off x="6246812" y="1524000"/>
            <a:ext cx="5413248" cy="3474720"/>
          </a:xfrm>
          <a:solidFill>
            <a:schemeClr val="bg2"/>
          </a:solidFill>
        </p:spPr>
        <p:txBody>
          <a:bodyPr tIns="182880" rtlCol="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5"/>
          </p:nvPr>
        </p:nvSpPr>
        <p:spPr/>
        <p:txBody>
          <a:bodyPr/>
          <a:lstStyle>
            <a:lvl1pPr>
              <a:defRPr/>
            </a:lvl1pPr>
          </a:lstStyle>
          <a:p>
            <a:r>
              <a:rPr lang="en-US"/>
              <a:t>May 27, 2023</a:t>
            </a:r>
          </a:p>
        </p:txBody>
      </p:sp>
      <p:sp>
        <p:nvSpPr>
          <p:cNvPr id="12" name="Footer Placeholder 5"/>
          <p:cNvSpPr>
            <a:spLocks noGrp="1"/>
          </p:cNvSpPr>
          <p:nvPr>
            <p:ph type="ftr" sz="quarter" idx="16"/>
          </p:nvPr>
        </p:nvSpPr>
        <p:spPr/>
        <p:txBody>
          <a:bodyPr/>
          <a:lstStyle>
            <a:lvl1pPr>
              <a:defRPr/>
            </a:lvl1pPr>
          </a:lstStyle>
          <a:p>
            <a:pPr>
              <a:defRPr/>
            </a:pPr>
            <a:r>
              <a:rPr lang="en-US"/>
              <a:t>MArburg - Turning Points</a:t>
            </a:r>
            <a:endParaRPr/>
          </a:p>
        </p:txBody>
      </p:sp>
      <p:sp>
        <p:nvSpPr>
          <p:cNvPr id="13" name="Slide Number Placeholder 6"/>
          <p:cNvSpPr>
            <a:spLocks noGrp="1"/>
          </p:cNvSpPr>
          <p:nvPr>
            <p:ph type="sldNum" sz="quarter" idx="17"/>
          </p:nvPr>
        </p:nvSpPr>
        <p:spPr/>
        <p:txBody>
          <a:bodyPr/>
          <a:lstStyle>
            <a:lvl1pPr>
              <a:defRPr/>
            </a:lvl1pPr>
          </a:lstStyle>
          <a:p>
            <a:fld id="{92B18D53-9853-465A-9FDA-9B94A5D8C217}" type="slidenum">
              <a:rPr lang="en-US"/>
              <a:pPr/>
              <a:t>‹#›</a:t>
            </a:fld>
            <a:endParaRPr lang="en-US"/>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cxnSp>
        <p:nvCxnSpPr>
          <p:cNvPr id="11" name="Straight Connector 10"/>
          <p:cNvCxnSpPr/>
          <p:nvPr/>
        </p:nvCxnSpPr>
        <p:spPr bwMode="ltGray">
          <a:xfrm>
            <a:off x="4189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ltGray">
          <a:xfrm>
            <a:off x="7999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title"/>
          </p:nvPr>
        </p:nvSpPr>
        <p:spPr/>
        <p:txBody>
          <a:bodyPr>
            <a:noAutofit/>
          </a:bodyPr>
          <a:lstStyle/>
          <a:p>
            <a:r>
              <a:rPr lang="en-US"/>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rtlCol="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Picture Placeholder 2"/>
          <p:cNvSpPr>
            <a:spLocks noGrp="1"/>
          </p:cNvSpPr>
          <p:nvPr>
            <p:ph type="pic" idx="13"/>
          </p:nvPr>
        </p:nvSpPr>
        <p:spPr bwMode="gray">
          <a:xfrm>
            <a:off x="4357052" y="1524000"/>
            <a:ext cx="3474720" cy="3048000"/>
          </a:xfrm>
          <a:solidFill>
            <a:schemeClr val="bg2"/>
          </a:solidFill>
        </p:spPr>
        <p:txBody>
          <a:bodyPr tIns="182880" rtlCol="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Picture Placeholder 2"/>
          <p:cNvSpPr>
            <a:spLocks noGrp="1"/>
          </p:cNvSpPr>
          <p:nvPr>
            <p:ph type="pic" idx="15"/>
          </p:nvPr>
        </p:nvSpPr>
        <p:spPr bwMode="gray">
          <a:xfrm>
            <a:off x="8182292" y="1524000"/>
            <a:ext cx="3474720" cy="3048000"/>
          </a:xfrm>
          <a:solidFill>
            <a:schemeClr val="bg2"/>
          </a:solidFill>
        </p:spPr>
        <p:txBody>
          <a:bodyPr tIns="182880" rtlCol="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4"/>
          <p:cNvSpPr>
            <a:spLocks noGrp="1"/>
          </p:cNvSpPr>
          <p:nvPr>
            <p:ph type="dt" sz="half" idx="17"/>
          </p:nvPr>
        </p:nvSpPr>
        <p:spPr/>
        <p:txBody>
          <a:bodyPr/>
          <a:lstStyle>
            <a:lvl1pPr>
              <a:defRPr/>
            </a:lvl1pPr>
          </a:lstStyle>
          <a:p>
            <a:r>
              <a:rPr lang="en-US"/>
              <a:t>May 27, 2023</a:t>
            </a:r>
          </a:p>
        </p:txBody>
      </p:sp>
      <p:sp>
        <p:nvSpPr>
          <p:cNvPr id="16" name="Footer Placeholder 5"/>
          <p:cNvSpPr>
            <a:spLocks noGrp="1"/>
          </p:cNvSpPr>
          <p:nvPr>
            <p:ph type="ftr" sz="quarter" idx="18"/>
          </p:nvPr>
        </p:nvSpPr>
        <p:spPr/>
        <p:txBody>
          <a:bodyPr/>
          <a:lstStyle>
            <a:lvl1pPr>
              <a:defRPr/>
            </a:lvl1pPr>
          </a:lstStyle>
          <a:p>
            <a:pPr>
              <a:defRPr/>
            </a:pPr>
            <a:r>
              <a:rPr lang="en-US"/>
              <a:t>MArburg - Turning Points</a:t>
            </a:r>
            <a:endParaRPr/>
          </a:p>
        </p:txBody>
      </p:sp>
      <p:sp>
        <p:nvSpPr>
          <p:cNvPr id="17" name="Slide Number Placeholder 6"/>
          <p:cNvSpPr>
            <a:spLocks noGrp="1"/>
          </p:cNvSpPr>
          <p:nvPr>
            <p:ph type="sldNum" sz="quarter" idx="19"/>
          </p:nvPr>
        </p:nvSpPr>
        <p:spPr/>
        <p:txBody>
          <a:bodyPr/>
          <a:lstStyle>
            <a:lvl1pPr>
              <a:defRPr/>
            </a:lvl1pPr>
          </a:lstStyle>
          <a:p>
            <a:fld id="{87A6D32A-146D-4E2B-BB7F-B14B60717336}" type="slidenum">
              <a:rPr lang="en-US"/>
              <a:pPr/>
              <a:t>‹#›</a:t>
            </a:fld>
            <a:endParaRPr lang="en-US"/>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pic>
        <p:nvPicPr>
          <p:cNvPr id="5" name="Picture 13" descr="Photos, screen captures, graphics can be inserted in a white mobile phone and tablet"/>
          <p:cNvPicPr>
            <a:picLocks noChangeAspect="1"/>
          </p:cNvPicPr>
          <p:nvPr/>
        </p:nvPicPr>
        <p:blipFill>
          <a:blip r:embed="rId2" cstate="print"/>
          <a:srcRect/>
          <a:stretch>
            <a:fillRect/>
          </a:stretch>
        </p:blipFill>
        <p:spPr bwMode="auto">
          <a:xfrm>
            <a:off x="3916363" y="1522413"/>
            <a:ext cx="6496050" cy="4567237"/>
          </a:xfrm>
          <a:prstGeom prst="rect">
            <a:avLst/>
          </a:prstGeom>
          <a:noFill/>
          <a:ln w="9525">
            <a:noFill/>
            <a:miter lim="800000"/>
            <a:headEnd/>
            <a:tailEnd/>
          </a:ln>
        </p:spPr>
      </p:pic>
      <p:pic>
        <p:nvPicPr>
          <p:cNvPr id="6" name="Picture 15" descr="Photos, screen captures, graphics can be inserted in a white mobile phone and tablet"/>
          <p:cNvPicPr>
            <a:picLocks noChangeAspect="1"/>
          </p:cNvPicPr>
          <p:nvPr userDrawn="1"/>
        </p:nvPicPr>
        <p:blipFill>
          <a:blip r:embed="rId3" cstate="print"/>
          <a:srcRect/>
          <a:stretch>
            <a:fillRect/>
          </a:stretch>
        </p:blipFill>
        <p:spPr bwMode="auto">
          <a:xfrm>
            <a:off x="1770063" y="1828800"/>
            <a:ext cx="1841500" cy="3887788"/>
          </a:xfrm>
          <a:prstGeom prst="rect">
            <a:avLst/>
          </a:prstGeom>
          <a:noFill/>
          <a:ln w="9525">
            <a:noFill/>
            <a:miter lim="800000"/>
            <a:headEnd/>
            <a:tailEnd/>
          </a:ln>
        </p:spPr>
      </p:pic>
      <p:sp>
        <p:nvSpPr>
          <p:cNvPr id="4" name="Title 3"/>
          <p:cNvSpPr>
            <a:spLocks noGrp="1"/>
          </p:cNvSpPr>
          <p:nvPr>
            <p:ph type="title"/>
          </p:nvPr>
        </p:nvSpPr>
        <p:spPr/>
        <p:txBody>
          <a:bodyPr/>
          <a:lstStyle/>
          <a:p>
            <a:r>
              <a:rPr lang="en-US"/>
              <a:t>Click to edit Master title style</a:t>
            </a:r>
            <a:endParaRPr dirty="0"/>
          </a:p>
        </p:txBody>
      </p:sp>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rtlCol="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rtlCol="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7" name="Date Placeholder 4"/>
          <p:cNvSpPr>
            <a:spLocks noGrp="1"/>
          </p:cNvSpPr>
          <p:nvPr>
            <p:ph type="dt" sz="half" idx="14"/>
          </p:nvPr>
        </p:nvSpPr>
        <p:spPr/>
        <p:txBody>
          <a:bodyPr/>
          <a:lstStyle>
            <a:lvl1pPr>
              <a:defRPr/>
            </a:lvl1pPr>
          </a:lstStyle>
          <a:p>
            <a:r>
              <a:rPr lang="en-US"/>
              <a:t>May 27, 2023</a:t>
            </a:r>
          </a:p>
        </p:txBody>
      </p:sp>
      <p:sp>
        <p:nvSpPr>
          <p:cNvPr id="8" name="Footer Placeholder 5"/>
          <p:cNvSpPr>
            <a:spLocks noGrp="1"/>
          </p:cNvSpPr>
          <p:nvPr>
            <p:ph type="ftr" sz="quarter" idx="15"/>
          </p:nvPr>
        </p:nvSpPr>
        <p:spPr/>
        <p:txBody>
          <a:bodyPr/>
          <a:lstStyle>
            <a:lvl1pPr>
              <a:defRPr/>
            </a:lvl1pPr>
          </a:lstStyle>
          <a:p>
            <a:pPr>
              <a:defRPr/>
            </a:pPr>
            <a:r>
              <a:rPr lang="en-US"/>
              <a:t>MArburg - Turning Points</a:t>
            </a:r>
            <a:endParaRPr/>
          </a:p>
        </p:txBody>
      </p:sp>
      <p:sp>
        <p:nvSpPr>
          <p:cNvPr id="10" name="Slide Number Placeholder 6"/>
          <p:cNvSpPr>
            <a:spLocks noGrp="1"/>
          </p:cNvSpPr>
          <p:nvPr>
            <p:ph type="sldNum" sz="quarter" idx="16"/>
          </p:nvPr>
        </p:nvSpPr>
        <p:spPr/>
        <p:txBody>
          <a:bodyPr/>
          <a:lstStyle>
            <a:lvl1pPr>
              <a:defRPr/>
            </a:lvl1pPr>
          </a:lstStyle>
          <a:p>
            <a:fld id="{4B044255-CF00-47CF-8507-939638FD9323}" type="slidenum">
              <a:rPr lang="en-US"/>
              <a:pPr/>
              <a:t>‹#›</a:t>
            </a:fld>
            <a:endParaRPr lang="en-US"/>
          </a:p>
        </p:txBody>
      </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pic>
        <p:nvPicPr>
          <p:cNvPr id="5" name="Picture 13" descr="Photos, screen captures, graphics can be inserted in a white mobile phone and tablet"/>
          <p:cNvPicPr>
            <a:picLocks noChangeAspect="1"/>
          </p:cNvPicPr>
          <p:nvPr/>
        </p:nvPicPr>
        <p:blipFill>
          <a:blip r:embed="rId2" cstate="print"/>
          <a:srcRect/>
          <a:stretch>
            <a:fillRect/>
          </a:stretch>
        </p:blipFill>
        <p:spPr bwMode="auto">
          <a:xfrm>
            <a:off x="3960813" y="1905000"/>
            <a:ext cx="1841500" cy="3887788"/>
          </a:xfrm>
          <a:prstGeom prst="rect">
            <a:avLst/>
          </a:prstGeom>
          <a:noFill/>
          <a:ln w="9525">
            <a:noFill/>
            <a:miter lim="800000"/>
            <a:headEnd/>
            <a:tailEnd/>
          </a:ln>
        </p:spPr>
      </p:pic>
      <p:pic>
        <p:nvPicPr>
          <p:cNvPr id="6" name="Picture 15" descr="Photos, screen captures, graphics can be inserted in a white mobile phone and tablet"/>
          <p:cNvPicPr>
            <a:picLocks noChangeAspect="1"/>
          </p:cNvPicPr>
          <p:nvPr/>
        </p:nvPicPr>
        <p:blipFill>
          <a:blip r:embed="rId3" cstate="print"/>
          <a:srcRect b="7518"/>
          <a:stretch>
            <a:fillRect/>
          </a:stretch>
        </p:blipFill>
        <p:spPr bwMode="auto">
          <a:xfrm>
            <a:off x="6467475" y="393700"/>
            <a:ext cx="4568825" cy="6007100"/>
          </a:xfrm>
          <a:prstGeom prst="rect">
            <a:avLst/>
          </a:prstGeom>
          <a:noFill/>
          <a:ln w="9525">
            <a:noFill/>
            <a:miter lim="800000"/>
            <a:headEnd/>
            <a:tailEnd/>
          </a:ln>
        </p:spPr>
      </p:pic>
      <p:sp>
        <p:nvSpPr>
          <p:cNvPr id="2" name="Title 1"/>
          <p:cNvSpPr>
            <a:spLocks noGrp="1"/>
          </p:cNvSpPr>
          <p:nvPr>
            <p:ph type="title"/>
          </p:nvPr>
        </p:nvSpPr>
        <p:spPr>
          <a:xfrm>
            <a:off x="531812" y="406400"/>
            <a:ext cx="5852160" cy="889000"/>
          </a:xfrm>
        </p:spPr>
        <p:txBody>
          <a:bodyPr>
            <a:noAutofit/>
          </a:bodyPr>
          <a:lstStyle>
            <a:lvl1pPr algn="l">
              <a:defRPr sz="3600" b="0"/>
            </a:lvl1pPr>
          </a:lstStyle>
          <a:p>
            <a:r>
              <a:rPr lang="en-US"/>
              <a:t>Click to edit Master title style</a:t>
            </a:r>
            <a:endParaRPr dirty="0"/>
          </a:p>
        </p:txBody>
      </p:sp>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rtlCol="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rtlCol="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7" name="Date Placeholder 4"/>
          <p:cNvSpPr>
            <a:spLocks noGrp="1"/>
          </p:cNvSpPr>
          <p:nvPr>
            <p:ph type="dt" sz="half" idx="14"/>
          </p:nvPr>
        </p:nvSpPr>
        <p:spPr/>
        <p:txBody>
          <a:bodyPr/>
          <a:lstStyle>
            <a:lvl1pPr>
              <a:defRPr/>
            </a:lvl1pPr>
          </a:lstStyle>
          <a:p>
            <a:r>
              <a:rPr lang="en-US"/>
              <a:t>May 27, 2023</a:t>
            </a:r>
          </a:p>
        </p:txBody>
      </p:sp>
      <p:sp>
        <p:nvSpPr>
          <p:cNvPr id="8" name="Footer Placeholder 5"/>
          <p:cNvSpPr>
            <a:spLocks noGrp="1"/>
          </p:cNvSpPr>
          <p:nvPr>
            <p:ph type="ftr" sz="quarter" idx="15"/>
          </p:nvPr>
        </p:nvSpPr>
        <p:spPr/>
        <p:txBody>
          <a:bodyPr/>
          <a:lstStyle>
            <a:lvl1pPr>
              <a:defRPr/>
            </a:lvl1pPr>
          </a:lstStyle>
          <a:p>
            <a:pPr>
              <a:defRPr/>
            </a:pPr>
            <a:r>
              <a:rPr lang="en-US"/>
              <a:t>MArburg - Turning Points</a:t>
            </a:r>
            <a:endParaRPr/>
          </a:p>
        </p:txBody>
      </p:sp>
      <p:sp>
        <p:nvSpPr>
          <p:cNvPr id="10" name="Slide Number Placeholder 6"/>
          <p:cNvSpPr>
            <a:spLocks noGrp="1"/>
          </p:cNvSpPr>
          <p:nvPr>
            <p:ph type="sldNum" sz="quarter" idx="16"/>
          </p:nvPr>
        </p:nvSpPr>
        <p:spPr/>
        <p:txBody>
          <a:bodyPr/>
          <a:lstStyle>
            <a:lvl1pPr>
              <a:defRPr/>
            </a:lvl1pPr>
          </a:lstStyle>
          <a:p>
            <a:fld id="{7FFA305D-F3D8-4307-BDBC-3B72BDB99BA8}" type="slidenum">
              <a:rPr lang="en-US"/>
              <a:pPr/>
              <a:t>‹#›</a:t>
            </a:fld>
            <a:endParaRPr lang="en-US"/>
          </a:p>
        </p:txBody>
      </p:sp>
    </p:spTree>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pic>
        <p:nvPicPr>
          <p:cNvPr id="5" name="Picture 13"/>
          <p:cNvPicPr>
            <a:picLocks noChangeAspect="1"/>
          </p:cNvPicPr>
          <p:nvPr userDrawn="1"/>
        </p:nvPicPr>
        <p:blipFill>
          <a:blip r:embed="rId2" cstate="print"/>
          <a:srcRect/>
          <a:stretch>
            <a:fillRect/>
          </a:stretch>
        </p:blipFill>
        <p:spPr bwMode="auto">
          <a:xfrm>
            <a:off x="4257675" y="1584325"/>
            <a:ext cx="5829300" cy="4110038"/>
          </a:xfrm>
          <a:prstGeom prst="rect">
            <a:avLst/>
          </a:prstGeom>
          <a:noFill/>
          <a:ln w="9525">
            <a:noFill/>
            <a:miter lim="800000"/>
            <a:headEnd/>
            <a:tailEnd/>
          </a:ln>
        </p:spPr>
      </p:pic>
      <p:pic>
        <p:nvPicPr>
          <p:cNvPr id="6" name="Picture 15"/>
          <p:cNvPicPr>
            <a:picLocks noChangeAspect="1"/>
          </p:cNvPicPr>
          <p:nvPr userDrawn="1"/>
        </p:nvPicPr>
        <p:blipFill>
          <a:blip r:embed="rId3" cstate="print"/>
          <a:srcRect/>
          <a:stretch>
            <a:fillRect/>
          </a:stretch>
        </p:blipFill>
        <p:spPr bwMode="auto">
          <a:xfrm>
            <a:off x="1760538" y="1981200"/>
            <a:ext cx="1878012" cy="3635375"/>
          </a:xfrm>
          <a:prstGeom prst="rect">
            <a:avLst/>
          </a:prstGeom>
          <a:noFill/>
          <a:ln w="9525">
            <a:noFill/>
            <a:miter lim="800000"/>
            <a:headEnd/>
            <a:tailEnd/>
          </a:ln>
        </p:spPr>
      </p:pic>
      <p:sp>
        <p:nvSpPr>
          <p:cNvPr id="4" name="Title 3"/>
          <p:cNvSpPr>
            <a:spLocks noGrp="1"/>
          </p:cNvSpPr>
          <p:nvPr>
            <p:ph type="title"/>
          </p:nvPr>
        </p:nvSpPr>
        <p:spPr/>
        <p:txBody>
          <a:bodyPr/>
          <a:lstStyle/>
          <a:p>
            <a:r>
              <a:rPr lang="en-US"/>
              <a:t>Click to edit Master title style</a:t>
            </a:r>
            <a:endParaRPr dirty="0"/>
          </a:p>
        </p:txBody>
      </p:sp>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rtlCol="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rtlCol="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7" name="Date Placeholder 4"/>
          <p:cNvSpPr>
            <a:spLocks noGrp="1"/>
          </p:cNvSpPr>
          <p:nvPr>
            <p:ph type="dt" sz="half" idx="14"/>
          </p:nvPr>
        </p:nvSpPr>
        <p:spPr/>
        <p:txBody>
          <a:bodyPr/>
          <a:lstStyle>
            <a:lvl1pPr>
              <a:defRPr/>
            </a:lvl1pPr>
          </a:lstStyle>
          <a:p>
            <a:r>
              <a:rPr lang="en-US"/>
              <a:t>May 27, 2023</a:t>
            </a:r>
          </a:p>
        </p:txBody>
      </p:sp>
      <p:sp>
        <p:nvSpPr>
          <p:cNvPr id="8" name="Footer Placeholder 5"/>
          <p:cNvSpPr>
            <a:spLocks noGrp="1"/>
          </p:cNvSpPr>
          <p:nvPr>
            <p:ph type="ftr" sz="quarter" idx="15"/>
          </p:nvPr>
        </p:nvSpPr>
        <p:spPr/>
        <p:txBody>
          <a:bodyPr/>
          <a:lstStyle>
            <a:lvl1pPr>
              <a:defRPr/>
            </a:lvl1pPr>
          </a:lstStyle>
          <a:p>
            <a:pPr>
              <a:defRPr/>
            </a:pPr>
            <a:r>
              <a:rPr lang="en-US"/>
              <a:t>MArburg - Turning Points</a:t>
            </a:r>
            <a:endParaRPr/>
          </a:p>
        </p:txBody>
      </p:sp>
      <p:sp>
        <p:nvSpPr>
          <p:cNvPr id="9" name="Slide Number Placeholder 6"/>
          <p:cNvSpPr>
            <a:spLocks noGrp="1"/>
          </p:cNvSpPr>
          <p:nvPr>
            <p:ph type="sldNum" sz="quarter" idx="16"/>
          </p:nvPr>
        </p:nvSpPr>
        <p:spPr/>
        <p:txBody>
          <a:bodyPr/>
          <a:lstStyle>
            <a:lvl1pPr>
              <a:defRPr/>
            </a:lvl1pPr>
          </a:lstStyle>
          <a:p>
            <a:fld id="{6E321B31-7E57-4DEF-97C0-F85FAECA979A}" type="slidenum">
              <a:rPr lang="en-US"/>
              <a:pPr/>
              <a:t>‹#›</a:t>
            </a:fld>
            <a:endParaRPr lang="en-US"/>
          </a:p>
        </p:txBody>
      </p:sp>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pic>
        <p:nvPicPr>
          <p:cNvPr id="5" name="Picture 13"/>
          <p:cNvPicPr>
            <a:picLocks noChangeAspect="1"/>
          </p:cNvPicPr>
          <p:nvPr userDrawn="1"/>
        </p:nvPicPr>
        <p:blipFill>
          <a:blip r:embed="rId2" cstate="print"/>
          <a:srcRect b="3674"/>
          <a:stretch>
            <a:fillRect/>
          </a:stretch>
        </p:blipFill>
        <p:spPr bwMode="auto">
          <a:xfrm>
            <a:off x="6589713" y="463550"/>
            <a:ext cx="4344987" cy="5935663"/>
          </a:xfrm>
          <a:prstGeom prst="rect">
            <a:avLst/>
          </a:prstGeom>
          <a:noFill/>
          <a:ln w="9525">
            <a:noFill/>
            <a:miter lim="800000"/>
            <a:headEnd/>
            <a:tailEnd/>
          </a:ln>
        </p:spPr>
      </p:pic>
      <p:pic>
        <p:nvPicPr>
          <p:cNvPr id="6" name="Picture 15"/>
          <p:cNvPicPr>
            <a:picLocks noChangeAspect="1"/>
          </p:cNvPicPr>
          <p:nvPr userDrawn="1"/>
        </p:nvPicPr>
        <p:blipFill>
          <a:blip r:embed="rId3" cstate="print"/>
          <a:srcRect/>
          <a:stretch>
            <a:fillRect/>
          </a:stretch>
        </p:blipFill>
        <p:spPr bwMode="auto">
          <a:xfrm>
            <a:off x="3960813" y="2019300"/>
            <a:ext cx="1878012" cy="3635375"/>
          </a:xfrm>
          <a:prstGeom prst="rect">
            <a:avLst/>
          </a:prstGeom>
          <a:noFill/>
          <a:ln w="9525">
            <a:noFill/>
            <a:miter lim="800000"/>
            <a:headEnd/>
            <a:tailEnd/>
          </a:ln>
        </p:spPr>
      </p:pic>
      <p:sp>
        <p:nvSpPr>
          <p:cNvPr id="2" name="Title 1"/>
          <p:cNvSpPr>
            <a:spLocks noGrp="1"/>
          </p:cNvSpPr>
          <p:nvPr>
            <p:ph type="title"/>
          </p:nvPr>
        </p:nvSpPr>
        <p:spPr>
          <a:xfrm>
            <a:off x="531811" y="406400"/>
            <a:ext cx="5852160" cy="889000"/>
          </a:xfrm>
        </p:spPr>
        <p:txBody>
          <a:bodyPr>
            <a:noAutofit/>
          </a:bodyPr>
          <a:lstStyle>
            <a:lvl1pPr algn="l">
              <a:defRPr sz="3600" b="0"/>
            </a:lvl1pPr>
          </a:lstStyle>
          <a:p>
            <a:r>
              <a:rPr lang="en-US"/>
              <a:t>Click to edit Master title style</a:t>
            </a:r>
            <a:endParaRPr dirty="0"/>
          </a:p>
        </p:txBody>
      </p:sp>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rtlCol="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rtlCol="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7" name="Date Placeholder 4"/>
          <p:cNvSpPr>
            <a:spLocks noGrp="1"/>
          </p:cNvSpPr>
          <p:nvPr>
            <p:ph type="dt" sz="half" idx="15"/>
          </p:nvPr>
        </p:nvSpPr>
        <p:spPr/>
        <p:txBody>
          <a:bodyPr/>
          <a:lstStyle>
            <a:lvl1pPr>
              <a:defRPr/>
            </a:lvl1pPr>
          </a:lstStyle>
          <a:p>
            <a:r>
              <a:rPr lang="en-US"/>
              <a:t>May 27, 2023</a:t>
            </a:r>
          </a:p>
        </p:txBody>
      </p:sp>
      <p:sp>
        <p:nvSpPr>
          <p:cNvPr id="8" name="Footer Placeholder 5"/>
          <p:cNvSpPr>
            <a:spLocks noGrp="1"/>
          </p:cNvSpPr>
          <p:nvPr>
            <p:ph type="ftr" sz="quarter" idx="16"/>
          </p:nvPr>
        </p:nvSpPr>
        <p:spPr/>
        <p:txBody>
          <a:bodyPr/>
          <a:lstStyle>
            <a:lvl1pPr>
              <a:defRPr/>
            </a:lvl1pPr>
          </a:lstStyle>
          <a:p>
            <a:pPr>
              <a:defRPr/>
            </a:pPr>
            <a:r>
              <a:rPr lang="en-US"/>
              <a:t>MArburg - Turning Points</a:t>
            </a:r>
            <a:endParaRPr/>
          </a:p>
        </p:txBody>
      </p:sp>
      <p:sp>
        <p:nvSpPr>
          <p:cNvPr id="9" name="Slide Number Placeholder 6"/>
          <p:cNvSpPr>
            <a:spLocks noGrp="1"/>
          </p:cNvSpPr>
          <p:nvPr>
            <p:ph type="sldNum" sz="quarter" idx="17"/>
          </p:nvPr>
        </p:nvSpPr>
        <p:spPr/>
        <p:txBody>
          <a:bodyPr/>
          <a:lstStyle>
            <a:lvl1pPr>
              <a:defRPr/>
            </a:lvl1pPr>
          </a:lstStyle>
          <a:p>
            <a:fld id="{5883EF90-6A37-4224-8B99-823DD0D50924}" type="slidenum">
              <a:rPr lang="en-US"/>
              <a:pPr/>
              <a:t>‹#›</a:t>
            </a:fld>
            <a:endParaRPr lang="en-US"/>
          </a:p>
        </p:txBody>
      </p:sp>
    </p:spTree>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cs typeface="Arial" charset="0"/>
            </a:endParaRPr>
          </a:p>
        </p:txBody>
      </p:sp>
      <p:grpSp>
        <p:nvGrpSpPr>
          <p:cNvPr id="5" name="Group 15"/>
          <p:cNvGrpSpPr>
            <a:grpSpLocks/>
          </p:cNvGrpSpPr>
          <p:nvPr/>
        </p:nvGrpSpPr>
        <p:grpSpPr bwMode="auto">
          <a:xfrm>
            <a:off x="0" y="0"/>
            <a:ext cx="12188825" cy="6858000"/>
            <a:chOff x="-287" y="0"/>
            <a:chExt cx="12189399" cy="6858000"/>
          </a:xfrm>
        </p:grpSpPr>
        <p:sp>
          <p:nvSpPr>
            <p:cNvPr id="6" name="Rectangle 5"/>
            <p:cNvSpPr/>
            <p:nvPr/>
          </p:nvSpPr>
          <p:spPr bwMode="gray">
            <a:xfrm>
              <a:off x="-287" y="0"/>
              <a:ext cx="193684" cy="685165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7" name="Rectangle 6"/>
            <p:cNvSpPr/>
            <p:nvPr/>
          </p:nvSpPr>
          <p:spPr bwMode="gray">
            <a:xfrm>
              <a:off x="11995428" y="6350"/>
              <a:ext cx="193684" cy="685165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8" name="Rectangle 7"/>
            <p:cNvSpPr/>
            <p:nvPr/>
          </p:nvSpPr>
          <p:spPr bwMode="gray">
            <a:xfrm>
              <a:off x="-287" y="6400800"/>
              <a:ext cx="12189399"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9" name="Rectangle 8"/>
            <p:cNvSpPr/>
            <p:nvPr/>
          </p:nvSpPr>
          <p:spPr bwMode="gray">
            <a:xfrm>
              <a:off x="-287" y="0"/>
              <a:ext cx="12189399" cy="192088"/>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grpSp>
      <p:sp>
        <p:nvSpPr>
          <p:cNvPr id="10" name="TextBox 9"/>
          <p:cNvSpPr txBox="1"/>
          <p:nvPr/>
        </p:nvSpPr>
        <p:spPr>
          <a:xfrm>
            <a:off x="5989638" y="6556375"/>
            <a:ext cx="2787650" cy="182563"/>
          </a:xfrm>
          <a:prstGeom prst="rect">
            <a:avLst/>
          </a:prstGeom>
          <a:noFill/>
        </p:spPr>
        <p:txBody>
          <a:bodyPr wrap="none" lIns="0" tIns="0" rIns="0" bIns="0" anchor="ctr"/>
          <a:lstStyle/>
          <a:p>
            <a:pPr fontAlgn="auto">
              <a:spcBef>
                <a:spcPts val="0"/>
              </a:spcBef>
              <a:spcAft>
                <a:spcPts val="0"/>
              </a:spcAft>
              <a:defRPr/>
            </a:pPr>
            <a:r>
              <a:rPr sz="800" dirty="0">
                <a:solidFill>
                  <a:schemeClr val="bg1">
                    <a:lumMod val="60000"/>
                    <a:lumOff val="40000"/>
                  </a:schemeClr>
                </a:solidFill>
                <a:latin typeface="+mn-lt"/>
                <a:cs typeface="+mn-cs"/>
              </a:rPr>
              <a:t>Copyright © 2014 Oracle and/or its affiliates. All rights reserved.  |</a:t>
            </a:r>
          </a:p>
        </p:txBody>
      </p:sp>
      <p:pic>
        <p:nvPicPr>
          <p:cNvPr id="11" name="Oracle red badge logo" descr="Oracle logo in white on red staging background"/>
          <p:cNvPicPr>
            <a:picLocks noChangeAspect="1"/>
          </p:cNvPicPr>
          <p:nvPr userDrawn="1"/>
        </p:nvPicPr>
        <p:blipFill>
          <a:blip r:embed="rId4" cstate="print"/>
          <a:srcRect/>
          <a:stretch>
            <a:fillRect/>
          </a:stretch>
        </p:blipFill>
        <p:spPr bwMode="ltGray">
          <a:xfrm>
            <a:off x="531813" y="6264275"/>
            <a:ext cx="1622425" cy="593725"/>
          </a:xfrm>
          <a:prstGeom prst="rect">
            <a:avLst/>
          </a:prstGeom>
          <a:noFill/>
          <a:ln w="9525">
            <a:noFill/>
            <a:miter lim="800000"/>
            <a:headEnd/>
            <a:tailEnd/>
          </a:ln>
        </p:spPr>
      </p:pic>
      <p:sp>
        <p:nvSpPr>
          <p:cNvPr id="3" name="Title 2"/>
          <p:cNvSpPr>
            <a:spLocks noGrp="1"/>
          </p:cNvSpPr>
          <p:nvPr>
            <p:ph type="title"/>
          </p:nvPr>
        </p:nvSpPr>
        <p:spPr>
          <a:xfrm>
            <a:off x="760412" y="609600"/>
            <a:ext cx="4572000" cy="2044700"/>
          </a:xfrm>
        </p:spPr>
        <p:txBody>
          <a:bodyPr/>
          <a:lstStyle>
            <a:lvl1pPr>
              <a:defRPr sz="13800" b="1"/>
            </a:lvl1pPr>
          </a:lstStyle>
          <a:p>
            <a:r>
              <a:rPr lang="en-US"/>
              <a:t>Click to edit Master title style</a:t>
            </a:r>
            <a:endParaRPr lang="en-US" dirty="0"/>
          </a:p>
        </p:txBody>
      </p:sp>
      <p:sp>
        <p:nvSpPr>
          <p:cNvPr id="22" name="Text Placeholder 12"/>
          <p:cNvSpPr>
            <a:spLocks noGrp="1"/>
          </p:cNvSpPr>
          <p:nvPr>
            <p:ph type="body" sz="quarter" idx="13"/>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lang="en-US"/>
              <a:t>Click to edit Master text styles</a:t>
            </a:r>
          </a:p>
        </p:txBody>
      </p:sp>
      <p:sp>
        <p:nvSpPr>
          <p:cNvPr id="12" name="Date Placeholder 4"/>
          <p:cNvSpPr>
            <a:spLocks noGrp="1"/>
          </p:cNvSpPr>
          <p:nvPr>
            <p:ph type="dt" sz="half" idx="14"/>
          </p:nvPr>
        </p:nvSpPr>
        <p:spPr/>
        <p:txBody>
          <a:bodyPr/>
          <a:lstStyle>
            <a:lvl1pPr>
              <a:defRPr/>
            </a:lvl1pPr>
          </a:lstStyle>
          <a:p>
            <a:r>
              <a:rPr lang="en-US"/>
              <a:t>May 27, 2023</a:t>
            </a:r>
          </a:p>
        </p:txBody>
      </p:sp>
      <p:sp>
        <p:nvSpPr>
          <p:cNvPr id="13" name="Footer Placeholder 5"/>
          <p:cNvSpPr>
            <a:spLocks noGrp="1"/>
          </p:cNvSpPr>
          <p:nvPr>
            <p:ph type="ftr" sz="quarter" idx="15"/>
          </p:nvPr>
        </p:nvSpPr>
        <p:spPr/>
        <p:txBody>
          <a:bodyPr/>
          <a:lstStyle>
            <a:lvl1pPr>
              <a:defRPr>
                <a:solidFill>
                  <a:schemeClr val="bg1">
                    <a:lumMod val="60000"/>
                    <a:lumOff val="40000"/>
                  </a:schemeClr>
                </a:solidFill>
              </a:defRPr>
            </a:lvl1pPr>
          </a:lstStyle>
          <a:p>
            <a:pPr>
              <a:defRPr/>
            </a:pPr>
            <a:r>
              <a:rPr lang="en-US"/>
              <a:t>MArburg - Turning Points</a:t>
            </a:r>
            <a:endParaRPr/>
          </a:p>
        </p:txBody>
      </p:sp>
      <p:sp>
        <p:nvSpPr>
          <p:cNvPr id="14" name="Slide Number Placeholder 6"/>
          <p:cNvSpPr>
            <a:spLocks noGrp="1"/>
          </p:cNvSpPr>
          <p:nvPr>
            <p:ph type="sldNum" sz="quarter" idx="16"/>
          </p:nvPr>
        </p:nvSpPr>
        <p:spPr/>
        <p:txBody>
          <a:bodyPr/>
          <a:lstStyle>
            <a:lvl1pPr>
              <a:defRPr/>
            </a:lvl1pPr>
          </a:lstStyle>
          <a:p>
            <a:fld id="{D6C1E49E-BCEC-4237-BD7C-71B0CEE36D19}"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2" name="TextBox 1"/>
          <p:cNvSpPr txBox="1"/>
          <p:nvPr/>
        </p:nvSpPr>
        <p:spPr>
          <a:xfrm>
            <a:off x="531813" y="1371600"/>
            <a:ext cx="11125200" cy="889000"/>
          </a:xfrm>
          <a:prstGeom prst="rect">
            <a:avLst/>
          </a:prstGeom>
          <a:noFill/>
        </p:spPr>
        <p:txBody>
          <a:bodyPr wrap="none" lIns="0" tIns="0" rIns="0" bIns="0" anchor="b"/>
          <a:lstStyle/>
          <a:p>
            <a:pPr fontAlgn="auto">
              <a:lnSpc>
                <a:spcPct val="90000"/>
              </a:lnSpc>
              <a:spcBef>
                <a:spcPts val="0"/>
              </a:spcBef>
              <a:spcAft>
                <a:spcPts val="0"/>
              </a:spcAft>
              <a:defRPr/>
            </a:pPr>
            <a:r>
              <a:rPr sz="3200" dirty="0">
                <a:latin typeface="+mj-lt"/>
                <a:cs typeface="+mn-cs"/>
              </a:rPr>
              <a:t>Safe Harbor Statement</a:t>
            </a:r>
          </a:p>
        </p:txBody>
      </p:sp>
      <p:sp>
        <p:nvSpPr>
          <p:cNvPr id="3" name="TextBox 2"/>
          <p:cNvSpPr txBox="1"/>
          <p:nvPr/>
        </p:nvSpPr>
        <p:spPr>
          <a:xfrm>
            <a:off x="531813" y="2514600"/>
            <a:ext cx="11125200" cy="2286000"/>
          </a:xfrm>
          <a:prstGeom prst="rect">
            <a:avLst/>
          </a:prstGeom>
          <a:noFill/>
        </p:spPr>
        <p:txBody>
          <a:bodyPr lIns="0" tIns="0" rIns="0" bIns="0"/>
          <a:lstStyle/>
          <a:p>
            <a:pPr fontAlgn="auto">
              <a:lnSpc>
                <a:spcPct val="90000"/>
              </a:lnSpc>
              <a:spcBef>
                <a:spcPts val="0"/>
              </a:spcBef>
              <a:spcAft>
                <a:spcPts val="0"/>
              </a:spcAft>
              <a:defRPr/>
            </a:pPr>
            <a:r>
              <a:rPr sz="2400" dirty="0">
                <a:latin typeface="+mn-lt"/>
                <a:cs typeface="+mn-cs"/>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4" name="Date Placeholder 1"/>
          <p:cNvSpPr>
            <a:spLocks noGrp="1"/>
          </p:cNvSpPr>
          <p:nvPr>
            <p:ph type="dt" sz="half" idx="10"/>
          </p:nvPr>
        </p:nvSpPr>
        <p:spPr/>
        <p:txBody>
          <a:bodyPr>
            <a:noAutofit/>
          </a:bodyPr>
          <a:lstStyle>
            <a:lvl1pPr>
              <a:defRPr/>
            </a:lvl1pPr>
          </a:lstStyle>
          <a:p>
            <a:r>
              <a:rPr lang="en-US"/>
              <a:t>May 27, 2023</a:t>
            </a:r>
          </a:p>
        </p:txBody>
      </p:sp>
      <p:sp>
        <p:nvSpPr>
          <p:cNvPr id="5" name="Footer Placeholder 2"/>
          <p:cNvSpPr>
            <a:spLocks noGrp="1"/>
          </p:cNvSpPr>
          <p:nvPr>
            <p:ph type="ftr" sz="quarter" idx="11"/>
          </p:nvPr>
        </p:nvSpPr>
        <p:spPr/>
        <p:txBody>
          <a:bodyPr>
            <a:noAutofit/>
          </a:bodyPr>
          <a:lstStyle>
            <a:lvl1pPr>
              <a:defRPr/>
            </a:lvl1pPr>
          </a:lstStyle>
          <a:p>
            <a:pPr>
              <a:defRPr/>
            </a:pPr>
            <a:r>
              <a:rPr lang="en-US"/>
              <a:t>MArburg - Turning Points</a:t>
            </a:r>
            <a:endParaRPr/>
          </a:p>
        </p:txBody>
      </p:sp>
      <p:sp>
        <p:nvSpPr>
          <p:cNvPr id="6" name="Slide Number Placeholder 3"/>
          <p:cNvSpPr>
            <a:spLocks noGrp="1"/>
          </p:cNvSpPr>
          <p:nvPr>
            <p:ph type="sldNum" sz="quarter" idx="12"/>
          </p:nvPr>
        </p:nvSpPr>
        <p:spPr/>
        <p:txBody>
          <a:bodyPr>
            <a:noAutofit/>
          </a:bodyPr>
          <a:lstStyle>
            <a:lvl1pPr>
              <a:defRPr/>
            </a:lvl1pPr>
          </a:lstStyle>
          <a:p>
            <a:fld id="{6AF88A25-DE5F-44E1-B90B-B62ADF8BDC68}" type="slidenum">
              <a:rPr lang="en-US"/>
              <a:pPr/>
              <a:t>‹#›</a:t>
            </a:fld>
            <a:endParaRPr lang="en-US"/>
          </a:p>
        </p:txBody>
      </p:sp>
    </p:spTree>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2" name="TextBox 1"/>
          <p:cNvSpPr txBox="1"/>
          <p:nvPr/>
        </p:nvSpPr>
        <p:spPr>
          <a:xfrm>
            <a:off x="531813" y="1371600"/>
            <a:ext cx="11125200" cy="889000"/>
          </a:xfrm>
          <a:prstGeom prst="rect">
            <a:avLst/>
          </a:prstGeom>
          <a:noFill/>
        </p:spPr>
        <p:txBody>
          <a:bodyPr wrap="none" lIns="0" tIns="0" rIns="0" bIns="0" anchor="b"/>
          <a:lstStyle/>
          <a:p>
            <a:pPr fontAlgn="auto">
              <a:lnSpc>
                <a:spcPct val="90000"/>
              </a:lnSpc>
              <a:spcBef>
                <a:spcPts val="0"/>
              </a:spcBef>
              <a:spcAft>
                <a:spcPts val="0"/>
              </a:spcAft>
              <a:defRPr/>
            </a:pPr>
            <a:r>
              <a:rPr sz="3200" dirty="0">
                <a:latin typeface="+mj-lt"/>
                <a:cs typeface="+mn-cs"/>
              </a:rPr>
              <a:t>Safe Harbor Statement</a:t>
            </a:r>
          </a:p>
        </p:txBody>
      </p:sp>
      <p:sp>
        <p:nvSpPr>
          <p:cNvPr id="3" name="TextBox 2"/>
          <p:cNvSpPr txBox="1"/>
          <p:nvPr/>
        </p:nvSpPr>
        <p:spPr>
          <a:xfrm>
            <a:off x="531813" y="2514600"/>
            <a:ext cx="11125200" cy="2286000"/>
          </a:xfrm>
          <a:prstGeom prst="rect">
            <a:avLst/>
          </a:prstGeom>
          <a:noFill/>
        </p:spPr>
        <p:txBody>
          <a:bodyPr lIns="0" tIns="0" rIns="0" bIns="0"/>
          <a:lstStyle/>
          <a:p>
            <a:pPr fontAlgn="auto">
              <a:lnSpc>
                <a:spcPct val="90000"/>
              </a:lnSpc>
              <a:spcBef>
                <a:spcPts val="0"/>
              </a:spcBef>
              <a:spcAft>
                <a:spcPts val="0"/>
              </a:spcAft>
              <a:defRPr/>
            </a:pPr>
            <a:r>
              <a:rPr sz="2400" dirty="0">
                <a:latin typeface="+mn-lt"/>
                <a:cs typeface="+mn-cs"/>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4" name="Date Placeholder 1"/>
          <p:cNvSpPr>
            <a:spLocks noGrp="1"/>
          </p:cNvSpPr>
          <p:nvPr>
            <p:ph type="dt" sz="half" idx="10"/>
          </p:nvPr>
        </p:nvSpPr>
        <p:spPr/>
        <p:txBody>
          <a:bodyPr>
            <a:noAutofit/>
          </a:bodyPr>
          <a:lstStyle>
            <a:lvl1pPr>
              <a:defRPr/>
            </a:lvl1pPr>
          </a:lstStyle>
          <a:p>
            <a:r>
              <a:rPr lang="en-US"/>
              <a:t>May 27, 2023</a:t>
            </a:r>
          </a:p>
        </p:txBody>
      </p:sp>
      <p:sp>
        <p:nvSpPr>
          <p:cNvPr id="5" name="Footer Placeholder 2"/>
          <p:cNvSpPr>
            <a:spLocks noGrp="1"/>
          </p:cNvSpPr>
          <p:nvPr>
            <p:ph type="ftr" sz="quarter" idx="11"/>
          </p:nvPr>
        </p:nvSpPr>
        <p:spPr/>
        <p:txBody>
          <a:bodyPr>
            <a:noAutofit/>
          </a:bodyPr>
          <a:lstStyle>
            <a:lvl1pPr>
              <a:defRPr/>
            </a:lvl1pPr>
          </a:lstStyle>
          <a:p>
            <a:pPr>
              <a:defRPr/>
            </a:pPr>
            <a:r>
              <a:rPr lang="en-US"/>
              <a:t>MArburg - Turning Points</a:t>
            </a:r>
            <a:endParaRPr/>
          </a:p>
        </p:txBody>
      </p:sp>
      <p:sp>
        <p:nvSpPr>
          <p:cNvPr id="6" name="Slide Number Placeholder 3"/>
          <p:cNvSpPr>
            <a:spLocks noGrp="1"/>
          </p:cNvSpPr>
          <p:nvPr>
            <p:ph type="sldNum" sz="quarter" idx="12"/>
          </p:nvPr>
        </p:nvSpPr>
        <p:spPr/>
        <p:txBody>
          <a:bodyPr>
            <a:noAutofit/>
          </a:bodyPr>
          <a:lstStyle>
            <a:lvl1pPr>
              <a:defRPr/>
            </a:lvl1pPr>
          </a:lstStyle>
          <a:p>
            <a:fld id="{8B58D4FF-E2E5-4392-A998-33F110F000EB}" type="slidenum">
              <a:rPr lang="en-US"/>
              <a:pPr/>
              <a:t>‹#›</a:t>
            </a:fld>
            <a:endParaRPr lang="en-US"/>
          </a:p>
        </p:txBody>
      </p:sp>
    </p:spTree>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pic>
        <p:nvPicPr>
          <p:cNvPr id="2" name="Picture 13" descr="&quot;Hardware and Software Engineered to work together&quot; tagline in red and black"/>
          <p:cNvPicPr>
            <a:picLocks noChangeAspect="1"/>
          </p:cNvPicPr>
          <p:nvPr userDrawn="1"/>
        </p:nvPicPr>
        <p:blipFill>
          <a:blip r:embed="rId2" cstate="print"/>
          <a:srcRect/>
          <a:stretch>
            <a:fillRect/>
          </a:stretch>
        </p:blipFill>
        <p:spPr bwMode="auto">
          <a:xfrm>
            <a:off x="2820988" y="2312988"/>
            <a:ext cx="6546850" cy="1833562"/>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r>
              <a:rPr lang="en-US"/>
              <a:t>May 27, 2023</a:t>
            </a:r>
          </a:p>
        </p:txBody>
      </p:sp>
      <p:sp>
        <p:nvSpPr>
          <p:cNvPr id="4" name="Footer Placeholder 2"/>
          <p:cNvSpPr>
            <a:spLocks noGrp="1"/>
          </p:cNvSpPr>
          <p:nvPr>
            <p:ph type="ftr" sz="quarter" idx="11"/>
          </p:nvPr>
        </p:nvSpPr>
        <p:spPr/>
        <p:txBody>
          <a:bodyPr/>
          <a:lstStyle>
            <a:lvl1pPr>
              <a:defRPr/>
            </a:lvl1pPr>
          </a:lstStyle>
          <a:p>
            <a:pPr>
              <a:defRPr/>
            </a:pPr>
            <a:r>
              <a:rPr lang="en-US"/>
              <a:t>MArburg - Turning Points</a:t>
            </a:r>
            <a:endParaRPr/>
          </a:p>
        </p:txBody>
      </p:sp>
      <p:sp>
        <p:nvSpPr>
          <p:cNvPr id="5" name="Slide Number Placeholder 3"/>
          <p:cNvSpPr>
            <a:spLocks noGrp="1"/>
          </p:cNvSpPr>
          <p:nvPr>
            <p:ph type="sldNum" sz="quarter" idx="12"/>
          </p:nvPr>
        </p:nvSpPr>
        <p:spPr/>
        <p:txBody>
          <a:bodyPr/>
          <a:lstStyle>
            <a:lvl1pPr>
              <a:defRPr/>
            </a:lvl1pPr>
          </a:lstStyle>
          <a:p>
            <a:fld id="{B329F504-7360-4FE4-AB81-FD9E9FC5A8AE}" type="slidenum">
              <a:rPr lang="en-US"/>
              <a:pPr/>
              <a:t>‹#›</a:t>
            </a:fld>
            <a:endParaRPr lang="en-US"/>
          </a:p>
        </p:txBody>
      </p:sp>
    </p:spTree>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3" descr="Oracle logo in white on red staging background. Light blue frame around perimeter."/>
          <p:cNvPicPr>
            <a:picLocks noChangeAspect="1"/>
          </p:cNvPicPr>
          <p:nvPr/>
        </p:nvPicPr>
        <p:blipFill>
          <a:blip r:embed="rId2" cstate="print"/>
          <a:srcRect/>
          <a:stretch>
            <a:fillRect/>
          </a:stretch>
        </p:blipFill>
        <p:spPr bwMode="hidden">
          <a:xfrm>
            <a:off x="138113" y="130175"/>
            <a:ext cx="11912600" cy="6546850"/>
          </a:xfrm>
          <a:prstGeom prst="rect">
            <a:avLst/>
          </a:prstGeom>
          <a:noFill/>
          <a:ln w="9525">
            <a:noFill/>
            <a:miter lim="800000"/>
            <a:headEnd/>
            <a:tailEnd/>
          </a:ln>
        </p:spPr>
      </p:pic>
      <p:grpSp>
        <p:nvGrpSpPr>
          <p:cNvPr id="3" name="Group 15"/>
          <p:cNvGrpSpPr>
            <a:grpSpLocks/>
          </p:cNvGrpSpPr>
          <p:nvPr userDrawn="1"/>
        </p:nvGrpSpPr>
        <p:grpSpPr bwMode="auto">
          <a:xfrm>
            <a:off x="0" y="0"/>
            <a:ext cx="12188825" cy="6858000"/>
            <a:chOff x="-287" y="0"/>
            <a:chExt cx="12189399" cy="6858000"/>
          </a:xfrm>
        </p:grpSpPr>
        <p:sp>
          <p:nvSpPr>
            <p:cNvPr id="4" name="Rectangle 3"/>
            <p:cNvSpPr/>
            <p:nvPr/>
          </p:nvSpPr>
          <p:spPr bwMode="gray">
            <a:xfrm>
              <a:off x="-287" y="0"/>
              <a:ext cx="193684" cy="68516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5" name="Rectangle 4"/>
            <p:cNvSpPr/>
            <p:nvPr/>
          </p:nvSpPr>
          <p:spPr bwMode="gray">
            <a:xfrm>
              <a:off x="11995428" y="6350"/>
              <a:ext cx="193684" cy="68516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6" name="Rectangle 5"/>
            <p:cNvSpPr/>
            <p:nvPr/>
          </p:nvSpPr>
          <p:spPr bwMode="gray">
            <a:xfrm>
              <a:off x="-287" y="6400800"/>
              <a:ext cx="12189399"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7" name="Rectangle 6"/>
            <p:cNvSpPr/>
            <p:nvPr/>
          </p:nvSpPr>
          <p:spPr bwMode="gray">
            <a:xfrm>
              <a:off x="-287" y="0"/>
              <a:ext cx="12189399" cy="1920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grpSp>
      <p:pic>
        <p:nvPicPr>
          <p:cNvPr id="8" name="Picture 21"/>
          <p:cNvPicPr>
            <a:picLocks noChangeAspect="1"/>
          </p:cNvPicPr>
          <p:nvPr userDrawn="1"/>
        </p:nvPicPr>
        <p:blipFill>
          <a:blip r:embed="rId3" cstate="print"/>
          <a:srcRect/>
          <a:stretch>
            <a:fillRect/>
          </a:stretch>
        </p:blipFill>
        <p:spPr bwMode="black">
          <a:xfrm>
            <a:off x="3822700" y="2843213"/>
            <a:ext cx="4543425" cy="569912"/>
          </a:xfrm>
          <a:prstGeom prst="rect">
            <a:avLst/>
          </a:prstGeom>
          <a:noFill/>
          <a:ln w="9525">
            <a:noFill/>
            <a:miter lim="800000"/>
            <a:headEnd/>
            <a:tailEnd/>
          </a:ln>
        </p:spPr>
      </p:pic>
    </p:spTree>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noAutofit/>
          </a:bodyPr>
          <a:lstStyle>
            <a:lvl1pPr>
              <a:defRPr/>
            </a:lvl1pPr>
          </a:lstStyle>
          <a:p>
            <a:r>
              <a:rPr lang="en-US"/>
              <a:t>May 27, 2023</a:t>
            </a:r>
          </a:p>
        </p:txBody>
      </p:sp>
      <p:sp>
        <p:nvSpPr>
          <p:cNvPr id="5" name="Footer Placeholder 4"/>
          <p:cNvSpPr>
            <a:spLocks noGrp="1"/>
          </p:cNvSpPr>
          <p:nvPr>
            <p:ph type="ftr" sz="quarter" idx="11"/>
          </p:nvPr>
        </p:nvSpPr>
        <p:spPr/>
        <p:txBody>
          <a:bodyPr numCol="1" anchorCtr="0" compatLnSpc="1">
            <a:prstTxWarp prst="textNoShape">
              <a:avLst/>
            </a:prstTxWarp>
            <a:noAutofit/>
          </a:bodyPr>
          <a:lstStyle>
            <a:lvl1pPr fontAlgn="base">
              <a:spcBef>
                <a:spcPct val="0"/>
              </a:spcBef>
              <a:spcAft>
                <a:spcPct val="0"/>
              </a:spcAft>
              <a:defRPr smtClean="0">
                <a:solidFill>
                  <a:srgbClr val="9F9F9F"/>
                </a:solidFill>
                <a:cs typeface="Arial" charset="0"/>
              </a:defRPr>
            </a:lvl1pPr>
          </a:lstStyle>
          <a:p>
            <a:r>
              <a:rPr lang="en-US"/>
              <a:t>MArburg - Turning Points</a:t>
            </a:r>
          </a:p>
        </p:txBody>
      </p:sp>
      <p:sp>
        <p:nvSpPr>
          <p:cNvPr id="6" name="Slide Number Placeholder 5"/>
          <p:cNvSpPr>
            <a:spLocks noGrp="1"/>
          </p:cNvSpPr>
          <p:nvPr>
            <p:ph type="sldNum" sz="quarter" idx="12"/>
          </p:nvPr>
        </p:nvSpPr>
        <p:spPr/>
        <p:txBody>
          <a:bodyPr>
            <a:noAutofit/>
          </a:bodyPr>
          <a:lstStyle>
            <a:lvl1pPr>
              <a:defRPr/>
            </a:lvl1pPr>
          </a:lstStyle>
          <a:p>
            <a:fld id="{90C007C3-1724-4404-A5BF-ED06D6D538EA}" type="slidenum">
              <a:rPr lang="en-US"/>
              <a:pPr/>
              <a:t>‹#›</a:t>
            </a:fld>
            <a:endParaRPr lang="en-US"/>
          </a:p>
        </p:txBody>
      </p:sp>
    </p:spTree>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lvl1pPr>
              <a:defRPr/>
            </a:lvl1pPr>
          </a:lstStyle>
          <a:p>
            <a:r>
              <a:rPr lang="en-US"/>
              <a:t>May 27, 2023</a:t>
            </a:r>
          </a:p>
        </p:txBody>
      </p:sp>
      <p:sp>
        <p:nvSpPr>
          <p:cNvPr id="5" name="Footer Placeholder 4"/>
          <p:cNvSpPr>
            <a:spLocks noGrp="1"/>
          </p:cNvSpPr>
          <p:nvPr>
            <p:ph type="ftr" sz="quarter" idx="11"/>
          </p:nvPr>
        </p:nvSpPr>
        <p:spPr/>
        <p:txBody>
          <a:bodyPr/>
          <a:lstStyle>
            <a:lvl1pPr>
              <a:defRPr/>
            </a:lvl1pPr>
          </a:lstStyle>
          <a:p>
            <a:pPr>
              <a:defRPr/>
            </a:pPr>
            <a:r>
              <a:rPr lang="en-US"/>
              <a:t>MArburg - Turning Points</a:t>
            </a:r>
            <a:endParaRPr/>
          </a:p>
        </p:txBody>
      </p:sp>
      <p:sp>
        <p:nvSpPr>
          <p:cNvPr id="6" name="Slide Number Placeholder 5"/>
          <p:cNvSpPr>
            <a:spLocks noGrp="1"/>
          </p:cNvSpPr>
          <p:nvPr>
            <p:ph type="sldNum" sz="quarter" idx="12"/>
          </p:nvPr>
        </p:nvSpPr>
        <p:spPr/>
        <p:txBody>
          <a:bodyPr/>
          <a:lstStyle>
            <a:lvl1pPr>
              <a:defRPr/>
            </a:lvl1pPr>
          </a:lstStyle>
          <a:p>
            <a:fld id="{780C1214-D95A-4D11-B242-57243BFF74F4}" type="slidenum">
              <a:rPr lang="en-US"/>
              <a:pPr/>
              <a:t>‹#›</a:t>
            </a:fld>
            <a:endParaRPr lang="en-US"/>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026" name="Border"/>
          <p:cNvGrpSpPr>
            <a:grpSpLocks/>
          </p:cNvGrpSpPr>
          <p:nvPr/>
        </p:nvGrpSpPr>
        <p:grpSpPr bwMode="auto">
          <a:xfrm>
            <a:off x="0" y="0"/>
            <a:ext cx="12188825" cy="6858000"/>
            <a:chOff x="-287" y="0"/>
            <a:chExt cx="12189399" cy="6858000"/>
          </a:xfrm>
        </p:grpSpPr>
        <p:sp>
          <p:nvSpPr>
            <p:cNvPr id="8" name="Rectangle 7"/>
            <p:cNvSpPr/>
            <p:nvPr/>
          </p:nvSpPr>
          <p:spPr bwMode="gray">
            <a:xfrm>
              <a:off x="-287" y="0"/>
              <a:ext cx="193684" cy="68516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9" name="Rectangle 8"/>
            <p:cNvSpPr/>
            <p:nvPr/>
          </p:nvSpPr>
          <p:spPr bwMode="gray">
            <a:xfrm>
              <a:off x="11995428" y="6350"/>
              <a:ext cx="193684" cy="68516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10" name="Rectangle 9"/>
            <p:cNvSpPr/>
            <p:nvPr/>
          </p:nvSpPr>
          <p:spPr bwMode="gray">
            <a:xfrm>
              <a:off x="-287" y="6400800"/>
              <a:ext cx="12189399"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sp>
          <p:nvSpPr>
            <p:cNvPr id="11" name="Rectangle 10"/>
            <p:cNvSpPr/>
            <p:nvPr/>
          </p:nvSpPr>
          <p:spPr bwMode="gray">
            <a:xfrm>
              <a:off x="-287" y="0"/>
              <a:ext cx="12189399" cy="1920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cs typeface="Arial" charset="0"/>
              </a:endParaRPr>
            </a:p>
          </p:txBody>
        </p:sp>
      </p:grpSp>
      <p:pic>
        <p:nvPicPr>
          <p:cNvPr id="1027" name="Oracle red badge logo" descr="Oracle logo in white on red staging background"/>
          <p:cNvPicPr>
            <a:picLocks noChangeAspect="1"/>
          </p:cNvPicPr>
          <p:nvPr/>
        </p:nvPicPr>
        <p:blipFill>
          <a:blip r:embed="rId40" cstate="print"/>
          <a:srcRect/>
          <a:stretch>
            <a:fillRect/>
          </a:stretch>
        </p:blipFill>
        <p:spPr bwMode="ltGray">
          <a:xfrm>
            <a:off x="531813" y="6264275"/>
            <a:ext cx="1622425" cy="593725"/>
          </a:xfrm>
          <a:prstGeom prst="rect">
            <a:avLst/>
          </a:prstGeom>
          <a:noFill/>
          <a:ln w="9525">
            <a:noFill/>
            <a:miter lim="800000"/>
            <a:headEnd/>
            <a:tailEnd/>
          </a:ln>
        </p:spPr>
      </p:pic>
      <p:sp>
        <p:nvSpPr>
          <p:cNvPr id="1028" name="Title Placeholder 1"/>
          <p:cNvSpPr>
            <a:spLocks noGrp="1"/>
          </p:cNvSpPr>
          <p:nvPr>
            <p:ph type="title"/>
          </p:nvPr>
        </p:nvSpPr>
        <p:spPr bwMode="auto">
          <a:xfrm>
            <a:off x="531813" y="406400"/>
            <a:ext cx="11125200" cy="889000"/>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a:t>Click to edit Master title style</a:t>
            </a:r>
          </a:p>
        </p:txBody>
      </p:sp>
      <p:sp>
        <p:nvSpPr>
          <p:cNvPr id="1029" name="Text Placeholder 2"/>
          <p:cNvSpPr>
            <a:spLocks noGrp="1"/>
          </p:cNvSpPr>
          <p:nvPr>
            <p:ph type="body" idx="1"/>
          </p:nvPr>
        </p:nvSpPr>
        <p:spPr bwMode="auto">
          <a:xfrm>
            <a:off x="531813" y="1524000"/>
            <a:ext cx="11125200" cy="44196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62475" y="6556375"/>
            <a:ext cx="1227138" cy="182563"/>
          </a:xfrm>
          <a:prstGeom prst="rect">
            <a:avLst/>
          </a:prstGeom>
        </p:spPr>
        <p:txBody>
          <a:bodyPr vert="horz" wrap="none" lIns="0" tIns="0" rIns="0" bIns="0" numCol="1" anchor="ctr" anchorCtr="0" compatLnSpc="1">
            <a:prstTxWarp prst="textNoShape">
              <a:avLst/>
            </a:prstTxWarp>
          </a:bodyPr>
          <a:lstStyle>
            <a:lvl1pPr algn="r">
              <a:defRPr sz="800">
                <a:solidFill>
                  <a:srgbClr val="9F9F9F"/>
                </a:solidFill>
                <a:latin typeface="Calibri" pitchFamily="34" charset="0"/>
              </a:defRPr>
            </a:lvl1pPr>
          </a:lstStyle>
          <a:p>
            <a:r>
              <a:rPr lang="en-US"/>
              <a:t>May 27, 2023</a:t>
            </a:r>
          </a:p>
        </p:txBody>
      </p:sp>
      <p:sp>
        <p:nvSpPr>
          <p:cNvPr id="15" name="TextBox 14"/>
          <p:cNvSpPr txBox="1"/>
          <p:nvPr/>
        </p:nvSpPr>
        <p:spPr>
          <a:xfrm>
            <a:off x="5989638" y="6556375"/>
            <a:ext cx="2787650" cy="182563"/>
          </a:xfrm>
          <a:prstGeom prst="rect">
            <a:avLst/>
          </a:prstGeom>
          <a:noFill/>
        </p:spPr>
        <p:txBody>
          <a:bodyPr wrap="none" lIns="0" tIns="0" rIns="0" bIns="0" anchor="ctr"/>
          <a:lstStyle/>
          <a:p>
            <a:pPr fontAlgn="auto">
              <a:spcBef>
                <a:spcPts val="0"/>
              </a:spcBef>
              <a:spcAft>
                <a:spcPts val="0"/>
              </a:spcAft>
              <a:defRPr/>
            </a:pPr>
            <a:r>
              <a:rPr sz="800" dirty="0">
                <a:solidFill>
                  <a:schemeClr val="tx1">
                    <a:lumMod val="60000"/>
                    <a:lumOff val="40000"/>
                  </a:schemeClr>
                </a:solidFill>
                <a:latin typeface="+mn-lt"/>
                <a:cs typeface="+mn-cs"/>
              </a:rPr>
              <a:t>Copyright © 2014 Oracle and/or its affiliates. All rights reserved.  |</a:t>
            </a:r>
          </a:p>
        </p:txBody>
      </p:sp>
      <p:sp>
        <p:nvSpPr>
          <p:cNvPr id="5" name="Footer Placeholder 4"/>
          <p:cNvSpPr>
            <a:spLocks noGrp="1"/>
          </p:cNvSpPr>
          <p:nvPr>
            <p:ph type="ftr" sz="quarter" idx="3"/>
          </p:nvPr>
        </p:nvSpPr>
        <p:spPr>
          <a:xfrm>
            <a:off x="8777288" y="6556375"/>
            <a:ext cx="2498725" cy="182563"/>
          </a:xfrm>
          <a:prstGeom prst="rect">
            <a:avLst/>
          </a:prstGeom>
        </p:spPr>
        <p:txBody>
          <a:bodyPr vert="horz" wrap="none" lIns="0" tIns="0" rIns="0" bIns="0" rtlCol="0" anchor="ctr"/>
          <a:lstStyle>
            <a:lvl1pPr algn="l" fontAlgn="auto">
              <a:spcBef>
                <a:spcPts val="0"/>
              </a:spcBef>
              <a:spcAft>
                <a:spcPts val="0"/>
              </a:spcAft>
              <a:defRPr sz="800">
                <a:solidFill>
                  <a:schemeClr val="tx1">
                    <a:lumMod val="60000"/>
                    <a:lumOff val="40000"/>
                  </a:schemeClr>
                </a:solidFill>
                <a:latin typeface="+mn-lt"/>
                <a:cs typeface="+mn-cs"/>
              </a:defRPr>
            </a:lvl1pPr>
          </a:lstStyle>
          <a:p>
            <a:pPr>
              <a:defRPr/>
            </a:pPr>
            <a:r>
              <a:rPr lang="en-US"/>
              <a:t>MArburg - Turning Points</a:t>
            </a:r>
            <a:endParaRPr/>
          </a:p>
        </p:txBody>
      </p:sp>
      <p:sp>
        <p:nvSpPr>
          <p:cNvPr id="6" name="Slide Number Placeholder 5"/>
          <p:cNvSpPr>
            <a:spLocks noGrp="1"/>
          </p:cNvSpPr>
          <p:nvPr>
            <p:ph type="sldNum" sz="quarter" idx="4"/>
          </p:nvPr>
        </p:nvSpPr>
        <p:spPr>
          <a:xfrm>
            <a:off x="11276013" y="6556375"/>
            <a:ext cx="381000" cy="182563"/>
          </a:xfrm>
          <a:prstGeom prst="rect">
            <a:avLst/>
          </a:prstGeom>
        </p:spPr>
        <p:txBody>
          <a:bodyPr vert="horz" wrap="none" lIns="0" tIns="0" rIns="0" bIns="0" numCol="1" anchor="ctr" anchorCtr="0" compatLnSpc="1">
            <a:prstTxWarp prst="textNoShape">
              <a:avLst/>
            </a:prstTxWarp>
          </a:bodyPr>
          <a:lstStyle>
            <a:lvl1pPr algn="r">
              <a:defRPr sz="800">
                <a:solidFill>
                  <a:srgbClr val="9F9F9F"/>
                </a:solidFill>
                <a:latin typeface="Calibri" pitchFamily="34" charset="0"/>
              </a:defRPr>
            </a:lvl1pPr>
          </a:lstStyle>
          <a:p>
            <a:fld id="{F9D132C3-5A55-4943-BB65-BBC03F3B8A22}"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579" r:id="rId1"/>
    <p:sldLayoutId id="2147484580" r:id="rId2"/>
    <p:sldLayoutId id="2147484581" r:id="rId3"/>
    <p:sldLayoutId id="2147484582" r:id="rId4"/>
    <p:sldLayoutId id="2147484583" r:id="rId5"/>
    <p:sldLayoutId id="2147484566" r:id="rId6"/>
    <p:sldLayoutId id="2147484567" r:id="rId7"/>
    <p:sldLayoutId id="2147484584" r:id="rId8"/>
    <p:sldLayoutId id="2147484568" r:id="rId9"/>
    <p:sldLayoutId id="2147484585" r:id="rId10"/>
    <p:sldLayoutId id="2147484569" r:id="rId11"/>
    <p:sldLayoutId id="2147484586" r:id="rId12"/>
    <p:sldLayoutId id="2147484570" r:id="rId13"/>
    <p:sldLayoutId id="2147484571" r:id="rId14"/>
    <p:sldLayoutId id="2147484587" r:id="rId15"/>
    <p:sldLayoutId id="2147484588" r:id="rId16"/>
    <p:sldLayoutId id="2147484589" r:id="rId17"/>
    <p:sldLayoutId id="2147484590" r:id="rId18"/>
    <p:sldLayoutId id="2147484572" r:id="rId19"/>
    <p:sldLayoutId id="2147484591" r:id="rId20"/>
    <p:sldLayoutId id="2147484573" r:id="rId21"/>
    <p:sldLayoutId id="2147484574" r:id="rId22"/>
    <p:sldLayoutId id="2147484575" r:id="rId23"/>
    <p:sldLayoutId id="2147484576" r:id="rId24"/>
    <p:sldLayoutId id="2147484577" r:id="rId25"/>
    <p:sldLayoutId id="2147484592" r:id="rId26"/>
    <p:sldLayoutId id="2147484593" r:id="rId27"/>
    <p:sldLayoutId id="2147484594" r:id="rId28"/>
    <p:sldLayoutId id="2147484595" r:id="rId29"/>
    <p:sldLayoutId id="2147484596" r:id="rId30"/>
    <p:sldLayoutId id="2147484597" r:id="rId31"/>
    <p:sldLayoutId id="2147484598" r:id="rId32"/>
    <p:sldLayoutId id="2147484599" r:id="rId33"/>
    <p:sldLayoutId id="2147484600" r:id="rId34"/>
    <p:sldLayoutId id="2147484601" r:id="rId35"/>
    <p:sldLayoutId id="2147484602" r:id="rId36"/>
    <p:sldLayoutId id="2147484603" r:id="rId37"/>
    <p:sldLayoutId id="2147484578" r:id="rId38"/>
  </p:sldLayoutIdLst>
  <p:transition spd="med">
    <p:fade/>
  </p:transition>
  <p:hf hdr="0"/>
  <p:txStyles>
    <p:titleStyle>
      <a:lvl1pPr algn="l" rtl="0" eaLnBrk="0" fontAlgn="base" hangingPunct="0">
        <a:lnSpc>
          <a:spcPct val="80000"/>
        </a:lnSpc>
        <a:spcBef>
          <a:spcPct val="0"/>
        </a:spcBef>
        <a:spcAft>
          <a:spcPct val="0"/>
        </a:spcAft>
        <a:defRPr sz="3600" kern="1200">
          <a:solidFill>
            <a:schemeClr val="tx1"/>
          </a:solidFill>
          <a:latin typeface="+mj-lt"/>
          <a:ea typeface="+mj-ea"/>
          <a:cs typeface="+mj-cs"/>
        </a:defRPr>
      </a:lvl1pPr>
      <a:lvl2pPr algn="l" rtl="0" eaLnBrk="0" fontAlgn="base" hangingPunct="0">
        <a:lnSpc>
          <a:spcPct val="80000"/>
        </a:lnSpc>
        <a:spcBef>
          <a:spcPct val="0"/>
        </a:spcBef>
        <a:spcAft>
          <a:spcPct val="0"/>
        </a:spcAft>
        <a:defRPr sz="3600">
          <a:solidFill>
            <a:schemeClr val="tx1"/>
          </a:solidFill>
          <a:latin typeface="Calibri" pitchFamily="34" charset="0"/>
        </a:defRPr>
      </a:lvl2pPr>
      <a:lvl3pPr algn="l" rtl="0" eaLnBrk="0" fontAlgn="base" hangingPunct="0">
        <a:lnSpc>
          <a:spcPct val="80000"/>
        </a:lnSpc>
        <a:spcBef>
          <a:spcPct val="0"/>
        </a:spcBef>
        <a:spcAft>
          <a:spcPct val="0"/>
        </a:spcAft>
        <a:defRPr sz="3600">
          <a:solidFill>
            <a:schemeClr val="tx1"/>
          </a:solidFill>
          <a:latin typeface="Calibri" pitchFamily="34" charset="0"/>
        </a:defRPr>
      </a:lvl3pPr>
      <a:lvl4pPr algn="l" rtl="0" eaLnBrk="0" fontAlgn="base" hangingPunct="0">
        <a:lnSpc>
          <a:spcPct val="80000"/>
        </a:lnSpc>
        <a:spcBef>
          <a:spcPct val="0"/>
        </a:spcBef>
        <a:spcAft>
          <a:spcPct val="0"/>
        </a:spcAft>
        <a:defRPr sz="3600">
          <a:solidFill>
            <a:schemeClr val="tx1"/>
          </a:solidFill>
          <a:latin typeface="Calibri" pitchFamily="34" charset="0"/>
        </a:defRPr>
      </a:lvl4pPr>
      <a:lvl5pPr algn="l" rtl="0" eaLnBrk="0" fontAlgn="base" hangingPunct="0">
        <a:lnSpc>
          <a:spcPct val="80000"/>
        </a:lnSpc>
        <a:spcBef>
          <a:spcPct val="0"/>
        </a:spcBef>
        <a:spcAft>
          <a:spcPct val="0"/>
        </a:spcAft>
        <a:defRPr sz="3600">
          <a:solidFill>
            <a:schemeClr val="tx1"/>
          </a:solidFill>
          <a:latin typeface="Calibri" pitchFamily="34" charset="0"/>
        </a:defRPr>
      </a:lvl5pPr>
      <a:lvl6pPr marL="457200" algn="l" rtl="0" fontAlgn="base">
        <a:lnSpc>
          <a:spcPct val="80000"/>
        </a:lnSpc>
        <a:spcBef>
          <a:spcPct val="0"/>
        </a:spcBef>
        <a:spcAft>
          <a:spcPct val="0"/>
        </a:spcAft>
        <a:defRPr sz="3600">
          <a:solidFill>
            <a:schemeClr val="tx1"/>
          </a:solidFill>
          <a:latin typeface="Calibri" pitchFamily="34" charset="0"/>
        </a:defRPr>
      </a:lvl6pPr>
      <a:lvl7pPr marL="914400" algn="l" rtl="0" fontAlgn="base">
        <a:lnSpc>
          <a:spcPct val="80000"/>
        </a:lnSpc>
        <a:spcBef>
          <a:spcPct val="0"/>
        </a:spcBef>
        <a:spcAft>
          <a:spcPct val="0"/>
        </a:spcAft>
        <a:defRPr sz="3600">
          <a:solidFill>
            <a:schemeClr val="tx1"/>
          </a:solidFill>
          <a:latin typeface="Calibri" pitchFamily="34" charset="0"/>
        </a:defRPr>
      </a:lvl7pPr>
      <a:lvl8pPr marL="1371600" algn="l" rtl="0" fontAlgn="base">
        <a:lnSpc>
          <a:spcPct val="80000"/>
        </a:lnSpc>
        <a:spcBef>
          <a:spcPct val="0"/>
        </a:spcBef>
        <a:spcAft>
          <a:spcPct val="0"/>
        </a:spcAft>
        <a:defRPr sz="3600">
          <a:solidFill>
            <a:schemeClr val="tx1"/>
          </a:solidFill>
          <a:latin typeface="Calibri" pitchFamily="34" charset="0"/>
        </a:defRPr>
      </a:lvl8pPr>
      <a:lvl9pPr marL="1828800" algn="l" rtl="0" fontAlgn="base">
        <a:lnSpc>
          <a:spcPct val="80000"/>
        </a:lnSpc>
        <a:spcBef>
          <a:spcPct val="0"/>
        </a:spcBef>
        <a:spcAft>
          <a:spcPct val="0"/>
        </a:spcAft>
        <a:defRPr sz="3600">
          <a:solidFill>
            <a:schemeClr val="tx1"/>
          </a:solidFill>
          <a:latin typeface="Calibri" pitchFamily="34" charset="0"/>
        </a:defRPr>
      </a:lvl9pPr>
    </p:titleStyle>
    <p:bodyStyle>
      <a:lvl1pPr marL="228600" indent="-228600" algn="l" rtl="0" eaLnBrk="0" fontAlgn="base" hangingPunct="0">
        <a:lnSpc>
          <a:spcPct val="90000"/>
        </a:lnSpc>
        <a:spcBef>
          <a:spcPts val="1200"/>
        </a:spcBef>
        <a:spcAft>
          <a:spcPct val="0"/>
        </a:spcAft>
        <a:buClr>
          <a:srgbClr val="9F9F9F"/>
        </a:buClr>
        <a:buFont typeface="Arial" charset="0"/>
        <a:buChar char="•"/>
        <a:defRPr sz="2800" kern="1200">
          <a:solidFill>
            <a:schemeClr val="tx1"/>
          </a:solidFill>
          <a:latin typeface="+mn-lt"/>
          <a:ea typeface="+mn-ea"/>
          <a:cs typeface="+mn-cs"/>
        </a:defRPr>
      </a:lvl1pPr>
      <a:lvl2pPr marL="501650" indent="-228600" algn="l" rtl="0" eaLnBrk="0" fontAlgn="base" hangingPunct="0">
        <a:lnSpc>
          <a:spcPct val="90000"/>
        </a:lnSpc>
        <a:spcBef>
          <a:spcPts val="800"/>
        </a:spcBef>
        <a:spcAft>
          <a:spcPct val="0"/>
        </a:spcAft>
        <a:buClr>
          <a:srgbClr val="9F9F9F"/>
        </a:buClr>
        <a:buFont typeface="Arial" charset="0"/>
        <a:buChar char="–"/>
        <a:defRPr sz="2400" kern="1200">
          <a:solidFill>
            <a:schemeClr val="tx1"/>
          </a:solidFill>
          <a:latin typeface="+mn-lt"/>
          <a:ea typeface="+mn-ea"/>
          <a:cs typeface="+mn-cs"/>
        </a:defRPr>
      </a:lvl2pPr>
      <a:lvl3pPr marL="730250" indent="-182563" algn="l" rtl="0" eaLnBrk="0" fontAlgn="base" hangingPunct="0">
        <a:lnSpc>
          <a:spcPct val="90000"/>
        </a:lnSpc>
        <a:spcBef>
          <a:spcPts val="600"/>
        </a:spcBef>
        <a:spcAft>
          <a:spcPct val="0"/>
        </a:spcAft>
        <a:buClr>
          <a:srgbClr val="9F9F9F"/>
        </a:buClr>
        <a:buFont typeface="Arial" charset="0"/>
        <a:buChar char="•"/>
        <a:defRPr sz="2000" kern="1200">
          <a:solidFill>
            <a:schemeClr val="tx1"/>
          </a:solidFill>
          <a:latin typeface="+mn-lt"/>
          <a:ea typeface="+mn-ea"/>
          <a:cs typeface="+mn-cs"/>
        </a:defRPr>
      </a:lvl3pPr>
      <a:lvl4pPr marL="958850" indent="-182563" algn="l" rtl="0" eaLnBrk="0" fontAlgn="base" hangingPunct="0">
        <a:lnSpc>
          <a:spcPct val="90000"/>
        </a:lnSpc>
        <a:spcBef>
          <a:spcPts val="600"/>
        </a:spcBef>
        <a:spcAft>
          <a:spcPct val="0"/>
        </a:spcAft>
        <a:buClr>
          <a:srgbClr val="9F9F9F"/>
        </a:buClr>
        <a:buFont typeface="Arial" charset="0"/>
        <a:buChar char="–"/>
        <a:defRPr kern="1200">
          <a:solidFill>
            <a:schemeClr val="tx1"/>
          </a:solidFill>
          <a:latin typeface="+mn-lt"/>
          <a:ea typeface="+mn-ea"/>
          <a:cs typeface="+mn-cs"/>
        </a:defRPr>
      </a:lvl4pPr>
      <a:lvl5pPr marL="1187450" indent="-182563" algn="l" rtl="0" eaLnBrk="0" fontAlgn="base" hangingPunct="0">
        <a:lnSpc>
          <a:spcPct val="90000"/>
        </a:lnSpc>
        <a:spcBef>
          <a:spcPts val="600"/>
        </a:spcBef>
        <a:spcAft>
          <a:spcPct val="0"/>
        </a:spcAft>
        <a:buClr>
          <a:srgbClr val="9F9F9F"/>
        </a:buClr>
        <a:buFont typeface="Arial"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hyperlink" Target="http://en.wikipedia.org/wiki/Situation_awareness"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Text Placeholder 5"/>
          <p:cNvSpPr>
            <a:spLocks noGrp="1"/>
          </p:cNvSpPr>
          <p:nvPr>
            <p:ph type="body" sz="quarter" idx="13"/>
          </p:nvPr>
        </p:nvSpPr>
        <p:spPr>
          <a:xfrm>
            <a:off x="455612" y="3810000"/>
            <a:ext cx="8763000" cy="2514600"/>
          </a:xfrm>
        </p:spPr>
        <p:txBody>
          <a:bodyPr/>
          <a:lstStyle/>
          <a:p>
            <a:pPr eaLnBrk="1" hangingPunct="1">
              <a:spcBef>
                <a:spcPct val="0"/>
              </a:spcBef>
              <a:buClr>
                <a:srgbClr val="FFFFFF"/>
              </a:buClr>
            </a:pPr>
            <a:r>
              <a:rPr lang="en-US" dirty="0"/>
              <a:t>Dieter Gawlick</a:t>
            </a:r>
          </a:p>
          <a:p>
            <a:pPr eaLnBrk="1" hangingPunct="1">
              <a:spcBef>
                <a:spcPct val="0"/>
              </a:spcBef>
              <a:buClr>
                <a:srgbClr val="FFFFFF"/>
              </a:buClr>
            </a:pPr>
            <a:r>
              <a:rPr lang="en-US" dirty="0"/>
              <a:t>dieter.gawlick@oracle.com</a:t>
            </a:r>
            <a:br>
              <a:rPr lang="en-US" dirty="0"/>
            </a:br>
            <a:endParaRPr lang="en-US" dirty="0"/>
          </a:p>
          <a:p>
            <a:pPr eaLnBrk="1" hangingPunct="1">
              <a:spcBef>
                <a:spcPct val="0"/>
              </a:spcBef>
              <a:buClr>
                <a:srgbClr val="FFFFFF"/>
              </a:buClr>
            </a:pPr>
            <a:r>
              <a:rPr lang="en-US" dirty="0"/>
              <a:t>Marburg - 5/27/2023</a:t>
            </a:r>
          </a:p>
        </p:txBody>
      </p:sp>
      <p:sp>
        <p:nvSpPr>
          <p:cNvPr id="8" name="Footer Placeholder 7"/>
          <p:cNvSpPr>
            <a:spLocks noGrp="1"/>
          </p:cNvSpPr>
          <p:nvPr>
            <p:ph type="ftr" sz="quarter" idx="15"/>
          </p:nvPr>
        </p:nvSpPr>
        <p:spPr/>
        <p:txBody>
          <a:bodyPr/>
          <a:lstStyle/>
          <a:p>
            <a:pPr>
              <a:defRPr/>
            </a:pPr>
            <a:r>
              <a:rPr lang="en-US"/>
              <a:t>MArburg - Turning Points</a:t>
            </a:r>
          </a:p>
        </p:txBody>
      </p:sp>
      <p:sp>
        <p:nvSpPr>
          <p:cNvPr id="6" name="Date Placeholder 5"/>
          <p:cNvSpPr>
            <a:spLocks noGrp="1"/>
          </p:cNvSpPr>
          <p:nvPr>
            <p:ph type="dt" sz="half" idx="14"/>
          </p:nvPr>
        </p:nvSpPr>
        <p:spPr/>
        <p:txBody>
          <a:bodyPr/>
          <a:lstStyle/>
          <a:p>
            <a:r>
              <a:rPr lang="en-US"/>
              <a:t>May 27, 2023</a:t>
            </a:r>
          </a:p>
        </p:txBody>
      </p:sp>
      <p:sp>
        <p:nvSpPr>
          <p:cNvPr id="7" name="Slide Number Placeholder 6"/>
          <p:cNvSpPr>
            <a:spLocks noGrp="1"/>
          </p:cNvSpPr>
          <p:nvPr>
            <p:ph type="sldNum" sz="quarter" idx="16"/>
          </p:nvPr>
        </p:nvSpPr>
        <p:spPr/>
        <p:txBody>
          <a:bodyPr/>
          <a:lstStyle/>
          <a:p>
            <a:fld id="{F650D2CB-7F99-475F-AF8D-5BDC4CA66DD1}" type="slidenum">
              <a:rPr lang="en-US" smtClean="0"/>
              <a:pPr/>
              <a:t>2</a:t>
            </a:fld>
            <a:endParaRPr lang="en-US"/>
          </a:p>
        </p:txBody>
      </p:sp>
      <p:sp>
        <p:nvSpPr>
          <p:cNvPr id="3" name="Title 2">
            <a:extLst>
              <a:ext uri="{FF2B5EF4-FFF2-40B4-BE49-F238E27FC236}">
                <a16:creationId xmlns:a16="http://schemas.microsoft.com/office/drawing/2014/main" id="{4D38111A-DB66-0EC8-63A3-867D6A38330C}"/>
              </a:ext>
            </a:extLst>
          </p:cNvPr>
          <p:cNvSpPr>
            <a:spLocks noGrp="1"/>
          </p:cNvSpPr>
          <p:nvPr>
            <p:ph type="ctrTitle"/>
          </p:nvPr>
        </p:nvSpPr>
        <p:spPr>
          <a:xfrm>
            <a:off x="531813" y="1219200"/>
            <a:ext cx="8763000" cy="1470025"/>
          </a:xfrm>
        </p:spPr>
        <p:txBody>
          <a:bodyPr/>
          <a:lstStyle/>
          <a:p>
            <a:r>
              <a:rPr lang="en-US" b="1" dirty="0">
                <a:solidFill>
                  <a:srgbClr val="C00000"/>
                </a:solidFill>
              </a:rPr>
              <a:t>Turning Points: OLTP in the 1970's, SA (Situation Awareness) in the 2020's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MArburg - Turning Points</a:t>
            </a:r>
          </a:p>
        </p:txBody>
      </p:sp>
      <p:sp>
        <p:nvSpPr>
          <p:cNvPr id="29699" name="Slide Number Placeholder 2"/>
          <p:cNvSpPr>
            <a:spLocks noGrp="1"/>
          </p:cNvSpPr>
          <p:nvPr>
            <p:ph type="sldNum" sz="quarter" idx="12"/>
          </p:nvPr>
        </p:nvSpPr>
        <p:spPr bwMode="auto">
          <a:noFill/>
          <a:ln>
            <a:miter lim="800000"/>
            <a:headEnd/>
            <a:tailEnd/>
          </a:ln>
        </p:spPr>
        <p:txBody>
          <a:bodyPr/>
          <a:lstStyle/>
          <a:p>
            <a:fld id="{FC92F014-A972-493F-B17F-331CC03DE346}" type="slidenum">
              <a:rPr lang="en-US"/>
              <a:pPr/>
              <a:t>3</a:t>
            </a:fld>
            <a:endParaRPr lang="en-US"/>
          </a:p>
        </p:txBody>
      </p:sp>
      <p:sp>
        <p:nvSpPr>
          <p:cNvPr id="4" name="Date Placeholder 3"/>
          <p:cNvSpPr>
            <a:spLocks noGrp="1"/>
          </p:cNvSpPr>
          <p:nvPr>
            <p:ph type="dt" sz="half" idx="10"/>
          </p:nvPr>
        </p:nvSpPr>
        <p:spPr/>
        <p:txBody>
          <a:bodyPr/>
          <a:lstStyle/>
          <a:p>
            <a:r>
              <a:rPr lang="en-US"/>
              <a:t>May 27, 2023</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lnSpcReduction="10000"/>
          </a:bodyPr>
          <a:lstStyle/>
          <a:p>
            <a:r>
              <a:rPr lang="en-US" dirty="0"/>
              <a:t>A short Bio</a:t>
            </a:r>
          </a:p>
          <a:p>
            <a:r>
              <a:rPr lang="en-US" dirty="0"/>
              <a:t>Getting (enterprise level) OLTP started</a:t>
            </a:r>
          </a:p>
          <a:p>
            <a:pPr lvl="1"/>
            <a:r>
              <a:rPr lang="en-US" dirty="0"/>
              <a:t>IMS/FP</a:t>
            </a:r>
          </a:p>
          <a:p>
            <a:pPr lvl="1"/>
            <a:r>
              <a:rPr lang="en-US" dirty="0"/>
              <a:t>I/O optimizations</a:t>
            </a:r>
          </a:p>
          <a:p>
            <a:pPr lvl="1"/>
            <a:r>
              <a:rPr lang="en-US" dirty="0"/>
              <a:t>A reflection about the OLTP evolution</a:t>
            </a:r>
          </a:p>
          <a:p>
            <a:r>
              <a:rPr lang="en-US" dirty="0"/>
              <a:t>Situation Awareness</a:t>
            </a:r>
          </a:p>
          <a:p>
            <a:pPr lvl="1"/>
            <a:r>
              <a:rPr lang="en-US" dirty="0"/>
              <a:t>A short look at the history</a:t>
            </a:r>
          </a:p>
          <a:p>
            <a:pPr lvl="1"/>
            <a:r>
              <a:rPr lang="en-US" dirty="0"/>
              <a:t>A review of the status</a:t>
            </a:r>
          </a:p>
          <a:p>
            <a:pPr lvl="1"/>
            <a:r>
              <a:rPr lang="en-US" dirty="0"/>
              <a:t>Some major challenges</a:t>
            </a:r>
          </a:p>
          <a:p>
            <a:r>
              <a:rPr lang="en-US" dirty="0"/>
              <a:t>Conclusion</a:t>
            </a: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Short Bio</a:t>
            </a:r>
          </a:p>
        </p:txBody>
      </p:sp>
      <p:sp>
        <p:nvSpPr>
          <p:cNvPr id="3" name="Content Placeholder 2"/>
          <p:cNvSpPr>
            <a:spLocks noGrp="1"/>
          </p:cNvSpPr>
          <p:nvPr>
            <p:ph idx="1"/>
          </p:nvPr>
        </p:nvSpPr>
        <p:spPr/>
        <p:txBody>
          <a:bodyPr>
            <a:normAutofit fontScale="85000" lnSpcReduction="20000"/>
          </a:bodyPr>
          <a:lstStyle/>
          <a:p>
            <a:r>
              <a:rPr lang="en-US" dirty="0"/>
              <a:t>IBM – 1968-1984</a:t>
            </a:r>
          </a:p>
          <a:p>
            <a:pPr lvl="1"/>
            <a:r>
              <a:rPr lang="en-US" dirty="0"/>
              <a:t>Functional extension of DBs – optimistic escrow, application journal </a:t>
            </a:r>
          </a:p>
          <a:p>
            <a:pPr lvl="1"/>
            <a:r>
              <a:rPr lang="en-US" dirty="0"/>
              <a:t>Improved DB operational characteristic (performance, scalability, reliability, online utilities) </a:t>
            </a:r>
          </a:p>
          <a:p>
            <a:pPr lvl="1"/>
            <a:r>
              <a:rPr lang="en-US" dirty="0"/>
              <a:t>Improved messaging </a:t>
            </a:r>
          </a:p>
          <a:p>
            <a:r>
              <a:rPr lang="en-US" dirty="0"/>
              <a:t>Amdahl – 1984-1989</a:t>
            </a:r>
          </a:p>
          <a:p>
            <a:pPr lvl="1"/>
            <a:r>
              <a:rPr lang="en-US" dirty="0"/>
              <a:t>Study of I/O pattern (leveraging the </a:t>
            </a:r>
            <a:r>
              <a:rPr lang="en-US" dirty="0" err="1"/>
              <a:t>Zipf’s</a:t>
            </a:r>
            <a:r>
              <a:rPr lang="en-US" dirty="0"/>
              <a:t> distribution)</a:t>
            </a:r>
          </a:p>
          <a:p>
            <a:pPr lvl="1"/>
            <a:r>
              <a:rPr lang="en-US" dirty="0"/>
              <a:t>I/O optimization (battery backed storage, High speed ingest – RAID5)</a:t>
            </a:r>
          </a:p>
          <a:p>
            <a:r>
              <a:rPr lang="en-US" dirty="0"/>
              <a:t>Digital – 1989-1994</a:t>
            </a:r>
          </a:p>
          <a:p>
            <a:pPr lvl="1"/>
            <a:r>
              <a:rPr lang="en-US" dirty="0"/>
              <a:t>Messaging, workflow, </a:t>
            </a:r>
            <a:r>
              <a:rPr lang="en-US" dirty="0">
                <a:solidFill>
                  <a:srgbClr val="000000"/>
                </a:solidFill>
              </a:rPr>
              <a:t>LSM</a:t>
            </a:r>
            <a:r>
              <a:rPr lang="en-US" dirty="0"/>
              <a:t>, B2B</a:t>
            </a:r>
          </a:p>
          <a:p>
            <a:r>
              <a:rPr lang="en-US" dirty="0"/>
              <a:t>Oracle – 1994 –</a:t>
            </a:r>
          </a:p>
          <a:p>
            <a:pPr lvl="1"/>
            <a:r>
              <a:rPr lang="en-US" dirty="0"/>
              <a:t>Messaging in DB, Workflow, P/S (Publish/Subscribe) and ‘S/P’</a:t>
            </a:r>
          </a:p>
          <a:p>
            <a:pPr lvl="1"/>
            <a:r>
              <a:rPr lang="en-US" dirty="0"/>
              <a:t>Expressions as data type</a:t>
            </a:r>
          </a:p>
          <a:p>
            <a:pPr lvl="1"/>
            <a:r>
              <a:rPr lang="en-US" dirty="0"/>
              <a:t>Situation Awareness</a:t>
            </a:r>
          </a:p>
          <a:p>
            <a:pPr lvl="1"/>
            <a:endParaRPr lang="en-US" dirty="0"/>
          </a:p>
          <a:p>
            <a:pPr lvl="1"/>
            <a:endParaRPr lang="en-US" dirty="0"/>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5</a:t>
            </a:fld>
            <a:endParaRPr lang="en-US"/>
          </a:p>
        </p:txBody>
      </p:sp>
    </p:spTree>
    <p:extLst>
      <p:ext uri="{BB962C8B-B14F-4D97-AF65-F5344CB8AC3E}">
        <p14:creationId xmlns:p14="http://schemas.microsoft.com/office/powerpoint/2010/main" val="170080837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lnSpcReduction="10000"/>
          </a:bodyPr>
          <a:lstStyle/>
          <a:p>
            <a:r>
              <a:rPr lang="en-US" dirty="0"/>
              <a:t>A short Bio</a:t>
            </a:r>
          </a:p>
          <a:p>
            <a:r>
              <a:rPr lang="en-US" b="1" dirty="0"/>
              <a:t>Getting (high end) OLTP started</a:t>
            </a:r>
          </a:p>
          <a:p>
            <a:pPr lvl="1"/>
            <a:r>
              <a:rPr lang="en-US" b="1" dirty="0"/>
              <a:t>IMS, IMS/FP (Information Management System – Fast Path)</a:t>
            </a:r>
          </a:p>
          <a:p>
            <a:pPr lvl="1"/>
            <a:r>
              <a:rPr lang="en-US" b="1" dirty="0"/>
              <a:t>I/O optimizations</a:t>
            </a:r>
          </a:p>
          <a:p>
            <a:pPr lvl="1"/>
            <a:r>
              <a:rPr lang="en-US" b="1" dirty="0"/>
              <a:t>A reflection about the OLTP evolution</a:t>
            </a:r>
          </a:p>
          <a:p>
            <a:r>
              <a:rPr lang="en-US" dirty="0"/>
              <a:t>Situation Awareness</a:t>
            </a:r>
          </a:p>
          <a:p>
            <a:pPr lvl="1"/>
            <a:r>
              <a:rPr lang="en-US" dirty="0"/>
              <a:t>A short look at the history</a:t>
            </a:r>
          </a:p>
          <a:p>
            <a:pPr lvl="1"/>
            <a:r>
              <a:rPr lang="en-US" dirty="0"/>
              <a:t>A review of the status</a:t>
            </a:r>
          </a:p>
          <a:p>
            <a:pPr lvl="1"/>
            <a:r>
              <a:rPr lang="en-US" dirty="0"/>
              <a:t>Some major challenges</a:t>
            </a:r>
          </a:p>
          <a:p>
            <a:r>
              <a:rPr lang="en-US" dirty="0"/>
              <a:t>Conclusion</a:t>
            </a: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6</a:t>
            </a:fld>
            <a:endParaRPr lang="en-US"/>
          </a:p>
        </p:txBody>
      </p:sp>
    </p:spTree>
    <p:extLst>
      <p:ext uri="{BB962C8B-B14F-4D97-AF65-F5344CB8AC3E}">
        <p14:creationId xmlns:p14="http://schemas.microsoft.com/office/powerpoint/2010/main" val="238494753"/>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(High End) OLTP Started</a:t>
            </a:r>
          </a:p>
        </p:txBody>
      </p:sp>
      <p:sp>
        <p:nvSpPr>
          <p:cNvPr id="3" name="Content Placeholder 2"/>
          <p:cNvSpPr>
            <a:spLocks noGrp="1"/>
          </p:cNvSpPr>
          <p:nvPr>
            <p:ph idx="1"/>
          </p:nvPr>
        </p:nvSpPr>
        <p:spPr/>
        <p:txBody>
          <a:bodyPr>
            <a:normAutofit fontScale="92500" lnSpcReduction="10000"/>
          </a:bodyPr>
          <a:lstStyle/>
          <a:p>
            <a:r>
              <a:rPr lang="en-US" dirty="0"/>
              <a:t>To guide a good architecture and design you need a reference point</a:t>
            </a:r>
          </a:p>
          <a:p>
            <a:pPr lvl="1"/>
            <a:r>
              <a:rPr lang="en-US" dirty="0"/>
              <a:t>In the 1970’s the most challenging application was the management a banking account</a:t>
            </a:r>
          </a:p>
          <a:p>
            <a:pPr lvl="1"/>
            <a:r>
              <a:rPr lang="en-US" dirty="0"/>
              <a:t>There was the need for unprecedented performance, scalability, and reliability</a:t>
            </a:r>
          </a:p>
          <a:p>
            <a:pPr lvl="1"/>
            <a:r>
              <a:rPr lang="en-US" dirty="0"/>
              <a:t>The database had no back-up in the real world – the recovery from any point of error has to be flawless</a:t>
            </a:r>
          </a:p>
          <a:p>
            <a:pPr lvl="1"/>
            <a:r>
              <a:rPr lang="en-US" dirty="0"/>
              <a:t>The key example was the interaction between customers and bank</a:t>
            </a:r>
          </a:p>
          <a:p>
            <a:pPr lvl="2"/>
            <a:r>
              <a:rPr lang="en-US" dirty="0"/>
              <a:t>Opening, changing, and closing of accounts</a:t>
            </a:r>
          </a:p>
          <a:p>
            <a:pPr lvl="2"/>
            <a:r>
              <a:rPr lang="en-US" dirty="0"/>
              <a:t>Banking: adding, moving, withdrawing money</a:t>
            </a:r>
          </a:p>
          <a:p>
            <a:pPr lvl="2"/>
            <a:r>
              <a:rPr lang="en-US" dirty="0"/>
              <a:t>Think about  TPCA/B as a start</a:t>
            </a:r>
          </a:p>
          <a:p>
            <a:r>
              <a:rPr lang="en-US" dirty="0"/>
              <a:t>As it turned out, the banking application is an example of online inventory management </a:t>
            </a:r>
          </a:p>
          <a:p>
            <a:pPr lvl="1"/>
            <a:r>
              <a:rPr lang="en-US" b="1" dirty="0">
                <a:solidFill>
                  <a:srgbClr val="FF0000"/>
                </a:solidFill>
              </a:rPr>
              <a:t>A world without online inventory management would look quite different</a:t>
            </a: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7</a:t>
            </a:fld>
            <a:endParaRPr lang="en-US"/>
          </a:p>
        </p:txBody>
      </p:sp>
    </p:spTree>
    <p:extLst>
      <p:ext uri="{BB962C8B-B14F-4D97-AF65-F5344CB8AC3E}">
        <p14:creationId xmlns:p14="http://schemas.microsoft.com/office/powerpoint/2010/main" val="3560583884"/>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Typical Banking Transaction</a:t>
            </a:r>
          </a:p>
        </p:txBody>
      </p:sp>
      <p:sp>
        <p:nvSpPr>
          <p:cNvPr id="3" name="Content Placeholder 2"/>
          <p:cNvSpPr>
            <a:spLocks noGrp="1"/>
          </p:cNvSpPr>
          <p:nvPr>
            <p:ph idx="1"/>
          </p:nvPr>
        </p:nvSpPr>
        <p:spPr/>
        <p:txBody>
          <a:bodyPr>
            <a:normAutofit fontScale="92500" lnSpcReduction="10000"/>
          </a:bodyPr>
          <a:lstStyle/>
          <a:p>
            <a:r>
              <a:rPr lang="en-US" dirty="0">
                <a:solidFill>
                  <a:srgbClr val="000000"/>
                </a:solidFill>
              </a:rPr>
              <a:t>Begin Transaction</a:t>
            </a:r>
          </a:p>
          <a:p>
            <a:pPr lvl="1"/>
            <a:r>
              <a:rPr lang="en-US" dirty="0">
                <a:solidFill>
                  <a:srgbClr val="000000"/>
                </a:solidFill>
              </a:rPr>
              <a:t>Get account record</a:t>
            </a:r>
          </a:p>
          <a:p>
            <a:pPr lvl="1"/>
            <a:r>
              <a:rPr lang="en-US" dirty="0">
                <a:solidFill>
                  <a:srgbClr val="000000"/>
                </a:solidFill>
              </a:rPr>
              <a:t>Update account record</a:t>
            </a:r>
          </a:p>
          <a:p>
            <a:r>
              <a:rPr lang="en-US" dirty="0">
                <a:solidFill>
                  <a:srgbClr val="000000"/>
                </a:solidFill>
              </a:rPr>
              <a:t>Commit</a:t>
            </a:r>
          </a:p>
          <a:p>
            <a:endParaRPr lang="en-US" dirty="0">
              <a:solidFill>
                <a:srgbClr val="000000"/>
              </a:solidFill>
            </a:endParaRPr>
          </a:p>
          <a:p>
            <a:r>
              <a:rPr lang="en-US" dirty="0">
                <a:solidFill>
                  <a:srgbClr val="000000"/>
                </a:solidFill>
              </a:rPr>
              <a:t>Is this all?</a:t>
            </a:r>
          </a:p>
          <a:p>
            <a:pPr lvl="1"/>
            <a:r>
              <a:rPr lang="en-US" dirty="0">
                <a:solidFill>
                  <a:srgbClr val="000000"/>
                </a:solidFill>
              </a:rPr>
              <a:t>Where is the interaction with the end user?</a:t>
            </a:r>
          </a:p>
          <a:p>
            <a:pPr lvl="1"/>
            <a:r>
              <a:rPr lang="en-US" dirty="0">
                <a:solidFill>
                  <a:srgbClr val="000000"/>
                </a:solidFill>
              </a:rPr>
              <a:t>How about the application Journal?</a:t>
            </a:r>
          </a:p>
          <a:p>
            <a:pPr lvl="1"/>
            <a:r>
              <a:rPr lang="en-US" dirty="0">
                <a:solidFill>
                  <a:srgbClr val="000000"/>
                </a:solidFill>
              </a:rPr>
              <a:t>How about the teller information? User interactions went through bank agents or ATMs</a:t>
            </a:r>
          </a:p>
          <a:p>
            <a:pPr lvl="1"/>
            <a:r>
              <a:rPr lang="en-US" dirty="0">
                <a:solidFill>
                  <a:srgbClr val="000000"/>
                </a:solidFill>
              </a:rPr>
              <a:t>How about online business statistics?</a:t>
            </a:r>
          </a:p>
          <a:p>
            <a:r>
              <a:rPr lang="en-US" dirty="0">
                <a:solidFill>
                  <a:srgbClr val="000000"/>
                </a:solidFill>
              </a:rPr>
              <a:t>We need to add functionality</a:t>
            </a:r>
          </a:p>
          <a:p>
            <a:pPr lvl="1"/>
            <a:endParaRPr lang="en-US" dirty="0">
              <a:solidFill>
                <a:srgbClr val="000000"/>
              </a:solidFill>
            </a:endParaRP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8</a:t>
            </a:fld>
            <a:endParaRPr lang="en-US"/>
          </a:p>
        </p:txBody>
      </p:sp>
    </p:spTree>
    <p:extLst>
      <p:ext uri="{BB962C8B-B14F-4D97-AF65-F5344CB8AC3E}">
        <p14:creationId xmlns:p14="http://schemas.microsoft.com/office/powerpoint/2010/main" val="4178747302"/>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 </a:t>
            </a:r>
            <a:r>
              <a:rPr lang="en-US" dirty="0"/>
              <a:t>More Realistic Banking Transaction </a:t>
            </a:r>
          </a:p>
        </p:txBody>
      </p:sp>
      <p:sp>
        <p:nvSpPr>
          <p:cNvPr id="3" name="Content Placeholder 2"/>
          <p:cNvSpPr>
            <a:spLocks noGrp="1"/>
          </p:cNvSpPr>
          <p:nvPr>
            <p:ph idx="1"/>
          </p:nvPr>
        </p:nvSpPr>
        <p:spPr/>
        <p:txBody>
          <a:bodyPr>
            <a:normAutofit fontScale="70000" lnSpcReduction="20000"/>
          </a:bodyPr>
          <a:lstStyle/>
          <a:p>
            <a:r>
              <a:rPr lang="en-US" dirty="0">
                <a:solidFill>
                  <a:srgbClr val="92D050"/>
                </a:solidFill>
              </a:rPr>
              <a:t>Get next message </a:t>
            </a:r>
            <a:r>
              <a:rPr lang="en-US" dirty="0">
                <a:solidFill>
                  <a:srgbClr val="000000"/>
                </a:solidFill>
              </a:rPr>
              <a:t>– includes begin transaction – provides transactional 					messaging support</a:t>
            </a:r>
          </a:p>
          <a:p>
            <a:pPr lvl="1"/>
            <a:r>
              <a:rPr lang="en-US" dirty="0"/>
              <a:t>Get account record</a:t>
            </a:r>
          </a:p>
          <a:p>
            <a:pPr lvl="1"/>
            <a:r>
              <a:rPr lang="en-US" dirty="0"/>
              <a:t>Update account record</a:t>
            </a:r>
          </a:p>
          <a:p>
            <a:pPr lvl="1"/>
            <a:r>
              <a:rPr lang="en-US" dirty="0">
                <a:solidFill>
                  <a:srgbClr val="FF0000"/>
                </a:solidFill>
              </a:rPr>
              <a:t>Update online statistics </a:t>
            </a:r>
            <a:r>
              <a:rPr lang="en-US" dirty="0">
                <a:solidFill>
                  <a:srgbClr val="000000"/>
                </a:solidFill>
              </a:rPr>
              <a:t>– this creates update hot-spots</a:t>
            </a:r>
          </a:p>
          <a:p>
            <a:pPr lvl="1"/>
            <a:r>
              <a:rPr lang="en-US" dirty="0">
                <a:solidFill>
                  <a:srgbClr val="FF0000"/>
                </a:solidFill>
              </a:rPr>
              <a:t>Update terminal information </a:t>
            </a:r>
            <a:r>
              <a:rPr lang="en-US" dirty="0">
                <a:solidFill>
                  <a:srgbClr val="000000"/>
                </a:solidFill>
              </a:rPr>
              <a:t>– creates additional I/O</a:t>
            </a:r>
          </a:p>
          <a:p>
            <a:pPr lvl="1"/>
            <a:r>
              <a:rPr lang="en-US" dirty="0">
                <a:solidFill>
                  <a:srgbClr val="FF0000"/>
                </a:solidFill>
              </a:rPr>
              <a:t>Create application journal entry </a:t>
            </a:r>
            <a:r>
              <a:rPr lang="en-US" dirty="0">
                <a:solidFill>
                  <a:srgbClr val="000000"/>
                </a:solidFill>
              </a:rPr>
              <a:t>– creates ingest hotspot</a:t>
            </a:r>
            <a:endParaRPr lang="en-US" dirty="0">
              <a:solidFill>
                <a:srgbClr val="FF0000"/>
              </a:solidFill>
            </a:endParaRPr>
          </a:p>
          <a:p>
            <a:pPr lvl="1"/>
            <a:r>
              <a:rPr lang="en-US" dirty="0">
                <a:solidFill>
                  <a:srgbClr val="92D050"/>
                </a:solidFill>
              </a:rPr>
              <a:t>Post response </a:t>
            </a:r>
            <a:r>
              <a:rPr lang="en-US" dirty="0">
                <a:solidFill>
                  <a:srgbClr val="000000"/>
                </a:solidFill>
              </a:rPr>
              <a:t>– the message will only be delivered after the transaction is complete and becomes recoverable</a:t>
            </a:r>
          </a:p>
          <a:p>
            <a:r>
              <a:rPr lang="en-US" dirty="0">
                <a:solidFill>
                  <a:srgbClr val="000000"/>
                </a:solidFill>
              </a:rPr>
              <a:t>Commit</a:t>
            </a:r>
          </a:p>
          <a:p>
            <a:endParaRPr lang="en-US" dirty="0">
              <a:solidFill>
                <a:srgbClr val="00B050"/>
              </a:solidFill>
            </a:endParaRPr>
          </a:p>
          <a:p>
            <a:r>
              <a:rPr lang="en-US" b="1" dirty="0">
                <a:solidFill>
                  <a:srgbClr val="000000"/>
                </a:solidFill>
              </a:rPr>
              <a:t>Within IBM this transaction was called TP/1; TPC A/B is a significantly watered down version of TP/1</a:t>
            </a:r>
          </a:p>
          <a:p>
            <a:endParaRPr lang="en-US" b="1" dirty="0">
              <a:solidFill>
                <a:srgbClr val="000000"/>
              </a:solidFill>
            </a:endParaRPr>
          </a:p>
          <a:p>
            <a:r>
              <a:rPr lang="en-US" dirty="0">
                <a:solidFill>
                  <a:srgbClr val="00B050"/>
                </a:solidFill>
              </a:rPr>
              <a:t>The DB needed to support hot-spots; Get/Put was not making it</a:t>
            </a:r>
          </a:p>
          <a:p>
            <a:r>
              <a:rPr lang="en-US" dirty="0">
                <a:solidFill>
                  <a:srgbClr val="00B050"/>
                </a:solidFill>
              </a:rPr>
              <a:t>Messages needed to be objects with transactional protection; Client/server technology falls short</a:t>
            </a: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9</a:t>
            </a:fld>
            <a:endParaRPr lang="en-US"/>
          </a:p>
        </p:txBody>
      </p:sp>
    </p:spTree>
    <p:extLst>
      <p:ext uri="{BB962C8B-B14F-4D97-AF65-F5344CB8AC3E}">
        <p14:creationId xmlns:p14="http://schemas.microsoft.com/office/powerpoint/2010/main" val="78564714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and Lesson Learned</a:t>
            </a:r>
          </a:p>
        </p:txBody>
      </p:sp>
      <p:sp>
        <p:nvSpPr>
          <p:cNvPr id="3" name="Content Placeholder 2"/>
          <p:cNvSpPr>
            <a:spLocks noGrp="1"/>
          </p:cNvSpPr>
          <p:nvPr>
            <p:ph idx="1"/>
          </p:nvPr>
        </p:nvSpPr>
        <p:spPr/>
        <p:txBody>
          <a:bodyPr>
            <a:normAutofit fontScale="77500" lnSpcReduction="20000"/>
          </a:bodyPr>
          <a:lstStyle/>
          <a:p>
            <a:r>
              <a:rPr lang="en-US" dirty="0">
                <a:solidFill>
                  <a:srgbClr val="000000"/>
                </a:solidFill>
              </a:rPr>
              <a:t>Selected implementation details:</a:t>
            </a:r>
          </a:p>
          <a:p>
            <a:pPr marL="273050" lvl="1" indent="0">
              <a:buNone/>
            </a:pPr>
            <a:r>
              <a:rPr lang="en-US" i="1" dirty="0">
                <a:solidFill>
                  <a:srgbClr val="000000"/>
                </a:solidFill>
              </a:rPr>
              <a:t>Dieter Gawlick, David Kinkade: </a:t>
            </a:r>
            <a:r>
              <a:rPr lang="en-US" b="1" i="1" dirty="0">
                <a:solidFill>
                  <a:srgbClr val="000000"/>
                </a:solidFill>
              </a:rPr>
              <a:t>Varieties of Concurrency Control in IMS/VS Fast Path</a:t>
            </a:r>
            <a:r>
              <a:rPr lang="en-US" i="1" dirty="0">
                <a:solidFill>
                  <a:srgbClr val="000000"/>
                </a:solidFill>
              </a:rPr>
              <a:t>. IEEE Database Eng. Bull. 8(2): 3-10 (1985)</a:t>
            </a:r>
          </a:p>
          <a:p>
            <a:pPr marL="273050" lvl="1" indent="0">
              <a:buNone/>
            </a:pPr>
            <a:r>
              <a:rPr lang="en-US" dirty="0">
                <a:solidFill>
                  <a:srgbClr val="000000"/>
                </a:solidFill>
              </a:rPr>
              <a:t>or contact me</a:t>
            </a:r>
          </a:p>
          <a:p>
            <a:pPr marL="273050" lvl="1" indent="0">
              <a:buNone/>
            </a:pPr>
            <a:endParaRPr lang="en-US" dirty="0">
              <a:solidFill>
                <a:srgbClr val="000000"/>
              </a:solidFill>
            </a:endParaRPr>
          </a:p>
          <a:p>
            <a:r>
              <a:rPr lang="en-US" dirty="0">
                <a:solidFill>
                  <a:srgbClr val="000000"/>
                </a:solidFill>
              </a:rPr>
              <a:t>Innovations/principles:</a:t>
            </a:r>
          </a:p>
          <a:p>
            <a:pPr lvl="1"/>
            <a:r>
              <a:rPr lang="en-US" dirty="0">
                <a:solidFill>
                  <a:srgbClr val="000000"/>
                </a:solidFill>
              </a:rPr>
              <a:t>2-phase commit even if a single journal is used – this is a consequence of managing hot spot</a:t>
            </a:r>
          </a:p>
          <a:p>
            <a:pPr lvl="1"/>
            <a:r>
              <a:rPr lang="en-US" dirty="0">
                <a:solidFill>
                  <a:srgbClr val="000000"/>
                </a:solidFill>
              </a:rPr>
              <a:t>Group commit and fast commit – </a:t>
            </a:r>
            <a:r>
              <a:rPr lang="en-US" i="1" dirty="0">
                <a:solidFill>
                  <a:srgbClr val="000000"/>
                </a:solidFill>
              </a:rPr>
              <a:t>group commit was highly objected to by the OLTP community</a:t>
            </a:r>
          </a:p>
          <a:p>
            <a:pPr lvl="1"/>
            <a:r>
              <a:rPr lang="en-US" dirty="0">
                <a:solidFill>
                  <a:srgbClr val="000000"/>
                </a:solidFill>
              </a:rPr>
              <a:t>Escrow (optimistic)</a:t>
            </a:r>
          </a:p>
          <a:p>
            <a:pPr lvl="1"/>
            <a:r>
              <a:rPr lang="en-US" dirty="0">
                <a:solidFill>
                  <a:srgbClr val="000000"/>
                </a:solidFill>
              </a:rPr>
              <a:t>Manage messages like (valuable) database records complemented by exactly once, recoverable communication with external devices</a:t>
            </a:r>
          </a:p>
          <a:p>
            <a:pPr lvl="1"/>
            <a:r>
              <a:rPr lang="en-US" dirty="0">
                <a:solidFill>
                  <a:srgbClr val="000000"/>
                </a:solidFill>
              </a:rPr>
              <a:t>Checking conflict potential for fast and flexible resource management; locking is to slow  </a:t>
            </a:r>
          </a:p>
          <a:p>
            <a:pPr lvl="1"/>
            <a:r>
              <a:rPr lang="en-US" dirty="0">
                <a:solidFill>
                  <a:srgbClr val="000000"/>
                </a:solidFill>
              </a:rPr>
              <a:t>Apply bunching as much as possible – </a:t>
            </a:r>
            <a:r>
              <a:rPr lang="en-US" dirty="0">
                <a:solidFill>
                  <a:srgbClr val="FF0000"/>
                </a:solidFill>
              </a:rPr>
              <a:t>the system improves under stress</a:t>
            </a:r>
          </a:p>
          <a:p>
            <a:pPr lvl="1"/>
            <a:r>
              <a:rPr lang="en-US" dirty="0">
                <a:solidFill>
                  <a:srgbClr val="000000"/>
                </a:solidFill>
              </a:rPr>
              <a:t>Minimize OS/HW resources by treating DB as trusted program – use ultra-light process structure</a:t>
            </a:r>
          </a:p>
          <a:p>
            <a:pPr lvl="1"/>
            <a:r>
              <a:rPr lang="en-US" dirty="0">
                <a:solidFill>
                  <a:srgbClr val="000000"/>
                </a:solidFill>
              </a:rPr>
              <a:t>… And more</a:t>
            </a:r>
          </a:p>
          <a:p>
            <a:pPr lvl="1"/>
            <a:endParaRPr lang="en-US" dirty="0">
              <a:solidFill>
                <a:srgbClr val="000000"/>
              </a:solidFill>
            </a:endParaRPr>
          </a:p>
          <a:p>
            <a:pPr marL="273050" lvl="1" indent="0">
              <a:buNone/>
            </a:pPr>
            <a:endParaRPr lang="en-US" dirty="0">
              <a:solidFill>
                <a:srgbClr val="000000"/>
              </a:solidFill>
            </a:endParaRPr>
          </a:p>
          <a:p>
            <a:pPr marL="273050" lvl="1" indent="0">
              <a:buNone/>
            </a:pPr>
            <a:endParaRPr lang="en-US" dirty="0">
              <a:solidFill>
                <a:srgbClr val="000000"/>
              </a:solidFill>
            </a:endParaRPr>
          </a:p>
          <a:p>
            <a:endParaRPr lang="en-US" dirty="0">
              <a:solidFill>
                <a:srgbClr val="000000"/>
              </a:solidFill>
            </a:endParaRP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10</a:t>
            </a:fld>
            <a:endParaRPr lang="en-US"/>
          </a:p>
        </p:txBody>
      </p:sp>
    </p:spTree>
    <p:extLst>
      <p:ext uri="{BB962C8B-B14F-4D97-AF65-F5344CB8AC3E}">
        <p14:creationId xmlns:p14="http://schemas.microsoft.com/office/powerpoint/2010/main" val="329229184"/>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and Lesson Learned</a:t>
            </a:r>
          </a:p>
        </p:txBody>
      </p:sp>
      <p:sp>
        <p:nvSpPr>
          <p:cNvPr id="3" name="Content Placeholder 2"/>
          <p:cNvSpPr>
            <a:spLocks noGrp="1"/>
          </p:cNvSpPr>
          <p:nvPr>
            <p:ph idx="1"/>
          </p:nvPr>
        </p:nvSpPr>
        <p:spPr/>
        <p:txBody>
          <a:bodyPr>
            <a:normAutofit/>
          </a:bodyPr>
          <a:lstStyle/>
          <a:p>
            <a:r>
              <a:rPr lang="en-US" dirty="0">
                <a:solidFill>
                  <a:srgbClr val="000000"/>
                </a:solidFill>
              </a:rPr>
              <a:t>The outcome</a:t>
            </a:r>
          </a:p>
          <a:p>
            <a:pPr lvl="1"/>
            <a:r>
              <a:rPr lang="en-US" dirty="0">
                <a:solidFill>
                  <a:srgbClr val="000000"/>
                </a:solidFill>
              </a:rPr>
              <a:t> IMS needed 120K instructions to execute TP/1 </a:t>
            </a:r>
            <a:r>
              <a:rPr lang="en-US" b="1" dirty="0">
                <a:solidFill>
                  <a:srgbClr val="000000"/>
                </a:solidFill>
              </a:rPr>
              <a:t>minus hot-spots</a:t>
            </a:r>
          </a:p>
          <a:p>
            <a:pPr lvl="2"/>
            <a:r>
              <a:rPr lang="en-US" dirty="0">
                <a:solidFill>
                  <a:srgbClr val="000000"/>
                </a:solidFill>
              </a:rPr>
              <a:t>60 K instructions for IMS processing</a:t>
            </a:r>
          </a:p>
          <a:p>
            <a:pPr lvl="2"/>
            <a:r>
              <a:rPr lang="en-US" dirty="0">
                <a:solidFill>
                  <a:srgbClr val="000000"/>
                </a:solidFill>
              </a:rPr>
              <a:t>60 K instructions for OS processing</a:t>
            </a:r>
          </a:p>
          <a:p>
            <a:pPr lvl="1"/>
            <a:r>
              <a:rPr lang="en-US" dirty="0">
                <a:solidFill>
                  <a:srgbClr val="000000"/>
                </a:solidFill>
              </a:rPr>
              <a:t>IMS/FP needed about 35 K instructions to execute </a:t>
            </a:r>
            <a:r>
              <a:rPr lang="en-US" b="1" dirty="0">
                <a:solidFill>
                  <a:srgbClr val="000000"/>
                </a:solidFill>
              </a:rPr>
              <a:t>full</a:t>
            </a:r>
            <a:r>
              <a:rPr lang="en-US" dirty="0">
                <a:solidFill>
                  <a:srgbClr val="000000"/>
                </a:solidFill>
              </a:rPr>
              <a:t> TP/1</a:t>
            </a:r>
          </a:p>
          <a:p>
            <a:pPr lvl="2"/>
            <a:r>
              <a:rPr lang="en-US" dirty="0">
                <a:solidFill>
                  <a:srgbClr val="000000"/>
                </a:solidFill>
              </a:rPr>
              <a:t>5 K instructions for IMS/FP processing</a:t>
            </a:r>
          </a:p>
          <a:p>
            <a:pPr lvl="2"/>
            <a:r>
              <a:rPr lang="en-US" dirty="0">
                <a:solidFill>
                  <a:srgbClr val="000000"/>
                </a:solidFill>
              </a:rPr>
              <a:t>30 K instructions for OS processing</a:t>
            </a:r>
          </a:p>
          <a:p>
            <a:pPr lvl="2"/>
            <a:endParaRPr lang="en-US" dirty="0">
              <a:solidFill>
                <a:srgbClr val="000000"/>
              </a:solidFill>
            </a:endParaRPr>
          </a:p>
          <a:p>
            <a:r>
              <a:rPr lang="en-US" dirty="0">
                <a:solidFill>
                  <a:srgbClr val="000000"/>
                </a:solidFill>
              </a:rPr>
              <a:t>IMS/FP:</a:t>
            </a:r>
          </a:p>
          <a:p>
            <a:pPr lvl="1"/>
            <a:r>
              <a:rPr lang="en-US" dirty="0">
                <a:solidFill>
                  <a:srgbClr val="000000"/>
                </a:solidFill>
              </a:rPr>
              <a:t>Reduced the CPU consumption significantly</a:t>
            </a:r>
          </a:p>
          <a:p>
            <a:pPr lvl="1"/>
            <a:r>
              <a:rPr lang="en-US" dirty="0">
                <a:solidFill>
                  <a:srgbClr val="000000"/>
                </a:solidFill>
              </a:rPr>
              <a:t>Reduced the response time with stable response times well into the 90% load</a:t>
            </a:r>
          </a:p>
          <a:p>
            <a:pPr marL="547687" lvl="2" indent="0">
              <a:buNone/>
            </a:pPr>
            <a:endParaRPr lang="en-US" dirty="0">
              <a:solidFill>
                <a:srgbClr val="000000"/>
              </a:solidFill>
            </a:endParaRPr>
          </a:p>
          <a:p>
            <a:pPr lvl="2"/>
            <a:endParaRPr lang="en-US" dirty="0">
              <a:solidFill>
                <a:srgbClr val="000000"/>
              </a:solidFill>
            </a:endParaRPr>
          </a:p>
          <a:p>
            <a:pPr lvl="2"/>
            <a:endParaRPr lang="en-US" dirty="0">
              <a:solidFill>
                <a:srgbClr val="000000"/>
              </a:solidFill>
            </a:endParaRPr>
          </a:p>
          <a:p>
            <a:pPr marL="273050" lvl="1" indent="0">
              <a:buNone/>
            </a:pPr>
            <a:endParaRPr lang="en-US" dirty="0">
              <a:solidFill>
                <a:srgbClr val="000000"/>
              </a:solidFill>
            </a:endParaRPr>
          </a:p>
          <a:p>
            <a:pPr marL="273050" lvl="1" indent="0">
              <a:buNone/>
            </a:pPr>
            <a:endParaRPr lang="en-US" dirty="0">
              <a:solidFill>
                <a:srgbClr val="000000"/>
              </a:solidFill>
            </a:endParaRPr>
          </a:p>
          <a:p>
            <a:endParaRPr lang="en-US" dirty="0">
              <a:solidFill>
                <a:srgbClr val="000000"/>
              </a:solidFill>
            </a:endParaRP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11</a:t>
            </a:fld>
            <a:endParaRPr lang="en-US"/>
          </a:p>
        </p:txBody>
      </p:sp>
    </p:spTree>
    <p:extLst>
      <p:ext uri="{BB962C8B-B14F-4D97-AF65-F5344CB8AC3E}">
        <p14:creationId xmlns:p14="http://schemas.microsoft.com/office/powerpoint/2010/main" val="414681756"/>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Dealing with System Failures</a:t>
            </a:r>
          </a:p>
        </p:txBody>
      </p:sp>
      <p:sp>
        <p:nvSpPr>
          <p:cNvPr id="3" name="Content Placeholder 2"/>
          <p:cNvSpPr>
            <a:spLocks noGrp="1"/>
          </p:cNvSpPr>
          <p:nvPr>
            <p:ph idx="1"/>
          </p:nvPr>
        </p:nvSpPr>
        <p:spPr/>
        <p:txBody>
          <a:bodyPr>
            <a:normAutofit fontScale="70000" lnSpcReduction="20000"/>
          </a:bodyPr>
          <a:lstStyle/>
          <a:p>
            <a:r>
              <a:rPr lang="en-US" dirty="0">
                <a:solidFill>
                  <a:srgbClr val="000000"/>
                </a:solidFill>
              </a:rPr>
              <a:t>The classical solutions</a:t>
            </a:r>
          </a:p>
          <a:p>
            <a:pPr lvl="1"/>
            <a:r>
              <a:rPr lang="en-US" dirty="0">
                <a:solidFill>
                  <a:srgbClr val="000000"/>
                </a:solidFill>
              </a:rPr>
              <a:t>Have another system doing the same job</a:t>
            </a:r>
          </a:p>
          <a:p>
            <a:pPr lvl="1"/>
            <a:r>
              <a:rPr lang="en-US" dirty="0">
                <a:solidFill>
                  <a:srgbClr val="000000"/>
                </a:solidFill>
              </a:rPr>
              <a:t>Restart after failure </a:t>
            </a:r>
          </a:p>
          <a:p>
            <a:pPr lvl="1"/>
            <a:r>
              <a:rPr lang="en-US" dirty="0">
                <a:solidFill>
                  <a:srgbClr val="000000"/>
                </a:solidFill>
              </a:rPr>
              <a:t>These solution are too time and resource consuming</a:t>
            </a:r>
          </a:p>
          <a:p>
            <a:pPr lvl="1"/>
            <a:r>
              <a:rPr lang="en-US">
                <a:solidFill>
                  <a:srgbClr val="000000"/>
                </a:solidFill>
              </a:rPr>
              <a:t>Too long </a:t>
            </a:r>
            <a:r>
              <a:rPr lang="en-US" dirty="0">
                <a:solidFill>
                  <a:srgbClr val="000000"/>
                </a:solidFill>
              </a:rPr>
              <a:t>MTTR</a:t>
            </a:r>
          </a:p>
          <a:p>
            <a:r>
              <a:rPr lang="en-US" dirty="0">
                <a:solidFill>
                  <a:srgbClr val="000000"/>
                </a:solidFill>
              </a:rPr>
              <a:t>The alternative – XRF (Extended Restart Facility):</a:t>
            </a:r>
          </a:p>
          <a:p>
            <a:pPr lvl="1"/>
            <a:r>
              <a:rPr lang="en-US" dirty="0">
                <a:solidFill>
                  <a:srgbClr val="000000"/>
                </a:solidFill>
              </a:rPr>
              <a:t>Start ‘Back-up’ system while ‘active’ system is still running</a:t>
            </a:r>
          </a:p>
          <a:p>
            <a:pPr lvl="1"/>
            <a:r>
              <a:rPr lang="en-US" dirty="0">
                <a:solidFill>
                  <a:srgbClr val="000000"/>
                </a:solidFill>
              </a:rPr>
              <a:t>Make sure that back-up has all the context; i.e., all the control infra structure for DBs, files, end-users, programs, currently locked resources by following the journal</a:t>
            </a:r>
          </a:p>
          <a:p>
            <a:pPr lvl="1"/>
            <a:r>
              <a:rPr lang="en-US" dirty="0">
                <a:solidFill>
                  <a:srgbClr val="000000"/>
                </a:solidFill>
              </a:rPr>
              <a:t>This requires &lt;5% of resources of active system</a:t>
            </a:r>
          </a:p>
          <a:p>
            <a:pPr lvl="1"/>
            <a:r>
              <a:rPr lang="en-US" dirty="0">
                <a:solidFill>
                  <a:srgbClr val="000000"/>
                </a:solidFill>
              </a:rPr>
              <a:t>When active system fails, read rest of journal and go! </a:t>
            </a:r>
          </a:p>
          <a:p>
            <a:pPr lvl="1"/>
            <a:r>
              <a:rPr lang="en-US" b="1" dirty="0">
                <a:solidFill>
                  <a:srgbClr val="FF0000"/>
                </a:solidFill>
              </a:rPr>
              <a:t>Database cleanup can be delayed </a:t>
            </a:r>
            <a:r>
              <a:rPr lang="en-US" dirty="0">
                <a:solidFill>
                  <a:srgbClr val="FF0000"/>
                </a:solidFill>
              </a:rPr>
              <a:t>– on demand or in background</a:t>
            </a:r>
          </a:p>
          <a:p>
            <a:pPr lvl="1"/>
            <a:r>
              <a:rPr lang="en-US" dirty="0">
                <a:solidFill>
                  <a:srgbClr val="FF0000"/>
                </a:solidFill>
              </a:rPr>
              <a:t>Restart was reduced from hours to &lt; 30 seconds</a:t>
            </a:r>
          </a:p>
          <a:p>
            <a:pPr lvl="1"/>
            <a:r>
              <a:rPr lang="en-US" dirty="0">
                <a:solidFill>
                  <a:srgbClr val="FF0000"/>
                </a:solidFill>
              </a:rPr>
              <a:t>There was no user/programmer awareness – everything was working as if there was no error</a:t>
            </a:r>
          </a:p>
          <a:p>
            <a:pPr lvl="1"/>
            <a:r>
              <a:rPr lang="en-US" dirty="0">
                <a:solidFill>
                  <a:srgbClr val="FF0000"/>
                </a:solidFill>
              </a:rPr>
              <a:t>Uninterrupted services lasting &gt; 6 years was achieved in the 1990’s</a:t>
            </a:r>
          </a:p>
          <a:p>
            <a:pPr lvl="1"/>
            <a:endParaRPr lang="en-US" dirty="0">
              <a:solidFill>
                <a:srgbClr val="000000"/>
              </a:solidFill>
            </a:endParaRP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12</a:t>
            </a:fld>
            <a:endParaRPr lang="en-US"/>
          </a:p>
        </p:txBody>
      </p:sp>
    </p:spTree>
    <p:extLst>
      <p:ext uri="{BB962C8B-B14F-4D97-AF65-F5344CB8AC3E}">
        <p14:creationId xmlns:p14="http://schemas.microsoft.com/office/powerpoint/2010/main" val="2216731928"/>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Optimization</a:t>
            </a:r>
          </a:p>
        </p:txBody>
      </p:sp>
      <p:sp>
        <p:nvSpPr>
          <p:cNvPr id="3" name="Content Placeholder 2"/>
          <p:cNvSpPr>
            <a:spLocks noGrp="1"/>
          </p:cNvSpPr>
          <p:nvPr>
            <p:ph idx="1"/>
          </p:nvPr>
        </p:nvSpPr>
        <p:spPr/>
        <p:txBody>
          <a:bodyPr>
            <a:normAutofit fontScale="92500" lnSpcReduction="20000"/>
          </a:bodyPr>
          <a:lstStyle/>
          <a:p>
            <a:r>
              <a:rPr lang="en-US" dirty="0">
                <a:solidFill>
                  <a:srgbClr val="000000"/>
                </a:solidFill>
              </a:rPr>
              <a:t>LWA - Log Write Ahead Data Set – IBM, ca 1982</a:t>
            </a:r>
          </a:p>
          <a:p>
            <a:pPr lvl="1"/>
            <a:r>
              <a:rPr lang="en-US" dirty="0">
                <a:solidFill>
                  <a:srgbClr val="000000"/>
                </a:solidFill>
              </a:rPr>
              <a:t>Journals have two very distinct operational requirements</a:t>
            </a:r>
          </a:p>
          <a:p>
            <a:pPr lvl="2"/>
            <a:r>
              <a:rPr lang="en-US" dirty="0">
                <a:solidFill>
                  <a:srgbClr val="000000"/>
                </a:solidFill>
              </a:rPr>
              <a:t>Very Low latency for the head</a:t>
            </a:r>
          </a:p>
          <a:p>
            <a:pPr lvl="2"/>
            <a:r>
              <a:rPr lang="en-US" dirty="0">
                <a:solidFill>
                  <a:srgbClr val="000000"/>
                </a:solidFill>
              </a:rPr>
              <a:t>High compaction and fast sequential access for the rest</a:t>
            </a:r>
          </a:p>
          <a:p>
            <a:pPr lvl="1"/>
            <a:r>
              <a:rPr lang="en-US" dirty="0">
                <a:solidFill>
                  <a:srgbClr val="000000"/>
                </a:solidFill>
              </a:rPr>
              <a:t>The solution</a:t>
            </a:r>
          </a:p>
          <a:p>
            <a:pPr lvl="2"/>
            <a:r>
              <a:rPr lang="en-US" dirty="0">
                <a:solidFill>
                  <a:srgbClr val="000000"/>
                </a:solidFill>
              </a:rPr>
              <a:t>Map journal head to an LWA</a:t>
            </a:r>
          </a:p>
          <a:p>
            <a:pPr lvl="2"/>
            <a:r>
              <a:rPr lang="en-US" dirty="0">
                <a:solidFill>
                  <a:srgbClr val="000000"/>
                </a:solidFill>
              </a:rPr>
              <a:t>LWA’s virtually removes latency by writing data to the tracks of one cylinder and the normal journal in the background as usual</a:t>
            </a:r>
          </a:p>
          <a:p>
            <a:pPr lvl="2"/>
            <a:r>
              <a:rPr lang="en-US" dirty="0">
                <a:solidFill>
                  <a:srgbClr val="000000"/>
                </a:solidFill>
              </a:rPr>
              <a:t>LWA’s are only read in case of system failure</a:t>
            </a:r>
          </a:p>
          <a:p>
            <a:pPr lvl="1"/>
            <a:r>
              <a:rPr lang="en-US" dirty="0">
                <a:solidFill>
                  <a:srgbClr val="000000"/>
                </a:solidFill>
              </a:rPr>
              <a:t>On average the latency was reduced from 30 </a:t>
            </a:r>
            <a:r>
              <a:rPr lang="en-US" dirty="0" err="1">
                <a:solidFill>
                  <a:srgbClr val="000000"/>
                </a:solidFill>
              </a:rPr>
              <a:t>ms</a:t>
            </a:r>
            <a:r>
              <a:rPr lang="en-US" dirty="0">
                <a:solidFill>
                  <a:srgbClr val="000000"/>
                </a:solidFill>
              </a:rPr>
              <a:t> to 1 </a:t>
            </a:r>
            <a:r>
              <a:rPr lang="en-US" dirty="0" err="1">
                <a:solidFill>
                  <a:srgbClr val="000000"/>
                </a:solidFill>
              </a:rPr>
              <a:t>ms</a:t>
            </a:r>
            <a:endParaRPr lang="en-US" dirty="0">
              <a:solidFill>
                <a:srgbClr val="000000"/>
              </a:solidFill>
            </a:endParaRPr>
          </a:p>
          <a:p>
            <a:pPr lvl="1"/>
            <a:r>
              <a:rPr lang="en-US" dirty="0">
                <a:solidFill>
                  <a:srgbClr val="000000"/>
                </a:solidFill>
              </a:rPr>
              <a:t>Expired patent with Jim Gray and Ron Overmark – the first for all of us</a:t>
            </a:r>
          </a:p>
          <a:p>
            <a:r>
              <a:rPr lang="en-US" dirty="0">
                <a:solidFill>
                  <a:srgbClr val="FF0000"/>
                </a:solidFill>
              </a:rPr>
              <a:t>LSM – Log Structured Merge Tree </a:t>
            </a:r>
            <a:r>
              <a:rPr lang="en-US" dirty="0">
                <a:solidFill>
                  <a:srgbClr val="000000"/>
                </a:solidFill>
              </a:rPr>
              <a:t>– Digital, ca 1993</a:t>
            </a:r>
          </a:p>
          <a:p>
            <a:pPr lvl="1"/>
            <a:r>
              <a:rPr lang="en-US" dirty="0">
                <a:solidFill>
                  <a:srgbClr val="000000"/>
                </a:solidFill>
              </a:rPr>
              <a:t>LWA is a precursor of this technology</a:t>
            </a:r>
          </a:p>
          <a:p>
            <a:pPr lvl="1"/>
            <a:r>
              <a:rPr lang="en-US" dirty="0">
                <a:solidFill>
                  <a:srgbClr val="000000"/>
                </a:solidFill>
              </a:rPr>
              <a:t>LSM is well known, the paper is 30 years old and still frequently cited</a:t>
            </a: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13</a:t>
            </a:fld>
            <a:endParaRPr lang="en-US"/>
          </a:p>
        </p:txBody>
      </p:sp>
    </p:spTree>
    <p:extLst>
      <p:ext uri="{BB962C8B-B14F-4D97-AF65-F5344CB8AC3E}">
        <p14:creationId xmlns:p14="http://schemas.microsoft.com/office/powerpoint/2010/main" val="1232459602"/>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Optimization - Continuation</a:t>
            </a:r>
          </a:p>
        </p:txBody>
      </p:sp>
      <p:sp>
        <p:nvSpPr>
          <p:cNvPr id="3" name="Content Placeholder 2"/>
          <p:cNvSpPr>
            <a:spLocks noGrp="1"/>
          </p:cNvSpPr>
          <p:nvPr>
            <p:ph idx="1"/>
          </p:nvPr>
        </p:nvSpPr>
        <p:spPr/>
        <p:txBody>
          <a:bodyPr>
            <a:normAutofit fontScale="92500" lnSpcReduction="20000"/>
          </a:bodyPr>
          <a:lstStyle/>
          <a:p>
            <a:r>
              <a:rPr lang="en-US" dirty="0">
                <a:solidFill>
                  <a:srgbClr val="000000"/>
                </a:solidFill>
              </a:rPr>
              <a:t>RAID5 – the Amdahl work - 1988</a:t>
            </a:r>
          </a:p>
          <a:p>
            <a:pPr lvl="1"/>
            <a:r>
              <a:rPr lang="en-US" dirty="0">
                <a:solidFill>
                  <a:srgbClr val="000000"/>
                </a:solidFill>
              </a:rPr>
              <a:t>Request by NASA: Ingest 1 MB/s of Cray output </a:t>
            </a:r>
          </a:p>
          <a:p>
            <a:pPr lvl="1"/>
            <a:r>
              <a:rPr lang="en-US" dirty="0">
                <a:solidFill>
                  <a:srgbClr val="000000"/>
                </a:solidFill>
              </a:rPr>
              <a:t>The state of the art</a:t>
            </a:r>
          </a:p>
          <a:p>
            <a:pPr lvl="2"/>
            <a:r>
              <a:rPr lang="en-US" dirty="0">
                <a:solidFill>
                  <a:srgbClr val="000000"/>
                </a:solidFill>
              </a:rPr>
              <a:t>30 K/s with Unix – using dynamic storage allocation</a:t>
            </a:r>
          </a:p>
          <a:p>
            <a:pPr lvl="2"/>
            <a:r>
              <a:rPr lang="en-US" dirty="0">
                <a:solidFill>
                  <a:srgbClr val="000000"/>
                </a:solidFill>
              </a:rPr>
              <a:t>~120 K/s with IBM’s MVS – using storage pre-allocation</a:t>
            </a:r>
          </a:p>
          <a:p>
            <a:pPr lvl="1"/>
            <a:r>
              <a:rPr lang="en-US" dirty="0">
                <a:solidFill>
                  <a:srgbClr val="000000"/>
                </a:solidFill>
              </a:rPr>
              <a:t>A test reached 100+ MB/s with 3 times error protection</a:t>
            </a:r>
          </a:p>
          <a:p>
            <a:r>
              <a:rPr lang="en-US" dirty="0">
                <a:solidFill>
                  <a:srgbClr val="000000"/>
                </a:solidFill>
              </a:rPr>
              <a:t>Managing OS hotspot data - Amdahl</a:t>
            </a:r>
          </a:p>
          <a:p>
            <a:pPr lvl="1"/>
            <a:r>
              <a:rPr lang="en-US" dirty="0">
                <a:solidFill>
                  <a:srgbClr val="000000"/>
                </a:solidFill>
              </a:rPr>
              <a:t>Identify data set with highest I/OPs, with adjustment to changing use</a:t>
            </a:r>
          </a:p>
          <a:p>
            <a:pPr lvl="1"/>
            <a:r>
              <a:rPr lang="en-US" dirty="0">
                <a:solidFill>
                  <a:srgbClr val="000000"/>
                </a:solidFill>
              </a:rPr>
              <a:t>Put these data sets on battery backed up memory presented as a storage device</a:t>
            </a:r>
          </a:p>
          <a:p>
            <a:pPr lvl="1"/>
            <a:r>
              <a:rPr lang="en-US" dirty="0">
                <a:solidFill>
                  <a:srgbClr val="000000"/>
                </a:solidFill>
              </a:rPr>
              <a:t>Results:</a:t>
            </a:r>
          </a:p>
          <a:p>
            <a:pPr lvl="2"/>
            <a:r>
              <a:rPr lang="en-US" dirty="0">
                <a:solidFill>
                  <a:srgbClr val="000000"/>
                </a:solidFill>
              </a:rPr>
              <a:t>30% performance improvements of enterprise system – 80 GB disks, 2-4 MB electronic storage devices</a:t>
            </a:r>
          </a:p>
          <a:p>
            <a:pPr lvl="2"/>
            <a:r>
              <a:rPr lang="en-US" dirty="0">
                <a:solidFill>
                  <a:srgbClr val="000000"/>
                </a:solidFill>
              </a:rPr>
              <a:t>Significantly improved reliability – MTBF of highly used/critical data sets increased from a few K hours to &gt;1000 k hours</a:t>
            </a:r>
          </a:p>
          <a:p>
            <a:pPr lvl="1"/>
            <a:endParaRPr lang="en-US" dirty="0">
              <a:solidFill>
                <a:srgbClr val="000000"/>
              </a:solidFill>
            </a:endParaRP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14</a:t>
            </a:fld>
            <a:endParaRPr lang="en-US"/>
          </a:p>
        </p:txBody>
      </p:sp>
    </p:spTree>
    <p:extLst>
      <p:ext uri="{BB962C8B-B14F-4D97-AF65-F5344CB8AC3E}">
        <p14:creationId xmlns:p14="http://schemas.microsoft.com/office/powerpoint/2010/main" val="1834624198"/>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More Thing</a:t>
            </a:r>
          </a:p>
        </p:txBody>
      </p:sp>
      <p:sp>
        <p:nvSpPr>
          <p:cNvPr id="3" name="Content Placeholder 2"/>
          <p:cNvSpPr>
            <a:spLocks noGrp="1"/>
          </p:cNvSpPr>
          <p:nvPr>
            <p:ph idx="1"/>
          </p:nvPr>
        </p:nvSpPr>
        <p:spPr/>
        <p:txBody>
          <a:bodyPr>
            <a:normAutofit fontScale="77500" lnSpcReduction="20000"/>
          </a:bodyPr>
          <a:lstStyle/>
          <a:p>
            <a:r>
              <a:rPr lang="en-US" dirty="0">
                <a:solidFill>
                  <a:srgbClr val="000000"/>
                </a:solidFill>
              </a:rPr>
              <a:t>Expressions data type</a:t>
            </a:r>
          </a:p>
          <a:p>
            <a:pPr lvl="1"/>
            <a:r>
              <a:rPr lang="en-US" dirty="0">
                <a:solidFill>
                  <a:srgbClr val="000000"/>
                </a:solidFill>
              </a:rPr>
              <a:t>The idea: An expression can we used to specify a entry into a record</a:t>
            </a:r>
          </a:p>
          <a:p>
            <a:pPr lvl="2"/>
            <a:r>
              <a:rPr lang="en-US" dirty="0">
                <a:solidFill>
                  <a:srgbClr val="000000"/>
                </a:solidFill>
              </a:rPr>
              <a:t>I.e., entries are intuitively sub-spaces</a:t>
            </a:r>
          </a:p>
          <a:p>
            <a:pPr lvl="1"/>
            <a:r>
              <a:rPr lang="en-US" dirty="0">
                <a:solidFill>
                  <a:srgbClr val="000000"/>
                </a:solidFill>
              </a:rPr>
              <a:t>Data are select criteria for expression using the EVAL function as operator</a:t>
            </a:r>
          </a:p>
          <a:p>
            <a:pPr lvl="1"/>
            <a:r>
              <a:rPr lang="en-US" dirty="0">
                <a:solidFill>
                  <a:srgbClr val="000000"/>
                </a:solidFill>
              </a:rPr>
              <a:t>EVAL can be used as part of a SQL query and can be mixed with other operators </a:t>
            </a:r>
          </a:p>
          <a:p>
            <a:pPr lvl="1"/>
            <a:r>
              <a:rPr lang="en-US" dirty="0">
                <a:solidFill>
                  <a:srgbClr val="000000"/>
                </a:solidFill>
              </a:rPr>
              <a:t>Can be extended to hierarchies and graphs</a:t>
            </a:r>
          </a:p>
          <a:p>
            <a:r>
              <a:rPr lang="en-US" dirty="0">
                <a:solidFill>
                  <a:srgbClr val="000000"/>
                </a:solidFill>
              </a:rPr>
              <a:t>Use cases</a:t>
            </a:r>
          </a:p>
          <a:p>
            <a:pPr lvl="1"/>
            <a:r>
              <a:rPr lang="en-US" dirty="0">
                <a:solidFill>
                  <a:srgbClr val="000000"/>
                </a:solidFill>
              </a:rPr>
              <a:t>Vastly extended subscription model</a:t>
            </a:r>
          </a:p>
          <a:p>
            <a:pPr lvl="2"/>
            <a:r>
              <a:rPr lang="en-US" dirty="0">
                <a:solidFill>
                  <a:srgbClr val="000000"/>
                </a:solidFill>
              </a:rPr>
              <a:t>Supports mutual filtering – dispatching, buyer/seller interaction Provides symmetry between publisher and subscribers</a:t>
            </a:r>
          </a:p>
          <a:p>
            <a:pPr lvl="2"/>
            <a:r>
              <a:rPr lang="en-US" dirty="0">
                <a:solidFill>
                  <a:srgbClr val="000000"/>
                </a:solidFill>
              </a:rPr>
              <a:t>Complex security and notification models</a:t>
            </a:r>
          </a:p>
          <a:p>
            <a:pPr lvl="1"/>
            <a:r>
              <a:rPr lang="en-US" dirty="0">
                <a:solidFill>
                  <a:srgbClr val="000000"/>
                </a:solidFill>
              </a:rPr>
              <a:t>Most likely a generic base for extended spatial support – a suggestion from Jim Gray</a:t>
            </a:r>
          </a:p>
          <a:p>
            <a:pPr lvl="1"/>
            <a:r>
              <a:rPr lang="en-US" dirty="0">
                <a:solidFill>
                  <a:srgbClr val="000000"/>
                </a:solidFill>
              </a:rPr>
              <a:t>Generic topology model</a:t>
            </a:r>
          </a:p>
          <a:p>
            <a:pPr lvl="1"/>
            <a:r>
              <a:rPr lang="en-US" dirty="0">
                <a:solidFill>
                  <a:srgbClr val="000000"/>
                </a:solidFill>
              </a:rPr>
              <a:t>For more examples see: D. Gawlick; D. </a:t>
            </a:r>
            <a:r>
              <a:rPr lang="en-US" dirty="0" err="1">
                <a:solidFill>
                  <a:srgbClr val="000000"/>
                </a:solidFill>
              </a:rPr>
              <a:t>Lenkov</a:t>
            </a:r>
            <a:r>
              <a:rPr lang="en-US" dirty="0">
                <a:solidFill>
                  <a:srgbClr val="000000"/>
                </a:solidFill>
              </a:rPr>
              <a:t>; A. </a:t>
            </a:r>
            <a:r>
              <a:rPr lang="en-US" dirty="0" err="1">
                <a:solidFill>
                  <a:srgbClr val="000000"/>
                </a:solidFill>
              </a:rPr>
              <a:t>Yalamanchi</a:t>
            </a:r>
            <a:r>
              <a:rPr lang="en-US" dirty="0">
                <a:solidFill>
                  <a:srgbClr val="000000"/>
                </a:solidFill>
              </a:rPr>
              <a:t>; L. </a:t>
            </a:r>
            <a:r>
              <a:rPr lang="en-US" dirty="0" err="1">
                <a:solidFill>
                  <a:srgbClr val="000000"/>
                </a:solidFill>
              </a:rPr>
              <a:t>Chernobrod</a:t>
            </a:r>
            <a:r>
              <a:rPr lang="en-US" dirty="0">
                <a:solidFill>
                  <a:srgbClr val="000000"/>
                </a:solidFill>
              </a:rPr>
              <a:t>, </a:t>
            </a:r>
            <a:r>
              <a:rPr lang="en-US" b="1" dirty="0">
                <a:solidFill>
                  <a:srgbClr val="000000"/>
                </a:solidFill>
              </a:rPr>
              <a:t>Applications for expression data in relational database systems</a:t>
            </a:r>
            <a:r>
              <a:rPr lang="en-US" dirty="0">
                <a:solidFill>
                  <a:srgbClr val="000000"/>
                </a:solidFill>
              </a:rPr>
              <a:t>, 20th International Conference on Data Engineering</a:t>
            </a:r>
          </a:p>
          <a:p>
            <a:r>
              <a:rPr lang="en-US" dirty="0">
                <a:solidFill>
                  <a:srgbClr val="000000"/>
                </a:solidFill>
              </a:rPr>
              <a:t>There should be great potential – more research is needed – </a:t>
            </a:r>
            <a:r>
              <a:rPr lang="en-US" b="1" dirty="0">
                <a:solidFill>
                  <a:srgbClr val="000000"/>
                </a:solidFill>
              </a:rPr>
              <a:t>contact me if you are interested</a:t>
            </a:r>
          </a:p>
          <a:p>
            <a:pPr lvl="2"/>
            <a:endParaRPr lang="en-US" dirty="0">
              <a:solidFill>
                <a:srgbClr val="000000"/>
              </a:solidFill>
            </a:endParaRPr>
          </a:p>
          <a:p>
            <a:pPr lvl="1"/>
            <a:endParaRPr lang="en-US" dirty="0">
              <a:solidFill>
                <a:srgbClr val="000000"/>
              </a:solidFill>
            </a:endParaRPr>
          </a:p>
          <a:p>
            <a:endParaRPr lang="en-US" dirty="0">
              <a:solidFill>
                <a:srgbClr val="000000"/>
              </a:solidFill>
            </a:endParaRPr>
          </a:p>
          <a:p>
            <a:pPr lvl="2"/>
            <a:endParaRPr lang="en-US" dirty="0">
              <a:solidFill>
                <a:srgbClr val="000000"/>
              </a:solidFill>
            </a:endParaRP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15</a:t>
            </a:fld>
            <a:endParaRPr lang="en-US"/>
          </a:p>
        </p:txBody>
      </p:sp>
    </p:spTree>
    <p:extLst>
      <p:ext uri="{BB962C8B-B14F-4D97-AF65-F5344CB8AC3E}">
        <p14:creationId xmlns:p14="http://schemas.microsoft.com/office/powerpoint/2010/main" val="1534146504"/>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dirty="0"/>
              <a:t>A Short Reflection About the OLTP Evolution</a:t>
            </a:r>
          </a:p>
        </p:txBody>
      </p:sp>
      <p:sp>
        <p:nvSpPr>
          <p:cNvPr id="3" name="Content Placeholder 2"/>
          <p:cNvSpPr>
            <a:spLocks noGrp="1"/>
          </p:cNvSpPr>
          <p:nvPr>
            <p:ph idx="1"/>
          </p:nvPr>
        </p:nvSpPr>
        <p:spPr/>
        <p:txBody>
          <a:bodyPr>
            <a:normAutofit fontScale="92500" lnSpcReduction="20000"/>
          </a:bodyPr>
          <a:lstStyle/>
          <a:p>
            <a:r>
              <a:rPr lang="en-US" dirty="0">
                <a:solidFill>
                  <a:srgbClr val="FF0000"/>
                </a:solidFill>
              </a:rPr>
              <a:t>Much has been achieved, a modern world without modern inventory management is not possible</a:t>
            </a:r>
            <a:r>
              <a:rPr lang="en-US" dirty="0">
                <a:solidFill>
                  <a:srgbClr val="000000"/>
                </a:solidFill>
              </a:rPr>
              <a:t>, however: </a:t>
            </a:r>
          </a:p>
          <a:p>
            <a:r>
              <a:rPr lang="en-US" dirty="0">
                <a:solidFill>
                  <a:srgbClr val="000000"/>
                </a:solidFill>
              </a:rPr>
              <a:t>We need significant enhancements, e.g.:</a:t>
            </a:r>
          </a:p>
          <a:p>
            <a:pPr lvl="1"/>
            <a:r>
              <a:rPr lang="en-US" dirty="0">
                <a:solidFill>
                  <a:srgbClr val="00B050"/>
                </a:solidFill>
              </a:rPr>
              <a:t>Most transactions are embedded into processes, but transaction management is extremely hostile to process management – Oracle 23c is finally a significant step forward</a:t>
            </a:r>
          </a:p>
          <a:p>
            <a:pPr lvl="1"/>
            <a:r>
              <a:rPr lang="en-US" dirty="0">
                <a:solidFill>
                  <a:srgbClr val="00B050"/>
                </a:solidFill>
              </a:rPr>
              <a:t>Temporal support and even more event detection is far too marginal, there is too little support</a:t>
            </a:r>
          </a:p>
          <a:p>
            <a:pPr lvl="1"/>
            <a:r>
              <a:rPr lang="en-US" dirty="0">
                <a:solidFill>
                  <a:srgbClr val="00B050"/>
                </a:solidFill>
              </a:rPr>
              <a:t>We need significant improvements in meta-data support (MLM – Multi Level Modelling may be a good approach) </a:t>
            </a:r>
          </a:p>
          <a:p>
            <a:r>
              <a:rPr lang="en-US" dirty="0">
                <a:solidFill>
                  <a:srgbClr val="000000"/>
                </a:solidFill>
              </a:rPr>
              <a:t>Things that created unnecessary detours, e.g.:</a:t>
            </a:r>
          </a:p>
          <a:p>
            <a:pPr lvl="1"/>
            <a:r>
              <a:rPr lang="en-US" dirty="0">
                <a:solidFill>
                  <a:srgbClr val="000000"/>
                </a:solidFill>
              </a:rPr>
              <a:t>The extreme focus on the relational model: hierarchies and graphs are back</a:t>
            </a:r>
          </a:p>
          <a:p>
            <a:pPr lvl="1"/>
            <a:r>
              <a:rPr lang="en-US" dirty="0">
                <a:solidFill>
                  <a:srgbClr val="000000"/>
                </a:solidFill>
              </a:rPr>
              <a:t>The theoretical base – the relational algebra - is far to weak for todays requirements, category theory should be a much better basis</a:t>
            </a:r>
          </a:p>
          <a:p>
            <a:pPr lvl="1"/>
            <a:r>
              <a:rPr lang="en-US" dirty="0">
                <a:solidFill>
                  <a:srgbClr val="000000"/>
                </a:solidFill>
              </a:rPr>
              <a:t>TP light and TP heavy – we need a resurgence of TP heavy (TP-monitors) like IMS</a:t>
            </a: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16</a:t>
            </a:fld>
            <a:endParaRPr lang="en-US"/>
          </a:p>
        </p:txBody>
      </p:sp>
    </p:spTree>
    <p:extLst>
      <p:ext uri="{BB962C8B-B14F-4D97-AF65-F5344CB8AC3E}">
        <p14:creationId xmlns:p14="http://schemas.microsoft.com/office/powerpoint/2010/main" val="1276175779"/>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lnSpcReduction="10000"/>
          </a:bodyPr>
          <a:lstStyle/>
          <a:p>
            <a:r>
              <a:rPr lang="en-US" dirty="0"/>
              <a:t>A short Bio</a:t>
            </a:r>
          </a:p>
          <a:p>
            <a:r>
              <a:rPr lang="en-US" dirty="0"/>
              <a:t>Getting (high end) OLTP started</a:t>
            </a:r>
          </a:p>
          <a:p>
            <a:pPr lvl="1"/>
            <a:r>
              <a:rPr lang="en-US" dirty="0"/>
              <a:t>IMS/FP</a:t>
            </a:r>
          </a:p>
          <a:p>
            <a:pPr lvl="1"/>
            <a:r>
              <a:rPr lang="en-US" dirty="0"/>
              <a:t>I/O optimizations</a:t>
            </a:r>
          </a:p>
          <a:p>
            <a:pPr lvl="1"/>
            <a:r>
              <a:rPr lang="en-US" dirty="0"/>
              <a:t>A reflection about the OLTP evolution</a:t>
            </a:r>
          </a:p>
          <a:p>
            <a:r>
              <a:rPr lang="en-US" b="1" dirty="0"/>
              <a:t>Situation Awareness</a:t>
            </a:r>
          </a:p>
          <a:p>
            <a:pPr lvl="1"/>
            <a:r>
              <a:rPr lang="en-US" b="1" dirty="0"/>
              <a:t>A short look at the history</a:t>
            </a:r>
          </a:p>
          <a:p>
            <a:pPr lvl="1"/>
            <a:r>
              <a:rPr lang="en-US" b="1" dirty="0"/>
              <a:t>A review of the status</a:t>
            </a:r>
          </a:p>
          <a:p>
            <a:pPr lvl="1"/>
            <a:r>
              <a:rPr lang="en-US" b="1" dirty="0"/>
              <a:t>Some major challenge</a:t>
            </a:r>
            <a:r>
              <a:rPr lang="en-US" dirty="0"/>
              <a:t>s</a:t>
            </a:r>
          </a:p>
          <a:p>
            <a:r>
              <a:rPr lang="en-US" dirty="0"/>
              <a:t>Conclusion</a:t>
            </a: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17</a:t>
            </a:fld>
            <a:endParaRPr lang="en-US"/>
          </a:p>
        </p:txBody>
      </p:sp>
    </p:spTree>
    <p:extLst>
      <p:ext uri="{BB962C8B-B14F-4D97-AF65-F5344CB8AC3E}">
        <p14:creationId xmlns:p14="http://schemas.microsoft.com/office/powerpoint/2010/main" val="2174673322"/>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Situation Awareness (SA)?</a:t>
            </a:r>
          </a:p>
        </p:txBody>
      </p:sp>
      <p:sp>
        <p:nvSpPr>
          <p:cNvPr id="3" name="Content Placeholder 2"/>
          <p:cNvSpPr>
            <a:spLocks noGrp="1"/>
          </p:cNvSpPr>
          <p:nvPr>
            <p:ph idx="1"/>
          </p:nvPr>
        </p:nvSpPr>
        <p:spPr/>
        <p:txBody>
          <a:bodyPr/>
          <a:lstStyle/>
          <a:p>
            <a:pPr>
              <a:buNone/>
            </a:pPr>
            <a:endParaRPr lang="en-US" dirty="0"/>
          </a:p>
          <a:p>
            <a:pPr>
              <a:buNone/>
            </a:pPr>
            <a:r>
              <a:rPr lang="en-US" dirty="0">
                <a:hlinkClick r:id="rId2"/>
              </a:rPr>
              <a:t>http://en.wikipedia.org/wiki/Situation_awareness</a:t>
            </a:r>
            <a:endParaRPr lang="en-US" dirty="0"/>
          </a:p>
          <a:p>
            <a:pPr>
              <a:buNone/>
            </a:pPr>
            <a:r>
              <a:rPr lang="en-US" sz="3200" dirty="0"/>
              <a:t>“</a:t>
            </a:r>
            <a:r>
              <a:rPr lang="en-US" sz="3200" b="1" dirty="0"/>
              <a:t>Situation awareness has been recognized as a critical, yet often elusive, foundation for successful decision-making across a broad range of complex and dynamic systems</a:t>
            </a:r>
            <a:r>
              <a:rPr lang="en-US" sz="3200" dirty="0"/>
              <a:t>”</a:t>
            </a:r>
          </a:p>
          <a:p>
            <a:pPr>
              <a:buNone/>
            </a:pPr>
            <a:endParaRPr lang="en-US" sz="3200" dirty="0"/>
          </a:p>
        </p:txBody>
      </p:sp>
      <p:sp>
        <p:nvSpPr>
          <p:cNvPr id="4" name="Slide Number Placeholder 3"/>
          <p:cNvSpPr>
            <a:spLocks noGrp="1"/>
          </p:cNvSpPr>
          <p:nvPr>
            <p:ph type="sldNum" sz="quarter" idx="10"/>
          </p:nvPr>
        </p:nvSpPr>
        <p:spPr/>
        <p:txBody>
          <a:bodyPr/>
          <a:lstStyle/>
          <a:p>
            <a:pPr>
              <a:defRPr/>
            </a:pPr>
            <a:r>
              <a:rPr lang="en-US"/>
              <a:t>Slide </a:t>
            </a:r>
            <a:fld id="{DC5FB746-B6B8-417D-AC16-61CDB61CC4D6}" type="slidenum">
              <a:rPr lang="en-US" smtClean="0"/>
              <a:pPr>
                <a:defRPr/>
              </a:pPr>
              <a:t>18</a:t>
            </a:fld>
            <a:endParaRPr lang="en-US" dirty="0"/>
          </a:p>
        </p:txBody>
      </p:sp>
      <p:sp>
        <p:nvSpPr>
          <p:cNvPr id="5" name="Date Placeholder 4"/>
          <p:cNvSpPr>
            <a:spLocks noGrp="1"/>
          </p:cNvSpPr>
          <p:nvPr>
            <p:ph type="dt" sz="half" idx="11"/>
          </p:nvPr>
        </p:nvSpPr>
        <p:spPr/>
        <p:txBody>
          <a:bodyPr/>
          <a:lstStyle/>
          <a:p>
            <a:r>
              <a:rPr lang="en-US"/>
              <a:t>May 27, 2023</a:t>
            </a:r>
            <a:endParaRPr lang="en-US" dirty="0"/>
          </a:p>
        </p:txBody>
      </p:sp>
      <p:sp>
        <p:nvSpPr>
          <p:cNvPr id="6" name="Footer Placeholder 5"/>
          <p:cNvSpPr>
            <a:spLocks noGrp="1"/>
          </p:cNvSpPr>
          <p:nvPr>
            <p:ph type="ftr" sz="quarter" idx="12"/>
          </p:nvPr>
        </p:nvSpPr>
        <p:spPr/>
        <p:txBody>
          <a:bodyPr/>
          <a:lstStyle/>
          <a:p>
            <a:r>
              <a:rPr lang="en-US"/>
              <a:t>MArburg - Turning Points</a:t>
            </a:r>
            <a:endParaRPr lang="en-US"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Specifically</a:t>
            </a:r>
          </a:p>
        </p:txBody>
      </p:sp>
      <p:sp>
        <p:nvSpPr>
          <p:cNvPr id="3" name="Content Placeholder 2"/>
          <p:cNvSpPr>
            <a:spLocks noGrp="1"/>
          </p:cNvSpPr>
          <p:nvPr>
            <p:ph idx="1"/>
          </p:nvPr>
        </p:nvSpPr>
        <p:spPr/>
        <p:txBody>
          <a:bodyPr>
            <a:normAutofit/>
          </a:bodyPr>
          <a:lstStyle/>
          <a:p>
            <a:r>
              <a:rPr lang="en-US" dirty="0">
                <a:solidFill>
                  <a:srgbClr val="FF0000"/>
                </a:solidFill>
              </a:rPr>
              <a:t>Situation Awareness is a fundamental principle in nature and engineering </a:t>
            </a:r>
          </a:p>
          <a:p>
            <a:pPr lvl="1"/>
            <a:r>
              <a:rPr lang="en-US" dirty="0"/>
              <a:t>Situation awareness helps organisms to survive and to become more competitive</a:t>
            </a:r>
          </a:p>
          <a:p>
            <a:pPr lvl="2"/>
            <a:r>
              <a:rPr lang="en-US" dirty="0"/>
              <a:t>Be aware of threads before it is too late – e.g., run away/hide from predators</a:t>
            </a:r>
          </a:p>
          <a:p>
            <a:pPr lvl="2"/>
            <a:r>
              <a:rPr lang="en-US" dirty="0"/>
              <a:t>Identify opportunities – e.g., food</a:t>
            </a:r>
          </a:p>
          <a:p>
            <a:pPr lvl="1"/>
            <a:r>
              <a:rPr lang="en-US" dirty="0"/>
              <a:t>Nature has applied situation awareness since hundreds of millions of years</a:t>
            </a:r>
          </a:p>
          <a:p>
            <a:pPr lvl="1"/>
            <a:r>
              <a:rPr lang="en-US" dirty="0"/>
              <a:t>Situation awareness helps machines/objects to provide the desired functionality and extend the useful life cycle</a:t>
            </a:r>
          </a:p>
          <a:p>
            <a:pPr lvl="2"/>
            <a:r>
              <a:rPr lang="en-US" dirty="0"/>
              <a:t>Provide the desired environment parameters – the AC requirement</a:t>
            </a:r>
          </a:p>
          <a:p>
            <a:pPr lvl="1"/>
            <a:r>
              <a:rPr lang="en-US" dirty="0"/>
              <a:t>Engineering explores the exponential growth of sensor technology (types, quality, and amount of of data) along with ML to leverage situation awareness</a:t>
            </a:r>
          </a:p>
          <a:p>
            <a:pPr lvl="2"/>
            <a:r>
              <a:rPr lang="en-US" dirty="0"/>
              <a:t>Make maintenance just before it is needed</a:t>
            </a:r>
          </a:p>
          <a:p>
            <a:pPr lvl="1"/>
            <a:endParaRPr lang="en-US" dirty="0"/>
          </a:p>
        </p:txBody>
      </p:sp>
      <p:sp>
        <p:nvSpPr>
          <p:cNvPr id="4" name="Slide Number Placeholder 3"/>
          <p:cNvSpPr>
            <a:spLocks noGrp="1"/>
          </p:cNvSpPr>
          <p:nvPr>
            <p:ph type="sldNum" sz="quarter" idx="10"/>
          </p:nvPr>
        </p:nvSpPr>
        <p:spPr/>
        <p:txBody>
          <a:bodyPr/>
          <a:lstStyle/>
          <a:p>
            <a:pPr>
              <a:defRPr/>
            </a:pPr>
            <a:r>
              <a:rPr lang="en-US"/>
              <a:t>Slide </a:t>
            </a:r>
            <a:fld id="{DC5FB746-B6B8-417D-AC16-61CDB61CC4D6}" type="slidenum">
              <a:rPr lang="en-US" smtClean="0"/>
              <a:pPr>
                <a:defRPr/>
              </a:pPr>
              <a:t>19</a:t>
            </a:fld>
            <a:endParaRPr lang="en-US" dirty="0"/>
          </a:p>
        </p:txBody>
      </p:sp>
      <p:sp>
        <p:nvSpPr>
          <p:cNvPr id="5" name="Date Placeholder 4"/>
          <p:cNvSpPr>
            <a:spLocks noGrp="1"/>
          </p:cNvSpPr>
          <p:nvPr>
            <p:ph type="dt" sz="half" idx="11"/>
          </p:nvPr>
        </p:nvSpPr>
        <p:spPr/>
        <p:txBody>
          <a:bodyPr/>
          <a:lstStyle/>
          <a:p>
            <a:r>
              <a:rPr lang="en-US"/>
              <a:t>May 27, 2023</a:t>
            </a:r>
            <a:endParaRPr lang="en-US" dirty="0"/>
          </a:p>
        </p:txBody>
      </p:sp>
      <p:sp>
        <p:nvSpPr>
          <p:cNvPr id="6" name="Footer Placeholder 5"/>
          <p:cNvSpPr>
            <a:spLocks noGrp="1"/>
          </p:cNvSpPr>
          <p:nvPr>
            <p:ph type="ftr" sz="quarter" idx="12"/>
          </p:nvPr>
        </p:nvSpPr>
        <p:spPr/>
        <p:txBody>
          <a:bodyPr/>
          <a:lstStyle/>
          <a:p>
            <a:r>
              <a:rPr lang="en-US"/>
              <a:t>MArburg - Turning Points</a:t>
            </a:r>
            <a:endParaRPr lang="en-US" dirty="0"/>
          </a:p>
        </p:txBody>
      </p:sp>
    </p:spTree>
    <p:extLst>
      <p:ext uri="{BB962C8B-B14F-4D97-AF65-F5344CB8AC3E}">
        <p14:creationId xmlns:p14="http://schemas.microsoft.com/office/powerpoint/2010/main" val="109214432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 We Care?</a:t>
            </a:r>
            <a:endParaRPr lang="en-US" b="1" dirty="0"/>
          </a:p>
        </p:txBody>
      </p:sp>
      <p:sp>
        <p:nvSpPr>
          <p:cNvPr id="3" name="Content Placeholder 2"/>
          <p:cNvSpPr>
            <a:spLocks noGrp="1"/>
          </p:cNvSpPr>
          <p:nvPr>
            <p:ph idx="1"/>
          </p:nvPr>
        </p:nvSpPr>
        <p:spPr/>
        <p:txBody>
          <a:bodyPr/>
          <a:lstStyle/>
          <a:p>
            <a:r>
              <a:rPr lang="en-US" dirty="0"/>
              <a:t>A practically unlimited number of applications have to deal with </a:t>
            </a:r>
            <a:r>
              <a:rPr lang="en-US" dirty="0">
                <a:solidFill>
                  <a:srgbClr val="FF0000"/>
                </a:solidFill>
              </a:rPr>
              <a:t>Situation Awareness (SA):</a:t>
            </a:r>
            <a:endParaRPr lang="en-US" dirty="0"/>
          </a:p>
          <a:p>
            <a:pPr lvl="1"/>
            <a:r>
              <a:rPr lang="en-US" b="1" dirty="0"/>
              <a:t>Internet of Things (IoT), </a:t>
            </a:r>
            <a:r>
              <a:rPr lang="en-US" dirty="0"/>
              <a:t>Cloud Services Management, Human Capital Management (HCM),Customer Relationship Management (CRM), Enterprise Resource Planning (ERP), Supply Chain Management (SCM), Power Grid Management, Bug Management (SW/HW), Flight Control, Airplane Surveillance, Patient Care, Medical Research, Military</a:t>
            </a:r>
            <a:r>
              <a:rPr lang="en-US" b="1" dirty="0"/>
              <a:t> (SA started here)</a:t>
            </a:r>
            <a:r>
              <a:rPr lang="en-US" dirty="0"/>
              <a:t>, and many, many more</a:t>
            </a:r>
          </a:p>
          <a:p>
            <a:r>
              <a:rPr lang="en-US" dirty="0"/>
              <a:t>A comparison</a:t>
            </a:r>
          </a:p>
          <a:p>
            <a:pPr lvl="2"/>
            <a:r>
              <a:rPr lang="en-US" dirty="0"/>
              <a:t>The </a:t>
            </a:r>
            <a:r>
              <a:rPr lang="en-US" b="1" dirty="0">
                <a:solidFill>
                  <a:srgbClr val="FF0000"/>
                </a:solidFill>
              </a:rPr>
              <a:t>Cloud</a:t>
            </a:r>
            <a:r>
              <a:rPr lang="en-US" dirty="0">
                <a:solidFill>
                  <a:srgbClr val="FF0000"/>
                </a:solidFill>
              </a:rPr>
              <a:t> </a:t>
            </a:r>
            <a:r>
              <a:rPr lang="en-US" dirty="0"/>
              <a:t>has fundamentally</a:t>
            </a:r>
            <a:r>
              <a:rPr lang="en-US" dirty="0">
                <a:solidFill>
                  <a:srgbClr val="FF0000"/>
                </a:solidFill>
              </a:rPr>
              <a:t> </a:t>
            </a:r>
            <a:r>
              <a:rPr lang="en-US" dirty="0"/>
              <a:t>improved </a:t>
            </a:r>
            <a:r>
              <a:rPr lang="en-US" b="1" dirty="0">
                <a:solidFill>
                  <a:srgbClr val="FF0000"/>
                </a:solidFill>
              </a:rPr>
              <a:t>operations</a:t>
            </a:r>
          </a:p>
          <a:p>
            <a:pPr lvl="2"/>
            <a:r>
              <a:rPr lang="en-US" b="1" dirty="0">
                <a:solidFill>
                  <a:srgbClr val="FF0000"/>
                </a:solidFill>
              </a:rPr>
              <a:t>Situation Awareness </a:t>
            </a:r>
            <a:r>
              <a:rPr lang="en-US" dirty="0"/>
              <a:t>is able to fundamentally improve the </a:t>
            </a:r>
            <a:r>
              <a:rPr lang="en-US" b="1" dirty="0">
                <a:solidFill>
                  <a:srgbClr val="FF0000"/>
                </a:solidFill>
              </a:rPr>
              <a:t>functionality</a:t>
            </a:r>
          </a:p>
          <a:p>
            <a:pPr>
              <a:buNone/>
            </a:pPr>
            <a:endParaRPr lang="en-US" sz="3200" dirty="0"/>
          </a:p>
        </p:txBody>
      </p:sp>
      <p:sp>
        <p:nvSpPr>
          <p:cNvPr id="4" name="Slide Number Placeholder 3"/>
          <p:cNvSpPr>
            <a:spLocks noGrp="1"/>
          </p:cNvSpPr>
          <p:nvPr>
            <p:ph type="sldNum" sz="quarter" idx="10"/>
          </p:nvPr>
        </p:nvSpPr>
        <p:spPr/>
        <p:txBody>
          <a:bodyPr/>
          <a:lstStyle/>
          <a:p>
            <a:pPr>
              <a:defRPr/>
            </a:pPr>
            <a:r>
              <a:rPr lang="en-US"/>
              <a:t>Slide </a:t>
            </a:r>
            <a:fld id="{DC5FB746-B6B8-417D-AC16-61CDB61CC4D6}" type="slidenum">
              <a:rPr lang="en-US" smtClean="0"/>
              <a:pPr>
                <a:defRPr/>
              </a:pPr>
              <a:t>20</a:t>
            </a:fld>
            <a:endParaRPr lang="en-US" dirty="0"/>
          </a:p>
        </p:txBody>
      </p:sp>
      <p:sp>
        <p:nvSpPr>
          <p:cNvPr id="5" name="Date Placeholder 4"/>
          <p:cNvSpPr>
            <a:spLocks noGrp="1"/>
          </p:cNvSpPr>
          <p:nvPr>
            <p:ph type="dt" sz="half" idx="11"/>
          </p:nvPr>
        </p:nvSpPr>
        <p:spPr/>
        <p:txBody>
          <a:bodyPr/>
          <a:lstStyle/>
          <a:p>
            <a:r>
              <a:rPr lang="en-US"/>
              <a:t>May 27, 2023</a:t>
            </a:r>
            <a:endParaRPr lang="en-US" dirty="0"/>
          </a:p>
        </p:txBody>
      </p:sp>
      <p:sp>
        <p:nvSpPr>
          <p:cNvPr id="6" name="Footer Placeholder 5"/>
          <p:cNvSpPr>
            <a:spLocks noGrp="1"/>
          </p:cNvSpPr>
          <p:nvPr>
            <p:ph type="ftr" sz="quarter" idx="12"/>
          </p:nvPr>
        </p:nvSpPr>
        <p:spPr/>
        <p:txBody>
          <a:bodyPr/>
          <a:lstStyle/>
          <a:p>
            <a:r>
              <a:rPr lang="en-US"/>
              <a:t>MArburg - Turning Points</a:t>
            </a:r>
            <a:endParaRPr lang="en-US" dirty="0"/>
          </a:p>
        </p:txBody>
      </p:sp>
    </p:spTree>
    <p:extLst>
      <p:ext uri="{BB962C8B-B14F-4D97-AF65-F5344CB8AC3E}">
        <p14:creationId xmlns:p14="http://schemas.microsoft.com/office/powerpoint/2010/main" val="202150355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OODA Loop – John Boyd (1976)</a:t>
            </a:r>
            <a:endParaRPr lang="en-US" b="1" dirty="0"/>
          </a:p>
        </p:txBody>
      </p:sp>
      <p:sp>
        <p:nvSpPr>
          <p:cNvPr id="3" name="Content Placeholder 2"/>
          <p:cNvSpPr>
            <a:spLocks noGrp="1"/>
          </p:cNvSpPr>
          <p:nvPr>
            <p:ph idx="1"/>
          </p:nvPr>
        </p:nvSpPr>
        <p:spPr/>
        <p:txBody>
          <a:bodyPr/>
          <a:lstStyle/>
          <a:p>
            <a:pPr>
              <a:buNone/>
            </a:pPr>
            <a:endParaRPr lang="en-US" dirty="0"/>
          </a:p>
          <a:p>
            <a:pPr>
              <a:buNone/>
            </a:pPr>
            <a:endParaRPr lang="en-US" sz="3200" dirty="0"/>
          </a:p>
        </p:txBody>
      </p:sp>
      <p:sp>
        <p:nvSpPr>
          <p:cNvPr id="4" name="Slide Number Placeholder 3"/>
          <p:cNvSpPr>
            <a:spLocks noGrp="1"/>
          </p:cNvSpPr>
          <p:nvPr>
            <p:ph type="sldNum" sz="quarter" idx="10"/>
          </p:nvPr>
        </p:nvSpPr>
        <p:spPr/>
        <p:txBody>
          <a:bodyPr/>
          <a:lstStyle/>
          <a:p>
            <a:pPr>
              <a:defRPr/>
            </a:pPr>
            <a:r>
              <a:rPr lang="en-US"/>
              <a:t>Slide </a:t>
            </a:r>
            <a:fld id="{DC5FB746-B6B8-417D-AC16-61CDB61CC4D6}" type="slidenum">
              <a:rPr lang="en-US" smtClean="0"/>
              <a:pPr>
                <a:defRPr/>
              </a:pPr>
              <a:t>21</a:t>
            </a:fld>
            <a:endParaRPr lang="en-US" dirty="0"/>
          </a:p>
        </p:txBody>
      </p:sp>
      <p:sp>
        <p:nvSpPr>
          <p:cNvPr id="5" name="Date Placeholder 4"/>
          <p:cNvSpPr>
            <a:spLocks noGrp="1"/>
          </p:cNvSpPr>
          <p:nvPr>
            <p:ph type="dt" sz="half" idx="11"/>
          </p:nvPr>
        </p:nvSpPr>
        <p:spPr/>
        <p:txBody>
          <a:bodyPr/>
          <a:lstStyle/>
          <a:p>
            <a:r>
              <a:rPr lang="en-US"/>
              <a:t>May 27, 2023</a:t>
            </a:r>
            <a:endParaRPr lang="en-US" dirty="0"/>
          </a:p>
        </p:txBody>
      </p:sp>
      <p:sp>
        <p:nvSpPr>
          <p:cNvPr id="6" name="Footer Placeholder 5"/>
          <p:cNvSpPr>
            <a:spLocks noGrp="1"/>
          </p:cNvSpPr>
          <p:nvPr>
            <p:ph type="ftr" sz="quarter" idx="12"/>
          </p:nvPr>
        </p:nvSpPr>
        <p:spPr/>
        <p:txBody>
          <a:bodyPr/>
          <a:lstStyle/>
          <a:p>
            <a:r>
              <a:rPr lang="en-US"/>
              <a:t>MArburg - Turning Points</a:t>
            </a:r>
            <a:endParaRPr lang="en-US" dirty="0"/>
          </a:p>
        </p:txBody>
      </p:sp>
      <p:pic>
        <p:nvPicPr>
          <p:cNvPr id="7" name="Content Placeholder 6" descr="800px-OODA.Boyd.svg.png">
            <a:extLst>
              <a:ext uri="{FF2B5EF4-FFF2-40B4-BE49-F238E27FC236}">
                <a16:creationId xmlns:a16="http://schemas.microsoft.com/office/drawing/2014/main" id="{2969B9E2-1171-B132-D1BD-9C4B19CDCBA7}"/>
              </a:ext>
            </a:extLst>
          </p:cNvPr>
          <p:cNvPicPr>
            <a:picLocks noChangeAspect="1"/>
          </p:cNvPicPr>
          <p:nvPr/>
        </p:nvPicPr>
        <p:blipFill>
          <a:blip r:embed="rId2" cstate="print"/>
          <a:stretch>
            <a:fillRect/>
          </a:stretch>
        </p:blipFill>
        <p:spPr bwMode="auto">
          <a:xfrm>
            <a:off x="2132012" y="1560468"/>
            <a:ext cx="7537450" cy="3737063"/>
          </a:xfrm>
          <a:prstGeom prst="rect">
            <a:avLst/>
          </a:prstGeom>
          <a:noFill/>
          <a:ln w="9525">
            <a:noFill/>
            <a:miter lim="800000"/>
            <a:headEnd/>
            <a:tailEnd/>
          </a:ln>
        </p:spPr>
      </p:pic>
    </p:spTree>
    <p:extLst>
      <p:ext uri="{BB962C8B-B14F-4D97-AF65-F5344CB8AC3E}">
        <p14:creationId xmlns:p14="http://schemas.microsoft.com/office/powerpoint/2010/main" val="41455585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5024" y="145311"/>
            <a:ext cx="10578608" cy="941388"/>
          </a:xfrm>
        </p:spPr>
        <p:txBody>
          <a:bodyPr/>
          <a:lstStyle/>
          <a:p>
            <a:r>
              <a:rPr lang="en-US" dirty="0"/>
              <a:t>KIDS – Mapping the OODA Loop to IT Technology</a:t>
            </a:r>
            <a:endParaRPr lang="en-US" b="1" dirty="0">
              <a:solidFill>
                <a:srgbClr val="FF0000"/>
              </a:solidFill>
            </a:endParaRPr>
          </a:p>
        </p:txBody>
      </p:sp>
      <p:sp>
        <p:nvSpPr>
          <p:cNvPr id="4" name="Slide Number Placeholder 3"/>
          <p:cNvSpPr>
            <a:spLocks noGrp="1"/>
          </p:cNvSpPr>
          <p:nvPr>
            <p:ph type="sldNum" sz="quarter" idx="10"/>
          </p:nvPr>
        </p:nvSpPr>
        <p:spPr/>
        <p:txBody>
          <a:bodyPr/>
          <a:lstStyle/>
          <a:p>
            <a:pPr>
              <a:defRPr/>
            </a:pPr>
            <a:r>
              <a:rPr lang="en-US" dirty="0"/>
              <a:t>Slide </a:t>
            </a:r>
            <a:fld id="{DC5FB746-B6B8-417D-AC16-61CDB61CC4D6}" type="slidenum">
              <a:rPr lang="en-US" smtClean="0"/>
              <a:pPr>
                <a:defRPr/>
              </a:pPr>
              <a:t>22</a:t>
            </a:fld>
            <a:endParaRPr lang="en-US" dirty="0"/>
          </a:p>
        </p:txBody>
      </p:sp>
      <p:sp>
        <p:nvSpPr>
          <p:cNvPr id="5" name="Date Placeholder 4"/>
          <p:cNvSpPr>
            <a:spLocks noGrp="1"/>
          </p:cNvSpPr>
          <p:nvPr>
            <p:ph type="dt" sz="half" idx="11"/>
          </p:nvPr>
        </p:nvSpPr>
        <p:spPr/>
        <p:txBody>
          <a:bodyPr/>
          <a:lstStyle/>
          <a:p>
            <a:r>
              <a:rPr lang="en-US"/>
              <a:t>May 27, 2023</a:t>
            </a:r>
            <a:endParaRPr lang="en-US" dirty="0"/>
          </a:p>
        </p:txBody>
      </p:sp>
      <p:sp>
        <p:nvSpPr>
          <p:cNvPr id="6" name="Footer Placeholder 5"/>
          <p:cNvSpPr>
            <a:spLocks noGrp="1"/>
          </p:cNvSpPr>
          <p:nvPr>
            <p:ph type="ftr" sz="quarter" idx="12"/>
          </p:nvPr>
        </p:nvSpPr>
        <p:spPr/>
        <p:txBody>
          <a:bodyPr/>
          <a:lstStyle/>
          <a:p>
            <a:r>
              <a:rPr lang="en-US"/>
              <a:t>MArburg - Turning Points</a:t>
            </a:r>
            <a:endParaRPr lang="en-US" dirty="0"/>
          </a:p>
        </p:txBody>
      </p:sp>
      <p:sp>
        <p:nvSpPr>
          <p:cNvPr id="10" name="Rounded Rectangle 6">
            <a:extLst>
              <a:ext uri="{FF2B5EF4-FFF2-40B4-BE49-F238E27FC236}">
                <a16:creationId xmlns:a16="http://schemas.microsoft.com/office/drawing/2014/main" id="{76250944-A0B3-73DF-55C9-A968D3E55668}"/>
              </a:ext>
            </a:extLst>
          </p:cNvPr>
          <p:cNvSpPr/>
          <p:nvPr/>
        </p:nvSpPr>
        <p:spPr bwMode="auto">
          <a:xfrm rot="16200000">
            <a:off x="6852611" y="-1246352"/>
            <a:ext cx="1986351" cy="6605106"/>
          </a:xfrm>
          <a:prstGeom prst="roundRect">
            <a:avLst/>
          </a:prstGeom>
          <a:solidFill>
            <a:srgbClr val="F8F8F8"/>
          </a:solidFill>
          <a:ln w="12700" cap="flat" cmpd="sng" algn="ctr">
            <a:solidFill>
              <a:schemeClr val="bg1">
                <a:lumMod val="9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2000" b="1">
              <a:solidFill>
                <a:prstClr val="black"/>
              </a:solidFill>
              <a:latin typeface="Times New Roman" pitchFamily="18" charset="0"/>
            </a:endParaRPr>
          </a:p>
        </p:txBody>
      </p:sp>
      <p:sp>
        <p:nvSpPr>
          <p:cNvPr id="12" name="Rounded Rectangle 25">
            <a:extLst>
              <a:ext uri="{FF2B5EF4-FFF2-40B4-BE49-F238E27FC236}">
                <a16:creationId xmlns:a16="http://schemas.microsoft.com/office/drawing/2014/main" id="{494047E3-DD29-53AA-3839-7CA80EFDF680}"/>
              </a:ext>
            </a:extLst>
          </p:cNvPr>
          <p:cNvSpPr/>
          <p:nvPr/>
        </p:nvSpPr>
        <p:spPr bwMode="auto">
          <a:xfrm>
            <a:off x="8732409" y="4062580"/>
            <a:ext cx="2238942" cy="1150561"/>
          </a:xfrm>
          <a:prstGeom prst="roundRect">
            <a:avLst/>
          </a:prstGeom>
          <a:solidFill>
            <a:srgbClr val="6A8B94"/>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2800" b="1" dirty="0">
                <a:solidFill>
                  <a:prstClr val="white"/>
                </a:solidFill>
                <a:latin typeface="Times New Roman" pitchFamily="18" charset="0"/>
              </a:rPr>
              <a:t>Hypotheses</a:t>
            </a:r>
          </a:p>
          <a:p>
            <a:pPr algn="ctr" eaLnBrk="0" fontAlgn="base" hangingPunct="0">
              <a:spcBef>
                <a:spcPct val="0"/>
              </a:spcBef>
              <a:spcAft>
                <a:spcPct val="0"/>
              </a:spcAft>
            </a:pPr>
            <a:r>
              <a:rPr lang="en-US" sz="1200" b="1" dirty="0">
                <a:solidFill>
                  <a:schemeClr val="bg1"/>
                </a:solidFill>
                <a:latin typeface="Times New Roman" pitchFamily="18" charset="0"/>
              </a:rPr>
              <a:t>What is/are the root cause/s?</a:t>
            </a:r>
          </a:p>
        </p:txBody>
      </p:sp>
      <p:sp>
        <p:nvSpPr>
          <p:cNvPr id="15" name="Rounded Rectangle 7">
            <a:extLst>
              <a:ext uri="{FF2B5EF4-FFF2-40B4-BE49-F238E27FC236}">
                <a16:creationId xmlns:a16="http://schemas.microsoft.com/office/drawing/2014/main" id="{1CF4C123-520C-73D1-6B28-137ED300BA88}"/>
              </a:ext>
            </a:extLst>
          </p:cNvPr>
          <p:cNvSpPr/>
          <p:nvPr/>
        </p:nvSpPr>
        <p:spPr bwMode="auto">
          <a:xfrm>
            <a:off x="4719129" y="1473854"/>
            <a:ext cx="2240038" cy="1173892"/>
          </a:xfrm>
          <a:prstGeom prst="roundRect">
            <a:avLst/>
          </a:prstGeom>
          <a:solidFill>
            <a:schemeClr val="tx1"/>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2800" b="1" dirty="0">
                <a:solidFill>
                  <a:prstClr val="white"/>
                </a:solidFill>
                <a:latin typeface="Times New Roman" pitchFamily="18" charset="0"/>
              </a:rPr>
              <a:t>Facts</a:t>
            </a:r>
          </a:p>
          <a:p>
            <a:pPr algn="ctr" eaLnBrk="0" fontAlgn="base" hangingPunct="0">
              <a:spcBef>
                <a:spcPct val="0"/>
              </a:spcBef>
              <a:spcAft>
                <a:spcPct val="0"/>
              </a:spcAft>
            </a:pPr>
            <a:r>
              <a:rPr lang="en-US" sz="1200" b="1" dirty="0">
                <a:solidFill>
                  <a:schemeClr val="bg1"/>
                </a:solidFill>
                <a:latin typeface="Times New Roman" pitchFamily="18" charset="0"/>
              </a:rPr>
              <a:t>What is the Evidence?</a:t>
            </a:r>
          </a:p>
        </p:txBody>
      </p:sp>
      <p:sp>
        <p:nvSpPr>
          <p:cNvPr id="16" name="Rounded Rectangle 9">
            <a:extLst>
              <a:ext uri="{FF2B5EF4-FFF2-40B4-BE49-F238E27FC236}">
                <a16:creationId xmlns:a16="http://schemas.microsoft.com/office/drawing/2014/main" id="{031A2889-D9F7-9F97-F5DA-612E70749A7C}"/>
              </a:ext>
            </a:extLst>
          </p:cNvPr>
          <p:cNvSpPr/>
          <p:nvPr/>
        </p:nvSpPr>
        <p:spPr bwMode="auto">
          <a:xfrm>
            <a:off x="8732409" y="1470147"/>
            <a:ext cx="2171581" cy="1173892"/>
          </a:xfrm>
          <a:prstGeom prst="roundRect">
            <a:avLst/>
          </a:prstGeom>
          <a:solidFill>
            <a:srgbClr val="6A8B94"/>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2800" b="1" dirty="0">
                <a:solidFill>
                  <a:prstClr val="white"/>
                </a:solidFill>
                <a:latin typeface="Times New Roman" pitchFamily="18" charset="0"/>
              </a:rPr>
              <a:t>Perceptions</a:t>
            </a:r>
          </a:p>
          <a:p>
            <a:pPr algn="ctr" eaLnBrk="0" fontAlgn="base" hangingPunct="0">
              <a:spcBef>
                <a:spcPct val="0"/>
              </a:spcBef>
              <a:spcAft>
                <a:spcPct val="0"/>
              </a:spcAft>
            </a:pPr>
            <a:r>
              <a:rPr lang="en-US" sz="1200" b="1" dirty="0">
                <a:solidFill>
                  <a:schemeClr val="bg1"/>
                </a:solidFill>
                <a:latin typeface="Times New Roman" pitchFamily="18" charset="0"/>
              </a:rPr>
              <a:t>What is the issue?</a:t>
            </a:r>
          </a:p>
        </p:txBody>
      </p:sp>
      <p:sp useBgFill="1">
        <p:nvSpPr>
          <p:cNvPr id="17" name="TextBox 16">
            <a:extLst>
              <a:ext uri="{FF2B5EF4-FFF2-40B4-BE49-F238E27FC236}">
                <a16:creationId xmlns:a16="http://schemas.microsoft.com/office/drawing/2014/main" id="{8A9AAD13-F4CA-1315-969E-9D95F65E5EDA}"/>
              </a:ext>
            </a:extLst>
          </p:cNvPr>
          <p:cNvSpPr txBox="1"/>
          <p:nvPr/>
        </p:nvSpPr>
        <p:spPr>
          <a:xfrm>
            <a:off x="3722947" y="4245908"/>
            <a:ext cx="556563" cy="369332"/>
          </a:xfrm>
          <a:prstGeom prst="rect">
            <a:avLst/>
          </a:prstGeom>
        </p:spPr>
        <p:txBody>
          <a:bodyPr wrap="none" rtlCol="0">
            <a:spAutoFit/>
          </a:bodyPr>
          <a:lstStyle/>
          <a:p>
            <a:pPr algn="ctr" eaLnBrk="0" fontAlgn="base" hangingPunct="0">
              <a:spcBef>
                <a:spcPct val="20000"/>
              </a:spcBef>
              <a:spcAft>
                <a:spcPct val="0"/>
              </a:spcAft>
              <a:buClr>
                <a:srgbClr val="72A376"/>
              </a:buClr>
            </a:pPr>
            <a:r>
              <a:rPr lang="en-US" b="1" dirty="0">
                <a:solidFill>
                  <a:srgbClr val="00B0F0"/>
                </a:solidFill>
                <a:latin typeface="Arial" charset="0"/>
              </a:rPr>
              <a:t>Act</a:t>
            </a:r>
          </a:p>
        </p:txBody>
      </p:sp>
      <p:sp>
        <p:nvSpPr>
          <p:cNvPr id="18" name="TextBox 17">
            <a:extLst>
              <a:ext uri="{FF2B5EF4-FFF2-40B4-BE49-F238E27FC236}">
                <a16:creationId xmlns:a16="http://schemas.microsoft.com/office/drawing/2014/main" id="{60010031-3079-FA62-F3B4-9E3FF21225DF}"/>
              </a:ext>
            </a:extLst>
          </p:cNvPr>
          <p:cNvSpPr txBox="1"/>
          <p:nvPr/>
        </p:nvSpPr>
        <p:spPr>
          <a:xfrm>
            <a:off x="7375146" y="4224873"/>
            <a:ext cx="941283" cy="701731"/>
          </a:xfrm>
          <a:prstGeom prst="rect">
            <a:avLst/>
          </a:prstGeom>
          <a:noFill/>
        </p:spPr>
        <p:txBody>
          <a:bodyPr wrap="none" rtlCol="0">
            <a:spAutoFit/>
          </a:bodyPr>
          <a:lstStyle/>
          <a:p>
            <a:pPr algn="ctr" eaLnBrk="0" fontAlgn="base" hangingPunct="0">
              <a:spcBef>
                <a:spcPct val="20000"/>
              </a:spcBef>
              <a:spcAft>
                <a:spcPct val="0"/>
              </a:spcAft>
              <a:buClr>
                <a:srgbClr val="72A376"/>
              </a:buClr>
            </a:pPr>
            <a:r>
              <a:rPr lang="en-US" b="1" dirty="0">
                <a:solidFill>
                  <a:srgbClr val="00B0F0"/>
                </a:solidFill>
                <a:latin typeface="Arial" charset="0"/>
              </a:rPr>
              <a:t>Decide</a:t>
            </a:r>
          </a:p>
          <a:p>
            <a:pPr algn="ctr" eaLnBrk="0" fontAlgn="base" hangingPunct="0">
              <a:spcBef>
                <a:spcPct val="20000"/>
              </a:spcBef>
              <a:spcAft>
                <a:spcPct val="0"/>
              </a:spcAft>
              <a:buClr>
                <a:srgbClr val="72A376"/>
              </a:buClr>
            </a:pPr>
            <a:endParaRPr lang="en-US" b="1" dirty="0">
              <a:solidFill>
                <a:prstClr val="black"/>
              </a:solidFill>
              <a:latin typeface="Arial" charset="0"/>
            </a:endParaRPr>
          </a:p>
        </p:txBody>
      </p:sp>
      <p:sp>
        <p:nvSpPr>
          <p:cNvPr id="19" name="Rounded Rectangle 2">
            <a:extLst>
              <a:ext uri="{FF2B5EF4-FFF2-40B4-BE49-F238E27FC236}">
                <a16:creationId xmlns:a16="http://schemas.microsoft.com/office/drawing/2014/main" id="{6E4AB358-9371-D648-98F0-476498832F6D}"/>
              </a:ext>
            </a:extLst>
          </p:cNvPr>
          <p:cNvSpPr/>
          <p:nvPr/>
        </p:nvSpPr>
        <p:spPr bwMode="auto">
          <a:xfrm>
            <a:off x="989012" y="1470146"/>
            <a:ext cx="2276777" cy="3742995"/>
          </a:xfrm>
          <a:prstGeom prst="round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2800" b="1" dirty="0">
                <a:solidFill>
                  <a:prstClr val="white"/>
                </a:solidFill>
                <a:latin typeface="Times New Roman" pitchFamily="18" charset="0"/>
              </a:rPr>
              <a:t>External</a:t>
            </a:r>
          </a:p>
          <a:p>
            <a:pPr algn="ctr" eaLnBrk="0" fontAlgn="base" hangingPunct="0">
              <a:spcBef>
                <a:spcPct val="0"/>
              </a:spcBef>
              <a:spcAft>
                <a:spcPct val="0"/>
              </a:spcAft>
            </a:pPr>
            <a:r>
              <a:rPr lang="en-US" sz="2800" b="1" dirty="0">
                <a:solidFill>
                  <a:prstClr val="white"/>
                </a:solidFill>
                <a:latin typeface="Times New Roman" pitchFamily="18" charset="0"/>
              </a:rPr>
              <a:t>World</a:t>
            </a:r>
          </a:p>
        </p:txBody>
      </p:sp>
      <p:sp>
        <p:nvSpPr>
          <p:cNvPr id="20" name="Rounded Rectangle 11">
            <a:extLst>
              <a:ext uri="{FF2B5EF4-FFF2-40B4-BE49-F238E27FC236}">
                <a16:creationId xmlns:a16="http://schemas.microsoft.com/office/drawing/2014/main" id="{756D3C02-FAEF-BC5A-A63D-D9709C3C4CCC}"/>
              </a:ext>
            </a:extLst>
          </p:cNvPr>
          <p:cNvSpPr/>
          <p:nvPr/>
        </p:nvSpPr>
        <p:spPr bwMode="auto">
          <a:xfrm>
            <a:off x="4747695" y="4062580"/>
            <a:ext cx="2211472" cy="1150561"/>
          </a:xfrm>
          <a:prstGeom prst="roundRect">
            <a:avLst/>
          </a:prstGeom>
          <a:solidFill>
            <a:srgbClr val="6A8B94"/>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2800" b="1" dirty="0">
                <a:solidFill>
                  <a:prstClr val="white"/>
                </a:solidFill>
                <a:latin typeface="Times New Roman" pitchFamily="18" charset="0"/>
              </a:rPr>
              <a:t>Directives</a:t>
            </a:r>
          </a:p>
          <a:p>
            <a:pPr algn="ctr" eaLnBrk="0" fontAlgn="base" hangingPunct="0">
              <a:spcBef>
                <a:spcPct val="0"/>
              </a:spcBef>
              <a:spcAft>
                <a:spcPct val="0"/>
              </a:spcAft>
            </a:pPr>
            <a:r>
              <a:rPr lang="en-US" sz="1200" b="1" dirty="0">
                <a:solidFill>
                  <a:schemeClr val="bg1"/>
                </a:solidFill>
                <a:latin typeface="Times New Roman" pitchFamily="18" charset="0"/>
              </a:rPr>
              <a:t>What should be done?</a:t>
            </a:r>
          </a:p>
        </p:txBody>
      </p:sp>
      <p:cxnSp>
        <p:nvCxnSpPr>
          <p:cNvPr id="21" name="Straight Arrow Connector 20">
            <a:extLst>
              <a:ext uri="{FF2B5EF4-FFF2-40B4-BE49-F238E27FC236}">
                <a16:creationId xmlns:a16="http://schemas.microsoft.com/office/drawing/2014/main" id="{38F5DB63-7D06-850D-2EBF-82CB518D19F5}"/>
              </a:ext>
            </a:extLst>
          </p:cNvPr>
          <p:cNvCxnSpPr>
            <a:stCxn id="15" idx="3"/>
            <a:endCxn id="16" idx="1"/>
          </p:cNvCxnSpPr>
          <p:nvPr/>
        </p:nvCxnSpPr>
        <p:spPr bwMode="auto">
          <a:xfrm flipV="1">
            <a:off x="6959167" y="2057093"/>
            <a:ext cx="1773242" cy="3707"/>
          </a:xfrm>
          <a:prstGeom prst="straightConnector1">
            <a:avLst/>
          </a:prstGeom>
          <a:gradFill rotWithShape="1">
            <a:gsLst>
              <a:gs pos="0">
                <a:srgbClr val="F8F8F8">
                  <a:alpha val="85999"/>
                </a:srgbClr>
              </a:gs>
              <a:gs pos="100000">
                <a:srgbClr val="C4C4C4">
                  <a:alpha val="82999"/>
                </a:srgbClr>
              </a:gs>
            </a:gsLst>
            <a:lin ang="5400000" scaled="1"/>
          </a:gradFill>
          <a:ln w="38100" cap="flat" cmpd="sng" algn="ctr">
            <a:solidFill>
              <a:srgbClr val="FF0000"/>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D56706A9-B97E-30F4-5E0E-EDF146B6A0DA}"/>
              </a:ext>
            </a:extLst>
          </p:cNvPr>
          <p:cNvCxnSpPr>
            <a:stCxn id="12" idx="1"/>
            <a:endCxn id="20" idx="3"/>
          </p:cNvCxnSpPr>
          <p:nvPr/>
        </p:nvCxnSpPr>
        <p:spPr bwMode="auto">
          <a:xfrm flipH="1">
            <a:off x="6959167" y="4637861"/>
            <a:ext cx="1773242" cy="0"/>
          </a:xfrm>
          <a:prstGeom prst="straightConnector1">
            <a:avLst/>
          </a:prstGeom>
          <a:gradFill rotWithShape="1">
            <a:gsLst>
              <a:gs pos="0">
                <a:srgbClr val="F8F8F8">
                  <a:alpha val="85999"/>
                </a:srgbClr>
              </a:gs>
              <a:gs pos="100000">
                <a:srgbClr val="C4C4C4">
                  <a:alpha val="82999"/>
                </a:srgbClr>
              </a:gs>
            </a:gsLst>
            <a:lin ang="5400000" scaled="1"/>
          </a:gradFill>
          <a:ln w="38100" cap="flat" cmpd="sng" algn="ctr">
            <a:solidFill>
              <a:srgbClr val="FF0000"/>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F2385D25-3ED2-EC19-C5F7-EC008AD7DA15}"/>
              </a:ext>
            </a:extLst>
          </p:cNvPr>
          <p:cNvCxnSpPr>
            <a:stCxn id="16" idx="2"/>
            <a:endCxn id="12" idx="0"/>
          </p:cNvCxnSpPr>
          <p:nvPr/>
        </p:nvCxnSpPr>
        <p:spPr bwMode="auto">
          <a:xfrm>
            <a:off x="9818200" y="2644039"/>
            <a:ext cx="33680" cy="1418541"/>
          </a:xfrm>
          <a:prstGeom prst="straightConnector1">
            <a:avLst/>
          </a:prstGeom>
          <a:gradFill rotWithShape="1">
            <a:gsLst>
              <a:gs pos="0">
                <a:srgbClr val="F8F8F8">
                  <a:alpha val="85999"/>
                </a:srgbClr>
              </a:gs>
              <a:gs pos="100000">
                <a:srgbClr val="C4C4C4">
                  <a:alpha val="82999"/>
                </a:srgbClr>
              </a:gs>
            </a:gsLst>
            <a:lin ang="5400000" scaled="1"/>
          </a:gradFill>
          <a:ln w="38100" cap="flat" cmpd="sng" algn="ctr">
            <a:solidFill>
              <a:srgbClr val="FF0000"/>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38B10C5B-4EC6-BD6B-09BB-68426EE38E50}"/>
              </a:ext>
            </a:extLst>
          </p:cNvPr>
          <p:cNvCxnSpPr>
            <a:stCxn id="20" idx="1"/>
          </p:cNvCxnSpPr>
          <p:nvPr/>
        </p:nvCxnSpPr>
        <p:spPr bwMode="auto">
          <a:xfrm flipH="1" flipV="1">
            <a:off x="3265789" y="4615241"/>
            <a:ext cx="1481906" cy="22620"/>
          </a:xfrm>
          <a:prstGeom prst="straightConnector1">
            <a:avLst/>
          </a:prstGeom>
          <a:gradFill rotWithShape="1">
            <a:gsLst>
              <a:gs pos="0">
                <a:srgbClr val="F8F8F8">
                  <a:alpha val="85999"/>
                </a:srgbClr>
              </a:gs>
              <a:gs pos="100000">
                <a:srgbClr val="C4C4C4">
                  <a:alpha val="82999"/>
                </a:srgbClr>
              </a:gs>
            </a:gsLst>
            <a:lin ang="5400000" scaled="1"/>
          </a:gradFill>
          <a:ln w="38100" cap="flat" cmpd="sng" algn="ctr">
            <a:solidFill>
              <a:srgbClr val="FF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5A4C7AD3-4AD2-C4C7-A17C-DBC5331955D6}"/>
              </a:ext>
            </a:extLst>
          </p:cNvPr>
          <p:cNvCxnSpPr>
            <a:endCxn id="15" idx="1"/>
          </p:cNvCxnSpPr>
          <p:nvPr/>
        </p:nvCxnSpPr>
        <p:spPr bwMode="auto">
          <a:xfrm flipV="1">
            <a:off x="3265789" y="2060800"/>
            <a:ext cx="1453340" cy="22091"/>
          </a:xfrm>
          <a:prstGeom prst="straightConnector1">
            <a:avLst/>
          </a:prstGeom>
          <a:gradFill rotWithShape="1">
            <a:gsLst>
              <a:gs pos="0">
                <a:srgbClr val="F8F8F8">
                  <a:alpha val="85999"/>
                </a:srgbClr>
              </a:gs>
              <a:gs pos="100000">
                <a:srgbClr val="C4C4C4">
                  <a:alpha val="82999"/>
                </a:srgbClr>
              </a:gs>
            </a:gsLst>
            <a:lin ang="5400000" scaled="1"/>
          </a:gradFill>
          <a:ln w="317500" cap="flat" cmpd="sng" algn="ctr">
            <a:solidFill>
              <a:srgbClr val="FF0000"/>
            </a:solidFill>
            <a:prstDash val="solid"/>
            <a:round/>
            <a:headEnd type="none" w="med" len="med"/>
            <a:tailEnd type="triangle"/>
          </a:ln>
          <a:effectLst/>
        </p:spPr>
      </p:cxnSp>
      <p:sp>
        <p:nvSpPr>
          <p:cNvPr id="27" name="TextBox 26">
            <a:extLst>
              <a:ext uri="{FF2B5EF4-FFF2-40B4-BE49-F238E27FC236}">
                <a16:creationId xmlns:a16="http://schemas.microsoft.com/office/drawing/2014/main" id="{DD35E2DE-0F42-3643-9B5D-6FFA0D4B4906}"/>
              </a:ext>
            </a:extLst>
          </p:cNvPr>
          <p:cNvSpPr txBox="1"/>
          <p:nvPr/>
        </p:nvSpPr>
        <p:spPr>
          <a:xfrm>
            <a:off x="3484836" y="1573482"/>
            <a:ext cx="1120820" cy="369332"/>
          </a:xfrm>
          <a:prstGeom prst="rect">
            <a:avLst/>
          </a:prstGeom>
          <a:noFill/>
        </p:spPr>
        <p:txBody>
          <a:bodyPr wrap="none" rtlCol="0">
            <a:spAutoFit/>
          </a:bodyPr>
          <a:lstStyle/>
          <a:p>
            <a:r>
              <a:rPr lang="en-US" b="1" dirty="0">
                <a:solidFill>
                  <a:srgbClr val="00B0F0"/>
                </a:solidFill>
              </a:rPr>
              <a:t>Measure</a:t>
            </a:r>
          </a:p>
        </p:txBody>
      </p:sp>
      <p:sp>
        <p:nvSpPr>
          <p:cNvPr id="28" name="TextBox 27">
            <a:extLst>
              <a:ext uri="{FF2B5EF4-FFF2-40B4-BE49-F238E27FC236}">
                <a16:creationId xmlns:a16="http://schemas.microsoft.com/office/drawing/2014/main" id="{6827259E-20CF-CB27-C5AF-1791D3CC3E8D}"/>
              </a:ext>
            </a:extLst>
          </p:cNvPr>
          <p:cNvSpPr txBox="1"/>
          <p:nvPr/>
        </p:nvSpPr>
        <p:spPr>
          <a:xfrm>
            <a:off x="8831280" y="3351691"/>
            <a:ext cx="1261240" cy="369332"/>
          </a:xfrm>
          <a:prstGeom prst="rect">
            <a:avLst/>
          </a:prstGeom>
          <a:noFill/>
        </p:spPr>
        <p:txBody>
          <a:bodyPr wrap="square" rtlCol="0">
            <a:spAutoFit/>
          </a:bodyPr>
          <a:lstStyle/>
          <a:p>
            <a:pPr algn="ctr" eaLnBrk="0" fontAlgn="base" hangingPunct="0">
              <a:spcBef>
                <a:spcPct val="20000"/>
              </a:spcBef>
              <a:spcAft>
                <a:spcPct val="0"/>
              </a:spcAft>
              <a:buClr>
                <a:srgbClr val="72A376"/>
              </a:buClr>
            </a:pPr>
            <a:r>
              <a:rPr lang="en-US" b="1" dirty="0">
                <a:solidFill>
                  <a:srgbClr val="00B0F0"/>
                </a:solidFill>
                <a:latin typeface="Arial" charset="0"/>
              </a:rPr>
              <a:t>Orient</a:t>
            </a:r>
          </a:p>
        </p:txBody>
      </p:sp>
      <p:grpSp>
        <p:nvGrpSpPr>
          <p:cNvPr id="43" name="Group 42">
            <a:extLst>
              <a:ext uri="{FF2B5EF4-FFF2-40B4-BE49-F238E27FC236}">
                <a16:creationId xmlns:a16="http://schemas.microsoft.com/office/drawing/2014/main" id="{64206422-5324-74BF-0D9A-57354E2BE52B}"/>
              </a:ext>
            </a:extLst>
          </p:cNvPr>
          <p:cNvGrpSpPr/>
          <p:nvPr/>
        </p:nvGrpSpPr>
        <p:grpSpPr>
          <a:xfrm>
            <a:off x="3590946" y="2185756"/>
            <a:ext cx="7191838" cy="2877252"/>
            <a:chOff x="3670488" y="2381085"/>
            <a:chExt cx="7191838" cy="2877252"/>
          </a:xfrm>
        </p:grpSpPr>
        <p:sp>
          <p:nvSpPr>
            <p:cNvPr id="44" name="TextBox 43">
              <a:extLst>
                <a:ext uri="{FF2B5EF4-FFF2-40B4-BE49-F238E27FC236}">
                  <a16:creationId xmlns:a16="http://schemas.microsoft.com/office/drawing/2014/main" id="{81375B20-EE37-02FD-A11E-E6A691A8F7E4}"/>
                </a:ext>
              </a:extLst>
            </p:cNvPr>
            <p:cNvSpPr txBox="1"/>
            <p:nvPr/>
          </p:nvSpPr>
          <p:spPr>
            <a:xfrm>
              <a:off x="3670488" y="2388795"/>
              <a:ext cx="864339" cy="369332"/>
            </a:xfrm>
            <a:prstGeom prst="rect">
              <a:avLst/>
            </a:prstGeom>
            <a:noFill/>
          </p:spPr>
          <p:txBody>
            <a:bodyPr wrap="none" rtlCol="0">
              <a:spAutoFit/>
            </a:bodyPr>
            <a:lstStyle/>
            <a:p>
              <a:r>
                <a:rPr lang="en-US" b="1" dirty="0"/>
                <a:t>Ingest</a:t>
              </a:r>
            </a:p>
          </p:txBody>
        </p:sp>
        <p:sp>
          <p:nvSpPr>
            <p:cNvPr id="45" name="TextBox 44">
              <a:extLst>
                <a:ext uri="{FF2B5EF4-FFF2-40B4-BE49-F238E27FC236}">
                  <a16:creationId xmlns:a16="http://schemas.microsoft.com/office/drawing/2014/main" id="{2E6FE701-20CE-F7AA-ADC8-FDC5106B7222}"/>
                </a:ext>
              </a:extLst>
            </p:cNvPr>
            <p:cNvSpPr txBox="1"/>
            <p:nvPr/>
          </p:nvSpPr>
          <p:spPr>
            <a:xfrm>
              <a:off x="7347866" y="2381085"/>
              <a:ext cx="1069524" cy="369332"/>
            </a:xfrm>
            <a:prstGeom prst="rect">
              <a:avLst/>
            </a:prstGeom>
            <a:noFill/>
          </p:spPr>
          <p:txBody>
            <a:bodyPr wrap="none" rtlCol="0">
              <a:spAutoFit/>
            </a:bodyPr>
            <a:lstStyle/>
            <a:p>
              <a:r>
                <a:rPr lang="en-US" b="1" dirty="0"/>
                <a:t>Classify</a:t>
              </a:r>
            </a:p>
          </p:txBody>
        </p:sp>
        <p:sp>
          <p:nvSpPr>
            <p:cNvPr id="46" name="TextBox 45">
              <a:extLst>
                <a:ext uri="{FF2B5EF4-FFF2-40B4-BE49-F238E27FC236}">
                  <a16:creationId xmlns:a16="http://schemas.microsoft.com/office/drawing/2014/main" id="{F9F41D9B-834F-BD3C-1D60-1B9B5F53BEB8}"/>
                </a:ext>
              </a:extLst>
            </p:cNvPr>
            <p:cNvSpPr txBox="1"/>
            <p:nvPr/>
          </p:nvSpPr>
          <p:spPr>
            <a:xfrm>
              <a:off x="9869747" y="3547020"/>
              <a:ext cx="992579" cy="369332"/>
            </a:xfrm>
            <a:prstGeom prst="rect">
              <a:avLst/>
            </a:prstGeom>
            <a:noFill/>
          </p:spPr>
          <p:txBody>
            <a:bodyPr wrap="none" rtlCol="0">
              <a:spAutoFit/>
            </a:bodyPr>
            <a:lstStyle/>
            <a:p>
              <a:r>
                <a:rPr lang="en-US" b="1" dirty="0"/>
                <a:t>Assess</a:t>
              </a:r>
            </a:p>
          </p:txBody>
        </p:sp>
        <p:sp>
          <p:nvSpPr>
            <p:cNvPr id="47" name="TextBox 46">
              <a:extLst>
                <a:ext uri="{FF2B5EF4-FFF2-40B4-BE49-F238E27FC236}">
                  <a16:creationId xmlns:a16="http://schemas.microsoft.com/office/drawing/2014/main" id="{F4CBED82-AB75-2B24-03DC-3A959B41163A}"/>
                </a:ext>
              </a:extLst>
            </p:cNvPr>
            <p:cNvSpPr txBox="1"/>
            <p:nvPr/>
          </p:nvSpPr>
          <p:spPr>
            <a:xfrm>
              <a:off x="3674248" y="4832695"/>
              <a:ext cx="813043" cy="369332"/>
            </a:xfrm>
            <a:prstGeom prst="rect">
              <a:avLst/>
            </a:prstGeom>
            <a:noFill/>
          </p:spPr>
          <p:txBody>
            <a:bodyPr wrap="none" rtlCol="0">
              <a:spAutoFit/>
            </a:bodyPr>
            <a:lstStyle/>
            <a:p>
              <a:r>
                <a:rPr lang="en-US" b="1" dirty="0"/>
                <a:t>Enact</a:t>
              </a:r>
            </a:p>
          </p:txBody>
        </p:sp>
        <p:sp>
          <p:nvSpPr>
            <p:cNvPr id="48" name="TextBox 47">
              <a:extLst>
                <a:ext uri="{FF2B5EF4-FFF2-40B4-BE49-F238E27FC236}">
                  <a16:creationId xmlns:a16="http://schemas.microsoft.com/office/drawing/2014/main" id="{EB9E2ABC-E421-2EC9-B402-F61D928C265E}"/>
                </a:ext>
              </a:extLst>
            </p:cNvPr>
            <p:cNvSpPr txBox="1"/>
            <p:nvPr/>
          </p:nvSpPr>
          <p:spPr>
            <a:xfrm>
              <a:off x="7390568" y="4889005"/>
              <a:ext cx="1069524" cy="369332"/>
            </a:xfrm>
            <a:prstGeom prst="rect">
              <a:avLst/>
            </a:prstGeom>
            <a:noFill/>
          </p:spPr>
          <p:txBody>
            <a:bodyPr wrap="none" rtlCol="0">
              <a:spAutoFit/>
            </a:bodyPr>
            <a:lstStyle/>
            <a:p>
              <a:r>
                <a:rPr lang="en-US" b="1" dirty="0"/>
                <a:t>Resolve</a:t>
              </a:r>
            </a:p>
          </p:txBody>
        </p:sp>
      </p:grpSp>
      <p:sp>
        <p:nvSpPr>
          <p:cNvPr id="50" name="Rectangle 49">
            <a:extLst>
              <a:ext uri="{FF2B5EF4-FFF2-40B4-BE49-F238E27FC236}">
                <a16:creationId xmlns:a16="http://schemas.microsoft.com/office/drawing/2014/main" id="{793B0F83-12FC-EBEA-A253-2266DD105C37}"/>
              </a:ext>
            </a:extLst>
          </p:cNvPr>
          <p:cNvSpPr/>
          <p:nvPr/>
        </p:nvSpPr>
        <p:spPr>
          <a:xfrm>
            <a:off x="845769" y="5428389"/>
            <a:ext cx="10057450" cy="400110"/>
          </a:xfrm>
          <a:prstGeom prst="rect">
            <a:avLst/>
          </a:prstGeom>
        </p:spPr>
        <p:txBody>
          <a:bodyPr wrap="square">
            <a:spAutoFit/>
          </a:bodyPr>
          <a:lstStyle/>
          <a:p>
            <a:pPr algn="ctr"/>
            <a:r>
              <a:rPr lang="en-US" sz="2000" b="1" dirty="0">
                <a:solidFill>
                  <a:srgbClr val="FF0000"/>
                </a:solidFill>
              </a:rPr>
              <a:t>KIDS - A comprehensive model capturing Data, Knowledge, and Processes</a:t>
            </a:r>
            <a:r>
              <a:rPr lang="en-US" sz="2000" dirty="0">
                <a:solidFill>
                  <a:srgbClr val="FF0000"/>
                </a:solidFill>
              </a:rPr>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5024" y="145311"/>
            <a:ext cx="10578608" cy="941388"/>
          </a:xfrm>
        </p:spPr>
        <p: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8595B">
                    <a:lumMod val="50000"/>
                  </a:srgbClr>
                </a:solidFill>
                <a:effectLst/>
                <a:uLnTx/>
                <a:uFillTx/>
                <a:latin typeface="Calibri"/>
                <a:ea typeface="+mn-ea"/>
                <a:cs typeface="+mn-cs"/>
              </a:rPr>
              <a:t>KIDS – </a:t>
            </a:r>
            <a:r>
              <a:rPr lang="en-US" b="1" dirty="0">
                <a:solidFill>
                  <a:srgbClr val="58595B">
                    <a:lumMod val="50000"/>
                  </a:srgbClr>
                </a:solidFill>
                <a:latin typeface="Calibri"/>
                <a:ea typeface="+mn-ea"/>
                <a:cs typeface="+mn-cs"/>
              </a:rPr>
              <a:t>Alternative V</a:t>
            </a:r>
            <a:r>
              <a:rPr kumimoji="0" lang="en-US" sz="3600" b="1" i="0" u="none" strike="noStrike" kern="1200" cap="none" spc="0" normalizeH="0" baseline="0" noProof="0" dirty="0" err="1">
                <a:ln>
                  <a:noFill/>
                </a:ln>
                <a:solidFill>
                  <a:srgbClr val="58595B">
                    <a:lumMod val="50000"/>
                  </a:srgbClr>
                </a:solidFill>
                <a:effectLst/>
                <a:uLnTx/>
                <a:uFillTx/>
                <a:latin typeface="Calibri"/>
                <a:ea typeface="+mn-ea"/>
                <a:cs typeface="+mn-cs"/>
              </a:rPr>
              <a:t>iew</a:t>
            </a:r>
            <a:endParaRPr kumimoji="0" lang="en-US" sz="3600" b="1" i="0" u="none" strike="noStrike" kern="1200" cap="none" spc="0" normalizeH="0" baseline="0" noProof="0" dirty="0">
              <a:ln>
                <a:noFill/>
              </a:ln>
              <a:solidFill>
                <a:srgbClr val="58595B">
                  <a:lumMod val="50000"/>
                </a:srgbClr>
              </a:solidFill>
              <a:effectLst/>
              <a:uLnTx/>
              <a:uFillTx/>
              <a:latin typeface="Calibri"/>
              <a:ea typeface="+mn-ea"/>
              <a:cs typeface="+mn-cs"/>
            </a:endParaRPr>
          </a:p>
        </p:txBody>
      </p:sp>
      <p:sp>
        <p:nvSpPr>
          <p:cNvPr id="4" name="Slide Number Placeholder 3"/>
          <p:cNvSpPr>
            <a:spLocks noGrp="1"/>
          </p:cNvSpPr>
          <p:nvPr>
            <p:ph type="sldNum" sz="quarter" idx="10"/>
          </p:nvPr>
        </p:nvSpPr>
        <p:spPr/>
        <p:txBody>
          <a:bodyPr/>
          <a:lstStyle/>
          <a:p>
            <a:pPr>
              <a:defRPr/>
            </a:pPr>
            <a:r>
              <a:rPr lang="en-US" dirty="0"/>
              <a:t>Slide </a:t>
            </a:r>
            <a:fld id="{DC5FB746-B6B8-417D-AC16-61CDB61CC4D6}" type="slidenum">
              <a:rPr lang="en-US" smtClean="0"/>
              <a:pPr>
                <a:defRPr/>
              </a:pPr>
              <a:t>23</a:t>
            </a:fld>
            <a:endParaRPr lang="en-US" dirty="0"/>
          </a:p>
        </p:txBody>
      </p:sp>
      <p:sp>
        <p:nvSpPr>
          <p:cNvPr id="5" name="Date Placeholder 4"/>
          <p:cNvSpPr>
            <a:spLocks noGrp="1"/>
          </p:cNvSpPr>
          <p:nvPr>
            <p:ph type="dt" sz="half" idx="11"/>
          </p:nvPr>
        </p:nvSpPr>
        <p:spPr/>
        <p:txBody>
          <a:bodyPr/>
          <a:lstStyle/>
          <a:p>
            <a:r>
              <a:rPr lang="en-US"/>
              <a:t>May 27, 2023</a:t>
            </a:r>
            <a:endParaRPr lang="en-US" dirty="0"/>
          </a:p>
        </p:txBody>
      </p:sp>
      <p:sp>
        <p:nvSpPr>
          <p:cNvPr id="6" name="Footer Placeholder 5"/>
          <p:cNvSpPr>
            <a:spLocks noGrp="1"/>
          </p:cNvSpPr>
          <p:nvPr>
            <p:ph type="ftr" sz="quarter" idx="12"/>
          </p:nvPr>
        </p:nvSpPr>
        <p:spPr/>
        <p:txBody>
          <a:bodyPr/>
          <a:lstStyle/>
          <a:p>
            <a:r>
              <a:rPr lang="en-US"/>
              <a:t>MArburg - Turning Points</a:t>
            </a:r>
            <a:endParaRPr lang="en-US" dirty="0"/>
          </a:p>
        </p:txBody>
      </p:sp>
      <p:sp>
        <p:nvSpPr>
          <p:cNvPr id="3" name="Rounded Rectangle 16">
            <a:extLst>
              <a:ext uri="{FF2B5EF4-FFF2-40B4-BE49-F238E27FC236}">
                <a16:creationId xmlns:a16="http://schemas.microsoft.com/office/drawing/2014/main" id="{77FC494E-E731-E3AD-EB0E-A4F22AF6468B}"/>
              </a:ext>
            </a:extLst>
          </p:cNvPr>
          <p:cNvSpPr/>
          <p:nvPr/>
        </p:nvSpPr>
        <p:spPr>
          <a:xfrm>
            <a:off x="1905029" y="2914271"/>
            <a:ext cx="5669021" cy="1607001"/>
          </a:xfrm>
          <a:prstGeom prst="roundRect">
            <a:avLst/>
          </a:prstGeom>
          <a:solidFill>
            <a:schemeClr val="tx2">
              <a:lumMod val="75000"/>
            </a:schemeClr>
          </a:solid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00"/>
                </a:solidFill>
                <a:effectLst/>
                <a:uLnTx/>
                <a:uFillTx/>
                <a:latin typeface="Calibri"/>
                <a:ea typeface="+mn-ea"/>
                <a:cs typeface="+mn-cs"/>
              </a:rPr>
              <a:t>Qualitative</a:t>
            </a:r>
            <a:r>
              <a:rPr kumimoji="0" lang="en-US" b="1" i="0" u="none" strike="noStrike" kern="1200" cap="none" spc="0" normalizeH="0" noProof="0" dirty="0">
                <a:ln>
                  <a:noFill/>
                </a:ln>
                <a:solidFill>
                  <a:srgbClr val="FFFF00"/>
                </a:solidFill>
                <a:effectLst/>
                <a:uLnTx/>
                <a:uFillTx/>
                <a:latin typeface="Calibri"/>
                <a:ea typeface="+mn-ea"/>
                <a:cs typeface="+mn-cs"/>
              </a:rPr>
              <a:t> Data Processing – QDP</a:t>
            </a:r>
          </a:p>
          <a:p>
            <a:pPr lvl="0" algn="ctr">
              <a:defRPr/>
            </a:pPr>
            <a:r>
              <a:rPr lang="en-US" sz="1600" b="1" dirty="0">
                <a:solidFill>
                  <a:schemeClr val="bg1"/>
                </a:solidFill>
              </a:rPr>
              <a:t>Facts are interpreted and presented for human consumption</a:t>
            </a:r>
            <a:endParaRPr lang="en-US" sz="1600" b="1" dirty="0">
              <a:solidFill>
                <a:srgbClr val="FF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Calibri"/>
              <a:ea typeface="+mn-ea"/>
              <a:cs typeface="+mn-cs"/>
            </a:endParaRPr>
          </a:p>
        </p:txBody>
      </p:sp>
      <p:sp>
        <p:nvSpPr>
          <p:cNvPr id="7" name="Rounded Rectangle 4">
            <a:extLst>
              <a:ext uri="{FF2B5EF4-FFF2-40B4-BE49-F238E27FC236}">
                <a16:creationId xmlns:a16="http://schemas.microsoft.com/office/drawing/2014/main" id="{C91E2DC1-8780-5E62-3BA8-FB74CA5AD69C}"/>
              </a:ext>
            </a:extLst>
          </p:cNvPr>
          <p:cNvSpPr/>
          <p:nvPr/>
        </p:nvSpPr>
        <p:spPr>
          <a:xfrm>
            <a:off x="1880837" y="4861040"/>
            <a:ext cx="5643833" cy="1477228"/>
          </a:xfrm>
          <a:prstGeom prst="roundRect">
            <a:avLst/>
          </a:prstGeom>
          <a:solidFill>
            <a:srgbClr val="C00000"/>
          </a:solid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300" normalizeH="0" baseline="0" noProof="0" dirty="0">
                <a:ln>
                  <a:noFill/>
                </a:ln>
                <a:solidFill>
                  <a:srgbClr val="FFFF00"/>
                </a:solidFill>
                <a:effectLst/>
                <a:uLnTx/>
                <a:uFillTx/>
                <a:latin typeface="Calibri"/>
              </a:rPr>
              <a:t>Intelligent Data Pre-Processing </a:t>
            </a:r>
            <a:r>
              <a:rPr lang="en-US" b="1" spc="300" dirty="0">
                <a:solidFill>
                  <a:srgbClr val="FFFF00"/>
                </a:solidFill>
                <a:latin typeface="Calibri"/>
              </a:rPr>
              <a:t>- I</a:t>
            </a:r>
            <a:r>
              <a:rPr kumimoji="0" lang="en-US" b="1" i="0" u="none" strike="noStrike" kern="1200" cap="none" spc="300" normalizeH="0" baseline="0" noProof="0" dirty="0">
                <a:ln>
                  <a:noFill/>
                </a:ln>
                <a:solidFill>
                  <a:srgbClr val="FFFF00"/>
                </a:solidFill>
                <a:effectLst/>
                <a:uLnTx/>
                <a:uFillTx/>
                <a:latin typeface="Calibri"/>
              </a:rPr>
              <a:t>DP</a:t>
            </a:r>
            <a:endParaRPr lang="en-US" b="1" spc="300" dirty="0">
              <a:solidFill>
                <a:srgbClr val="FFFF00"/>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chemeClr val="bg1"/>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dirty="0">
              <a:solidFill>
                <a:schemeClr val="bg1"/>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1" i="0" u="none" strike="noStrike" kern="1200" cap="none" spc="0" normalizeH="0" baseline="0" noProof="0" dirty="0">
              <a:ln>
                <a:noFill/>
              </a:ln>
              <a:solidFill>
                <a:schemeClr val="bg1"/>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1" i="0" u="none" strike="noStrike" kern="1200" cap="none" spc="0" normalizeH="0" baseline="0" noProof="0" dirty="0">
              <a:ln>
                <a:noFill/>
              </a:ln>
              <a:solidFill>
                <a:schemeClr val="bg1"/>
              </a:solidFill>
              <a:effectLst/>
              <a:uLnTx/>
              <a:uFillTx/>
              <a:latin typeface="Calibri"/>
              <a:ea typeface="+mn-ea"/>
              <a:cs typeface="+mn-cs"/>
            </a:endParaRPr>
          </a:p>
        </p:txBody>
      </p:sp>
      <p:sp>
        <p:nvSpPr>
          <p:cNvPr id="8" name="Rounded Rectangle 7">
            <a:extLst>
              <a:ext uri="{FF2B5EF4-FFF2-40B4-BE49-F238E27FC236}">
                <a16:creationId xmlns:a16="http://schemas.microsoft.com/office/drawing/2014/main" id="{92A9D723-32E4-45A1-BBE9-683C97E82C48}"/>
              </a:ext>
            </a:extLst>
          </p:cNvPr>
          <p:cNvSpPr/>
          <p:nvPr/>
        </p:nvSpPr>
        <p:spPr>
          <a:xfrm>
            <a:off x="2009082" y="3627154"/>
            <a:ext cx="1439574" cy="403714"/>
          </a:xfrm>
          <a:prstGeom prst="roundRect">
            <a:avLst/>
          </a:prstGeom>
          <a:solidFill>
            <a:schemeClr val="bg2">
              <a:lumMod val="50000"/>
            </a:schemeClr>
          </a:solid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FFFFFF"/>
                </a:solidFill>
                <a:effectLst/>
                <a:uLnTx/>
                <a:uFillTx/>
                <a:latin typeface="Calibri"/>
                <a:ea typeface="+mn-ea"/>
                <a:cs typeface="+mn-cs"/>
              </a:rPr>
              <a:t>Perceptions</a:t>
            </a:r>
          </a:p>
        </p:txBody>
      </p:sp>
      <p:sp>
        <p:nvSpPr>
          <p:cNvPr id="9" name="Rounded Rectangle 11">
            <a:extLst>
              <a:ext uri="{FF2B5EF4-FFF2-40B4-BE49-F238E27FC236}">
                <a16:creationId xmlns:a16="http://schemas.microsoft.com/office/drawing/2014/main" id="{3342A1CC-4F27-2D69-72C1-8ECADEE13674}"/>
              </a:ext>
            </a:extLst>
          </p:cNvPr>
          <p:cNvSpPr/>
          <p:nvPr/>
        </p:nvSpPr>
        <p:spPr>
          <a:xfrm>
            <a:off x="4006152" y="3608866"/>
            <a:ext cx="1393205" cy="441967"/>
          </a:xfrm>
          <a:prstGeom prst="roundRect">
            <a:avLst/>
          </a:prstGeom>
          <a:solidFill>
            <a:schemeClr val="bg2">
              <a:lumMod val="50000"/>
            </a:schemeClr>
          </a:solid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FFFFFF"/>
                </a:solidFill>
                <a:effectLst/>
                <a:uLnTx/>
                <a:uFillTx/>
                <a:latin typeface="Calibri"/>
                <a:ea typeface="+mn-ea"/>
                <a:cs typeface="+mn-cs"/>
              </a:rPr>
              <a:t>Hypotheses</a:t>
            </a:r>
          </a:p>
        </p:txBody>
      </p:sp>
      <p:sp>
        <p:nvSpPr>
          <p:cNvPr id="11" name="Rounded Rectangle 12">
            <a:extLst>
              <a:ext uri="{FF2B5EF4-FFF2-40B4-BE49-F238E27FC236}">
                <a16:creationId xmlns:a16="http://schemas.microsoft.com/office/drawing/2014/main" id="{60ECE707-9CDC-209D-0891-F8D66BF171F5}"/>
              </a:ext>
            </a:extLst>
          </p:cNvPr>
          <p:cNvSpPr/>
          <p:nvPr/>
        </p:nvSpPr>
        <p:spPr>
          <a:xfrm>
            <a:off x="5971818" y="3608866"/>
            <a:ext cx="1496608" cy="441967"/>
          </a:xfrm>
          <a:prstGeom prst="roundRect">
            <a:avLst/>
          </a:prstGeom>
          <a:solidFill>
            <a:schemeClr val="bg2">
              <a:lumMod val="50000"/>
            </a:schemeClr>
          </a:solid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FFFFFF"/>
                </a:solidFill>
                <a:effectLst/>
                <a:uLnTx/>
                <a:uFillTx/>
                <a:latin typeface="Calibri"/>
                <a:ea typeface="+mn-ea"/>
                <a:cs typeface="+mn-cs"/>
              </a:rPr>
              <a:t>Directives</a:t>
            </a:r>
          </a:p>
        </p:txBody>
      </p:sp>
      <p:cxnSp>
        <p:nvCxnSpPr>
          <p:cNvPr id="13" name="Straight Arrow Connector 12">
            <a:extLst>
              <a:ext uri="{FF2B5EF4-FFF2-40B4-BE49-F238E27FC236}">
                <a16:creationId xmlns:a16="http://schemas.microsoft.com/office/drawing/2014/main" id="{E3D841D1-DE03-4BC6-EEE4-354E7FFC0296}"/>
              </a:ext>
            </a:extLst>
          </p:cNvPr>
          <p:cNvCxnSpPr>
            <a:stCxn id="8" idx="3"/>
            <a:endCxn id="9" idx="1"/>
          </p:cNvCxnSpPr>
          <p:nvPr/>
        </p:nvCxnSpPr>
        <p:spPr>
          <a:xfrm>
            <a:off x="3448656" y="3829011"/>
            <a:ext cx="557496" cy="839"/>
          </a:xfrm>
          <a:prstGeom prst="straightConnector1">
            <a:avLst/>
          </a:prstGeom>
          <a:ln w="38100">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96F1A7F-FEA4-DB9D-135E-96C9E95BE4A8}"/>
              </a:ext>
            </a:extLst>
          </p:cNvPr>
          <p:cNvCxnSpPr/>
          <p:nvPr/>
        </p:nvCxnSpPr>
        <p:spPr>
          <a:xfrm>
            <a:off x="4717801" y="2615938"/>
            <a:ext cx="0" cy="298333"/>
          </a:xfrm>
          <a:prstGeom prst="straightConnector1">
            <a:avLst/>
          </a:prstGeom>
          <a:ln w="38100">
            <a:prstDash val="sysDot"/>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3E4C783A-50C2-D780-A8FB-0BC768F87DD7}"/>
              </a:ext>
            </a:extLst>
          </p:cNvPr>
          <p:cNvPicPr>
            <a:picLocks noChangeAspect="1"/>
          </p:cNvPicPr>
          <p:nvPr/>
        </p:nvPicPr>
        <p:blipFill>
          <a:blip r:embed="rId2"/>
          <a:stretch>
            <a:fillRect/>
          </a:stretch>
        </p:blipFill>
        <p:spPr>
          <a:xfrm>
            <a:off x="7438291" y="5446196"/>
            <a:ext cx="2093417" cy="368203"/>
          </a:xfrm>
          <a:prstGeom prst="rect">
            <a:avLst/>
          </a:prstGeom>
          <a:ln w="28575">
            <a:noFill/>
          </a:ln>
        </p:spPr>
      </p:pic>
      <p:sp>
        <p:nvSpPr>
          <p:cNvPr id="29" name="Rounded Rectangle 38">
            <a:extLst>
              <a:ext uri="{FF2B5EF4-FFF2-40B4-BE49-F238E27FC236}">
                <a16:creationId xmlns:a16="http://schemas.microsoft.com/office/drawing/2014/main" id="{455A82AD-1CC2-29B0-7C85-11ACF8D84122}"/>
              </a:ext>
            </a:extLst>
          </p:cNvPr>
          <p:cNvSpPr/>
          <p:nvPr/>
        </p:nvSpPr>
        <p:spPr bwMode="gray">
          <a:xfrm>
            <a:off x="8656025" y="2914270"/>
            <a:ext cx="2792263" cy="3432567"/>
          </a:xfrm>
          <a:prstGeom prst="roundRect">
            <a:avLst/>
          </a:prstGeom>
          <a:solidFill>
            <a:schemeClr val="accent6">
              <a:lumMod val="75000"/>
            </a:schemeClr>
          </a:solidFill>
          <a:ln w="158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a:ea typeface="+mn-ea"/>
                <a:cs typeface="+mn-cs"/>
              </a:rPr>
              <a:t>External World</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a:ea typeface="+mn-ea"/>
                <a:cs typeface="+mn-cs"/>
              </a:rPr>
              <a:t>-</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a:ea typeface="+mn-ea"/>
                <a:cs typeface="+mn-cs"/>
              </a:rPr>
              <a:t>Measurements,</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a:ea typeface="+mn-ea"/>
                <a:cs typeface="+mn-cs"/>
              </a:rPr>
              <a:t>Images, …</a:t>
            </a:r>
          </a:p>
        </p:txBody>
      </p:sp>
      <p:cxnSp>
        <p:nvCxnSpPr>
          <p:cNvPr id="30" name="Straight Arrow Connector 29">
            <a:extLst>
              <a:ext uri="{FF2B5EF4-FFF2-40B4-BE49-F238E27FC236}">
                <a16:creationId xmlns:a16="http://schemas.microsoft.com/office/drawing/2014/main" id="{1B7A214F-C7C1-6B4B-FED6-E2037FB26136}"/>
              </a:ext>
            </a:extLst>
          </p:cNvPr>
          <p:cNvCxnSpPr>
            <a:stCxn id="11" idx="3"/>
          </p:cNvCxnSpPr>
          <p:nvPr/>
        </p:nvCxnSpPr>
        <p:spPr>
          <a:xfrm>
            <a:off x="7468426" y="3829850"/>
            <a:ext cx="1212787" cy="0"/>
          </a:xfrm>
          <a:prstGeom prst="straightConnector1">
            <a:avLst/>
          </a:prstGeom>
          <a:ln w="381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1" name="Left Arrow 47">
            <a:extLst>
              <a:ext uri="{FF2B5EF4-FFF2-40B4-BE49-F238E27FC236}">
                <a16:creationId xmlns:a16="http://schemas.microsoft.com/office/drawing/2014/main" id="{30DB0736-3358-E444-107B-F5E9B7333DE6}"/>
              </a:ext>
            </a:extLst>
          </p:cNvPr>
          <p:cNvSpPr/>
          <p:nvPr/>
        </p:nvSpPr>
        <p:spPr bwMode="gray">
          <a:xfrm>
            <a:off x="7574052" y="5089020"/>
            <a:ext cx="1081973" cy="1065146"/>
          </a:xfrm>
          <a:prstGeom prst="leftArrow">
            <a:avLst/>
          </a:prstGeom>
          <a:solidFill>
            <a:srgbClr val="FF0000"/>
          </a:solidFill>
          <a:ln w="1587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cxnSp>
        <p:nvCxnSpPr>
          <p:cNvPr id="32" name="Straight Arrow Connector 31">
            <a:extLst>
              <a:ext uri="{FF2B5EF4-FFF2-40B4-BE49-F238E27FC236}">
                <a16:creationId xmlns:a16="http://schemas.microsoft.com/office/drawing/2014/main" id="{0B087E39-E356-85AA-F061-E80E4A961E58}"/>
              </a:ext>
            </a:extLst>
          </p:cNvPr>
          <p:cNvCxnSpPr>
            <a:stCxn id="7" idx="1"/>
          </p:cNvCxnSpPr>
          <p:nvPr/>
        </p:nvCxnSpPr>
        <p:spPr>
          <a:xfrm flipH="1" flipV="1">
            <a:off x="1079412" y="5599654"/>
            <a:ext cx="825617" cy="1"/>
          </a:xfrm>
          <a:prstGeom prst="straightConnector1">
            <a:avLst/>
          </a:prstGeom>
          <a:ln w="381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E46D058-B129-4B7B-4243-71398D22698B}"/>
              </a:ext>
            </a:extLst>
          </p:cNvPr>
          <p:cNvCxnSpPr/>
          <p:nvPr/>
        </p:nvCxnSpPr>
        <p:spPr>
          <a:xfrm flipH="1" flipV="1">
            <a:off x="1079412" y="4273041"/>
            <a:ext cx="9159" cy="1309153"/>
          </a:xfrm>
          <a:prstGeom prst="line">
            <a:avLst/>
          </a:prstGeom>
          <a:ln w="38100">
            <a:solidFill>
              <a:srgbClr val="FF0000"/>
            </a:solidFill>
            <a:miter lim="800000"/>
            <a:tailEnd type="arrow"/>
          </a:ln>
        </p:spPr>
        <p:style>
          <a:lnRef idx="1">
            <a:schemeClr val="accent1"/>
          </a:lnRef>
          <a:fillRef idx="0">
            <a:schemeClr val="accent1"/>
          </a:fillRef>
          <a:effectRef idx="0">
            <a:schemeClr val="accent1"/>
          </a:effectRef>
          <a:fontRef idx="minor">
            <a:schemeClr val="tx1"/>
          </a:fontRef>
        </p:style>
      </p:cxnSp>
      <p:sp>
        <p:nvSpPr>
          <p:cNvPr id="34" name="Rounded Rectangle 15">
            <a:extLst>
              <a:ext uri="{FF2B5EF4-FFF2-40B4-BE49-F238E27FC236}">
                <a16:creationId xmlns:a16="http://schemas.microsoft.com/office/drawing/2014/main" id="{B6C4AA8C-B45C-2AF8-6FC3-C0A175D2AA84}"/>
              </a:ext>
            </a:extLst>
          </p:cNvPr>
          <p:cNvSpPr/>
          <p:nvPr/>
        </p:nvSpPr>
        <p:spPr>
          <a:xfrm>
            <a:off x="1905029" y="1507015"/>
            <a:ext cx="5669021" cy="1108923"/>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2400" b="1" dirty="0">
                <a:solidFill>
                  <a:srgbClr val="FFFF00"/>
                </a:solidFill>
              </a:rPr>
              <a:t>Human-in-the-Loop - HIL</a:t>
            </a:r>
          </a:p>
          <a:p>
            <a:pPr lvl="0" algn="ctr">
              <a:defRPr/>
            </a:pPr>
            <a:r>
              <a:rPr lang="en-US" sz="1600" b="1" u="sng" dirty="0">
                <a:solidFill>
                  <a:srgbClr val="FFFF00"/>
                </a:solidFill>
              </a:rPr>
              <a:t>Execution</a:t>
            </a:r>
            <a:r>
              <a:rPr lang="en-US" sz="1600" b="1" dirty="0">
                <a:solidFill>
                  <a:srgbClr val="FFFF00"/>
                </a:solidFill>
              </a:rPr>
              <a:t>: Investigations, Decisions </a:t>
            </a:r>
          </a:p>
          <a:p>
            <a:pPr lvl="0" algn="ctr">
              <a:defRPr/>
            </a:pPr>
            <a:r>
              <a:rPr lang="en-US" sz="1600" b="1" u="sng" dirty="0">
                <a:solidFill>
                  <a:srgbClr val="FFFF00"/>
                </a:solidFill>
              </a:rPr>
              <a:t>Evolution</a:t>
            </a:r>
            <a:r>
              <a:rPr lang="en-US" sz="1600" b="1" dirty="0">
                <a:solidFill>
                  <a:srgbClr val="FFFF00"/>
                </a:solidFill>
              </a:rPr>
              <a:t>: Model Development and Improvements, Research </a:t>
            </a:r>
          </a:p>
        </p:txBody>
      </p:sp>
      <p:cxnSp>
        <p:nvCxnSpPr>
          <p:cNvPr id="35" name="Straight Arrow Connector 34">
            <a:extLst>
              <a:ext uri="{FF2B5EF4-FFF2-40B4-BE49-F238E27FC236}">
                <a16:creationId xmlns:a16="http://schemas.microsoft.com/office/drawing/2014/main" id="{9DA902A8-8CBA-EC5E-244E-7E1A92B14A56}"/>
              </a:ext>
            </a:extLst>
          </p:cNvPr>
          <p:cNvCxnSpPr>
            <a:endCxn id="34" idx="1"/>
          </p:cNvCxnSpPr>
          <p:nvPr/>
        </p:nvCxnSpPr>
        <p:spPr>
          <a:xfrm flipV="1">
            <a:off x="1066816" y="2061477"/>
            <a:ext cx="838213" cy="2211562"/>
          </a:xfrm>
          <a:prstGeom prst="straightConnector1">
            <a:avLst/>
          </a:prstGeom>
          <a:ln w="38100">
            <a:solidFill>
              <a:srgbClr val="FF0000"/>
            </a:solidFill>
            <a:prstDash val="sysDot"/>
            <a:miter lim="8000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9F18593-9979-1745-4164-9883C216AA57}"/>
              </a:ext>
            </a:extLst>
          </p:cNvPr>
          <p:cNvCxnSpPr>
            <a:stCxn id="9" idx="3"/>
            <a:endCxn id="11" idx="1"/>
          </p:cNvCxnSpPr>
          <p:nvPr/>
        </p:nvCxnSpPr>
        <p:spPr>
          <a:xfrm>
            <a:off x="5399357" y="3829850"/>
            <a:ext cx="572461" cy="0"/>
          </a:xfrm>
          <a:prstGeom prst="straightConnector1">
            <a:avLst/>
          </a:prstGeom>
          <a:ln w="38100">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5896948-2CC9-54D6-79E4-3918814F4B63}"/>
              </a:ext>
            </a:extLst>
          </p:cNvPr>
          <p:cNvCxnSpPr>
            <a:stCxn id="3" idx="2"/>
          </p:cNvCxnSpPr>
          <p:nvPr/>
        </p:nvCxnSpPr>
        <p:spPr>
          <a:xfrm flipH="1">
            <a:off x="4717801" y="4521272"/>
            <a:ext cx="0" cy="339768"/>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10">
            <a:extLst>
              <a:ext uri="{FF2B5EF4-FFF2-40B4-BE49-F238E27FC236}">
                <a16:creationId xmlns:a16="http://schemas.microsoft.com/office/drawing/2014/main" id="{156E8454-F754-825D-99A9-A9727878445C}"/>
              </a:ext>
            </a:extLst>
          </p:cNvPr>
          <p:cNvSpPr/>
          <p:nvPr/>
        </p:nvSpPr>
        <p:spPr bwMode="gray">
          <a:xfrm>
            <a:off x="8656025" y="1602803"/>
            <a:ext cx="2540598" cy="1017129"/>
          </a:xfrm>
          <a:prstGeom prst="roundRect">
            <a:avLst/>
          </a:prstGeom>
          <a:solidFill>
            <a:schemeClr val="bg1"/>
          </a:solidFill>
          <a:ln w="76200">
            <a:solidFill>
              <a:schemeClr val="accent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dirty="0">
                <a:solidFill>
                  <a:schemeClr val="tx1">
                    <a:lumMod val="75000"/>
                  </a:schemeClr>
                </a:solidFill>
              </a:rPr>
              <a:t>NL</a:t>
            </a:r>
            <a:r>
              <a:rPr lang="en-US" dirty="0">
                <a:solidFill>
                  <a:schemeClr val="tx1">
                    <a:lumMod val="75000"/>
                  </a:schemeClr>
                </a:solidFill>
              </a:rPr>
              <a:t>, </a:t>
            </a:r>
            <a:r>
              <a:rPr lang="en-US" b="1" dirty="0">
                <a:solidFill>
                  <a:schemeClr val="tx1">
                    <a:lumMod val="75000"/>
                  </a:schemeClr>
                </a:solidFill>
              </a:rPr>
              <a:t>Application</a:t>
            </a:r>
            <a:r>
              <a:rPr lang="en-US" dirty="0">
                <a:solidFill>
                  <a:schemeClr val="tx1">
                    <a:lumMod val="75000"/>
                  </a:schemeClr>
                </a:solidFill>
              </a:rPr>
              <a:t> </a:t>
            </a:r>
            <a:r>
              <a:rPr lang="en-US" b="1" dirty="0">
                <a:solidFill>
                  <a:schemeClr val="tx1">
                    <a:lumMod val="75000"/>
                  </a:schemeClr>
                </a:solidFill>
              </a:rPr>
              <a:t>domain specific jargons, or IT interfaces</a:t>
            </a:r>
            <a:endParaRPr lang="en-US" dirty="0">
              <a:solidFill>
                <a:schemeClr val="tx1">
                  <a:lumMod val="75000"/>
                </a:schemeClr>
              </a:solidFill>
            </a:endParaRPr>
          </a:p>
        </p:txBody>
      </p:sp>
      <p:cxnSp>
        <p:nvCxnSpPr>
          <p:cNvPr id="39" name="Straight Arrow Connector 38">
            <a:extLst>
              <a:ext uri="{FF2B5EF4-FFF2-40B4-BE49-F238E27FC236}">
                <a16:creationId xmlns:a16="http://schemas.microsoft.com/office/drawing/2014/main" id="{4AE6D20C-A256-80EF-1AB2-DF1AC886B87C}"/>
              </a:ext>
            </a:extLst>
          </p:cNvPr>
          <p:cNvCxnSpPr>
            <a:endCxn id="38" idx="1"/>
          </p:cNvCxnSpPr>
          <p:nvPr/>
        </p:nvCxnSpPr>
        <p:spPr>
          <a:xfrm flipV="1">
            <a:off x="6665976" y="2111368"/>
            <a:ext cx="1990049" cy="1345064"/>
          </a:xfrm>
          <a:prstGeom prst="straightConnector1">
            <a:avLst/>
          </a:prstGeom>
          <a:ln w="19050">
            <a:solidFill>
              <a:schemeClr val="accent1">
                <a:lumMod val="75000"/>
              </a:schemeClr>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Rounded Rectangle 49">
            <a:extLst>
              <a:ext uri="{FF2B5EF4-FFF2-40B4-BE49-F238E27FC236}">
                <a16:creationId xmlns:a16="http://schemas.microsoft.com/office/drawing/2014/main" id="{18CF8787-DA98-446D-9A11-366B6EE5F2E1}"/>
              </a:ext>
            </a:extLst>
          </p:cNvPr>
          <p:cNvSpPr/>
          <p:nvPr/>
        </p:nvSpPr>
        <p:spPr bwMode="gray">
          <a:xfrm>
            <a:off x="2028284" y="4121930"/>
            <a:ext cx="5431536" cy="302218"/>
          </a:xfrm>
          <a:prstGeom prst="roundRect">
            <a:avLst/>
          </a:prstGeom>
          <a:solidFill>
            <a:schemeClr val="bg2">
              <a:lumMod val="50000"/>
            </a:schemeClr>
          </a:solidFill>
          <a:ln w="158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b="1" spc="600" dirty="0">
                <a:solidFill>
                  <a:schemeClr val="bg1"/>
                </a:solidFill>
              </a:rPr>
              <a:t>Abnormalities/Incidents</a:t>
            </a:r>
          </a:p>
        </p:txBody>
      </p:sp>
      <p:cxnSp>
        <p:nvCxnSpPr>
          <p:cNvPr id="41" name="Straight Arrow Connector 40">
            <a:extLst>
              <a:ext uri="{FF2B5EF4-FFF2-40B4-BE49-F238E27FC236}">
                <a16:creationId xmlns:a16="http://schemas.microsoft.com/office/drawing/2014/main" id="{17724C25-02CD-631B-2959-33B0B9AB5637}"/>
              </a:ext>
            </a:extLst>
          </p:cNvPr>
          <p:cNvCxnSpPr>
            <a:endCxn id="40" idx="1"/>
          </p:cNvCxnSpPr>
          <p:nvPr/>
        </p:nvCxnSpPr>
        <p:spPr>
          <a:xfrm>
            <a:off x="1077728" y="4273039"/>
            <a:ext cx="950556" cy="0"/>
          </a:xfrm>
          <a:prstGeom prst="straightConnector1">
            <a:avLst/>
          </a:prstGeom>
          <a:ln w="38100">
            <a:solidFill>
              <a:schemeClr val="accent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11F0F61-87E2-7BDB-FA02-555227C06AE3}"/>
              </a:ext>
            </a:extLst>
          </p:cNvPr>
          <p:cNvSpPr txBox="1"/>
          <p:nvPr/>
        </p:nvSpPr>
        <p:spPr>
          <a:xfrm>
            <a:off x="4232738" y="5814399"/>
            <a:ext cx="45719" cy="45719"/>
          </a:xfrm>
          <a:prstGeom prst="rect">
            <a:avLst/>
          </a:prstGeom>
          <a:noFill/>
        </p:spPr>
        <p:txBody>
          <a:bodyPr wrap="square" lIns="0" tIns="0" rIns="0" bIns="0" rtlCol="0">
            <a:noAutofit/>
          </a:bodyPr>
          <a:lstStyle/>
          <a:p>
            <a:pPr>
              <a:lnSpc>
                <a:spcPct val="90000"/>
              </a:lnSpc>
            </a:pPr>
            <a:endParaRPr lang="en-US" dirty="0"/>
          </a:p>
        </p:txBody>
      </p:sp>
      <p:sp>
        <p:nvSpPr>
          <p:cNvPr id="49" name="Rectangle 48">
            <a:extLst>
              <a:ext uri="{FF2B5EF4-FFF2-40B4-BE49-F238E27FC236}">
                <a16:creationId xmlns:a16="http://schemas.microsoft.com/office/drawing/2014/main" id="{D9270497-CEDB-EFEF-A68C-00C070F80770}"/>
              </a:ext>
            </a:extLst>
          </p:cNvPr>
          <p:cNvSpPr/>
          <p:nvPr/>
        </p:nvSpPr>
        <p:spPr bwMode="gray">
          <a:xfrm>
            <a:off x="5843252" y="5500442"/>
            <a:ext cx="1398796" cy="677715"/>
          </a:xfrm>
          <a:prstGeom prst="rect">
            <a:avLst/>
          </a:prstGeom>
          <a:solidFill>
            <a:srgbClr val="FF0000"/>
          </a:solidFill>
          <a:ln w="158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1200" dirty="0">
                <a:solidFill>
                  <a:schemeClr val="bg1"/>
                </a:solidFill>
              </a:rPr>
              <a:t>Ingest</a:t>
            </a:r>
          </a:p>
          <a:p>
            <a:pPr algn="ctr">
              <a:lnSpc>
                <a:spcPct val="90000"/>
              </a:lnSpc>
            </a:pPr>
            <a:r>
              <a:rPr lang="en-US" sz="1200" dirty="0">
                <a:solidFill>
                  <a:schemeClr val="bg1"/>
                </a:solidFill>
              </a:rPr>
              <a:t>Verification</a:t>
            </a:r>
          </a:p>
          <a:p>
            <a:pPr algn="ctr">
              <a:lnSpc>
                <a:spcPct val="90000"/>
              </a:lnSpc>
            </a:pPr>
            <a:r>
              <a:rPr lang="en-US" sz="1200" dirty="0">
                <a:solidFill>
                  <a:schemeClr val="bg1"/>
                </a:solidFill>
              </a:rPr>
              <a:t>Storage</a:t>
            </a:r>
          </a:p>
        </p:txBody>
      </p:sp>
      <p:sp>
        <p:nvSpPr>
          <p:cNvPr id="51" name="Rectangle 50">
            <a:extLst>
              <a:ext uri="{FF2B5EF4-FFF2-40B4-BE49-F238E27FC236}">
                <a16:creationId xmlns:a16="http://schemas.microsoft.com/office/drawing/2014/main" id="{189A1962-63D8-1CA5-5661-44DF4DB62C22}"/>
              </a:ext>
            </a:extLst>
          </p:cNvPr>
          <p:cNvSpPr/>
          <p:nvPr/>
        </p:nvSpPr>
        <p:spPr bwMode="gray">
          <a:xfrm>
            <a:off x="4052769" y="5500442"/>
            <a:ext cx="1391882" cy="677715"/>
          </a:xfrm>
          <a:prstGeom prst="rect">
            <a:avLst/>
          </a:prstGeom>
          <a:solidFill>
            <a:srgbClr val="FF0000"/>
          </a:solidFill>
          <a:ln w="158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1200" dirty="0">
                <a:solidFill>
                  <a:schemeClr val="bg1"/>
                </a:solidFill>
              </a:rPr>
              <a:t>Data preparation</a:t>
            </a:r>
          </a:p>
        </p:txBody>
      </p:sp>
      <p:sp>
        <p:nvSpPr>
          <p:cNvPr id="52" name="Rectangle 51">
            <a:extLst>
              <a:ext uri="{FF2B5EF4-FFF2-40B4-BE49-F238E27FC236}">
                <a16:creationId xmlns:a16="http://schemas.microsoft.com/office/drawing/2014/main" id="{6AF442FE-711C-7AEA-DC48-E70BE17CC1B0}"/>
              </a:ext>
            </a:extLst>
          </p:cNvPr>
          <p:cNvSpPr/>
          <p:nvPr/>
        </p:nvSpPr>
        <p:spPr bwMode="gray">
          <a:xfrm>
            <a:off x="2197412" y="5287195"/>
            <a:ext cx="1314370" cy="535437"/>
          </a:xfrm>
          <a:prstGeom prst="rect">
            <a:avLst/>
          </a:prstGeom>
          <a:solidFill>
            <a:srgbClr val="FF0000"/>
          </a:solidFill>
          <a:ln w="158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1200" dirty="0">
                <a:solidFill>
                  <a:schemeClr val="bg1"/>
                </a:solidFill>
              </a:rPr>
              <a:t>Event detection:</a:t>
            </a:r>
            <a:endParaRPr lang="en-US" sz="1000" dirty="0">
              <a:solidFill>
                <a:schemeClr val="bg1"/>
              </a:solidFill>
            </a:endParaRPr>
          </a:p>
          <a:p>
            <a:pPr algn="ctr">
              <a:lnSpc>
                <a:spcPct val="90000"/>
              </a:lnSpc>
            </a:pPr>
            <a:r>
              <a:rPr lang="en-US" sz="1000" dirty="0">
                <a:solidFill>
                  <a:schemeClr val="bg1"/>
                </a:solidFill>
              </a:rPr>
              <a:t>Abnormal  conditions</a:t>
            </a:r>
          </a:p>
          <a:p>
            <a:pPr algn="ctr">
              <a:lnSpc>
                <a:spcPct val="90000"/>
              </a:lnSpc>
            </a:pPr>
            <a:r>
              <a:rPr lang="en-US" sz="1000" dirty="0">
                <a:solidFill>
                  <a:schemeClr val="bg1"/>
                </a:solidFill>
              </a:rPr>
              <a:t>Pattern detections</a:t>
            </a:r>
          </a:p>
        </p:txBody>
      </p:sp>
      <p:cxnSp>
        <p:nvCxnSpPr>
          <p:cNvPr id="53" name="Straight Arrow Connector 52">
            <a:extLst>
              <a:ext uri="{FF2B5EF4-FFF2-40B4-BE49-F238E27FC236}">
                <a16:creationId xmlns:a16="http://schemas.microsoft.com/office/drawing/2014/main" id="{6BB5DF00-DA59-3813-17C9-AD2E40916DD4}"/>
              </a:ext>
            </a:extLst>
          </p:cNvPr>
          <p:cNvCxnSpPr/>
          <p:nvPr/>
        </p:nvCxnSpPr>
        <p:spPr>
          <a:xfrm>
            <a:off x="6144768" y="5446196"/>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A0EBB3B-5AD7-D202-0945-4924173ACEE3}"/>
              </a:ext>
            </a:extLst>
          </p:cNvPr>
          <p:cNvCxnSpPr>
            <a:stCxn id="49" idx="1"/>
            <a:endCxn id="51" idx="3"/>
          </p:cNvCxnSpPr>
          <p:nvPr/>
        </p:nvCxnSpPr>
        <p:spPr>
          <a:xfrm flipH="1">
            <a:off x="5444651" y="5839300"/>
            <a:ext cx="398601"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3EEF11A-9A26-0CF9-FF76-EA7328734D01}"/>
              </a:ext>
            </a:extLst>
          </p:cNvPr>
          <p:cNvCxnSpPr>
            <a:stCxn id="51" idx="1"/>
            <a:endCxn id="52" idx="3"/>
          </p:cNvCxnSpPr>
          <p:nvPr/>
        </p:nvCxnSpPr>
        <p:spPr>
          <a:xfrm flipH="1" flipV="1">
            <a:off x="3511782" y="5554914"/>
            <a:ext cx="540987" cy="28438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8DD25405-65CC-01B7-5469-4C11D9084FA7}"/>
              </a:ext>
            </a:extLst>
          </p:cNvPr>
          <p:cNvSpPr/>
          <p:nvPr/>
        </p:nvSpPr>
        <p:spPr bwMode="gray">
          <a:xfrm>
            <a:off x="2197412" y="5894930"/>
            <a:ext cx="1314369" cy="384113"/>
          </a:xfrm>
          <a:prstGeom prst="rect">
            <a:avLst/>
          </a:prstGeom>
          <a:solidFill>
            <a:srgbClr val="FF0000"/>
          </a:solidFill>
          <a:ln w="158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r>
              <a:rPr lang="en-US" sz="1200" dirty="0">
                <a:solidFill>
                  <a:schemeClr val="bg1"/>
                </a:solidFill>
              </a:rPr>
              <a:t>Tamper Proofing</a:t>
            </a:r>
            <a:endParaRPr lang="en-US" sz="1000" dirty="0">
              <a:solidFill>
                <a:schemeClr val="bg1"/>
              </a:solidFill>
            </a:endParaRPr>
          </a:p>
        </p:txBody>
      </p:sp>
      <p:cxnSp>
        <p:nvCxnSpPr>
          <p:cNvPr id="57" name="Straight Arrow Connector 56">
            <a:extLst>
              <a:ext uri="{FF2B5EF4-FFF2-40B4-BE49-F238E27FC236}">
                <a16:creationId xmlns:a16="http://schemas.microsoft.com/office/drawing/2014/main" id="{2474F629-2211-3020-013D-E4AC66C354FC}"/>
              </a:ext>
            </a:extLst>
          </p:cNvPr>
          <p:cNvCxnSpPr>
            <a:stCxn id="51" idx="1"/>
            <a:endCxn id="56" idx="3"/>
          </p:cNvCxnSpPr>
          <p:nvPr/>
        </p:nvCxnSpPr>
        <p:spPr>
          <a:xfrm flipH="1">
            <a:off x="3511781" y="5839300"/>
            <a:ext cx="540988" cy="24768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48835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Status</a:t>
            </a:r>
          </a:p>
        </p:txBody>
      </p:sp>
      <p:sp>
        <p:nvSpPr>
          <p:cNvPr id="3" name="Content Placeholder 2"/>
          <p:cNvSpPr>
            <a:spLocks noGrp="1"/>
          </p:cNvSpPr>
          <p:nvPr>
            <p:ph idx="1"/>
          </p:nvPr>
        </p:nvSpPr>
        <p:spPr/>
        <p:txBody>
          <a:bodyPr>
            <a:normAutofit/>
          </a:bodyPr>
          <a:lstStyle/>
          <a:p>
            <a:r>
              <a:rPr lang="en-US" dirty="0"/>
              <a:t>Many applications provide ad-hoc support of situation awareness, i.e., situation awareness is already here</a:t>
            </a:r>
          </a:p>
          <a:p>
            <a:r>
              <a:rPr lang="en-US" dirty="0"/>
              <a:t>We need to identify the core use cases – </a:t>
            </a:r>
            <a:r>
              <a:rPr lang="en-US" dirty="0">
                <a:solidFill>
                  <a:srgbClr val="00B050"/>
                </a:solidFill>
              </a:rPr>
              <a:t>the TP1 equivalent from the OLTP Turning Point</a:t>
            </a:r>
          </a:p>
          <a:p>
            <a:pPr lvl="1"/>
            <a:r>
              <a:rPr lang="en-US" dirty="0">
                <a:solidFill>
                  <a:srgbClr val="000000"/>
                </a:solidFill>
              </a:rPr>
              <a:t>There is enough knowledge to develop a use case based on IoT (Internet of Things)</a:t>
            </a:r>
          </a:p>
          <a:p>
            <a:r>
              <a:rPr lang="en-US" dirty="0"/>
              <a:t>We need situation awareness focused technologies: models, tools, services</a:t>
            </a:r>
          </a:p>
          <a:p>
            <a:r>
              <a:rPr lang="en-US" dirty="0"/>
              <a:t>We need a change in mind: Data are an </a:t>
            </a:r>
            <a:r>
              <a:rPr lang="en-US">
                <a:solidFill>
                  <a:srgbClr val="FF0000"/>
                </a:solidFill>
              </a:rPr>
              <a:t>active</a:t>
            </a:r>
            <a:r>
              <a:rPr lang="en-US"/>
              <a:t> and </a:t>
            </a:r>
            <a:r>
              <a:rPr lang="en-US" dirty="0"/>
              <a:t>not only a </a:t>
            </a:r>
            <a:r>
              <a:rPr lang="en-US" dirty="0">
                <a:solidFill>
                  <a:srgbClr val="FF0000"/>
                </a:solidFill>
              </a:rPr>
              <a:t>passive</a:t>
            </a:r>
            <a:r>
              <a:rPr lang="en-US" dirty="0"/>
              <a:t> resource – </a:t>
            </a:r>
            <a:r>
              <a:rPr lang="en-US" dirty="0">
                <a:solidFill>
                  <a:srgbClr val="FF0000"/>
                </a:solidFill>
              </a:rPr>
              <a:t>this reflects much better the notion of a data driven society</a:t>
            </a:r>
          </a:p>
          <a:p>
            <a:endParaRPr lang="en-US" dirty="0"/>
          </a:p>
        </p:txBody>
      </p:sp>
      <p:sp>
        <p:nvSpPr>
          <p:cNvPr id="4" name="Slide Number Placeholder 3"/>
          <p:cNvSpPr>
            <a:spLocks noGrp="1"/>
          </p:cNvSpPr>
          <p:nvPr>
            <p:ph type="sldNum" sz="quarter" idx="10"/>
          </p:nvPr>
        </p:nvSpPr>
        <p:spPr/>
        <p:txBody>
          <a:bodyPr/>
          <a:lstStyle/>
          <a:p>
            <a:pPr>
              <a:defRPr/>
            </a:pPr>
            <a:r>
              <a:rPr lang="en-US"/>
              <a:t>Slide </a:t>
            </a:r>
            <a:fld id="{DC5FB746-B6B8-417D-AC16-61CDB61CC4D6}" type="slidenum">
              <a:rPr lang="en-US" smtClean="0"/>
              <a:pPr>
                <a:defRPr/>
              </a:pPr>
              <a:t>24</a:t>
            </a:fld>
            <a:endParaRPr lang="en-US" dirty="0"/>
          </a:p>
        </p:txBody>
      </p:sp>
      <p:sp>
        <p:nvSpPr>
          <p:cNvPr id="5" name="Date Placeholder 4"/>
          <p:cNvSpPr>
            <a:spLocks noGrp="1"/>
          </p:cNvSpPr>
          <p:nvPr>
            <p:ph type="dt" sz="half" idx="11"/>
          </p:nvPr>
        </p:nvSpPr>
        <p:spPr/>
        <p:txBody>
          <a:bodyPr/>
          <a:lstStyle/>
          <a:p>
            <a:r>
              <a:rPr lang="en-US"/>
              <a:t>May 27, 2023</a:t>
            </a:r>
            <a:endParaRPr lang="en-US" dirty="0"/>
          </a:p>
        </p:txBody>
      </p:sp>
      <p:sp>
        <p:nvSpPr>
          <p:cNvPr id="6" name="Footer Placeholder 5"/>
          <p:cNvSpPr>
            <a:spLocks noGrp="1"/>
          </p:cNvSpPr>
          <p:nvPr>
            <p:ph type="ftr" sz="quarter" idx="12"/>
          </p:nvPr>
        </p:nvSpPr>
        <p:spPr/>
        <p:txBody>
          <a:bodyPr/>
          <a:lstStyle/>
          <a:p>
            <a:r>
              <a:rPr lang="en-US"/>
              <a:t>MArburg - Turning Points</a:t>
            </a:r>
            <a:endParaRPr lang="en-US" dirty="0"/>
          </a:p>
        </p:txBody>
      </p:sp>
    </p:spTree>
    <p:extLst>
      <p:ext uri="{BB962C8B-B14F-4D97-AF65-F5344CB8AC3E}">
        <p14:creationId xmlns:p14="http://schemas.microsoft.com/office/powerpoint/2010/main" val="61678775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Status and Challenges </a:t>
            </a:r>
          </a:p>
        </p:txBody>
      </p:sp>
      <p:sp>
        <p:nvSpPr>
          <p:cNvPr id="3" name="Content Placeholder 2"/>
          <p:cNvSpPr>
            <a:spLocks noGrp="1"/>
          </p:cNvSpPr>
          <p:nvPr>
            <p:ph idx="1"/>
          </p:nvPr>
        </p:nvSpPr>
        <p:spPr>
          <a:xfrm>
            <a:off x="531151" y="1524000"/>
            <a:ext cx="11126522" cy="4419600"/>
          </a:xfrm>
        </p:spPr>
        <p:txBody>
          <a:bodyPr>
            <a:normAutofit fontScale="85000" lnSpcReduction="20000"/>
          </a:bodyPr>
          <a:lstStyle/>
          <a:p>
            <a:r>
              <a:rPr lang="en-US" dirty="0"/>
              <a:t>Many groups work explicit or implicit on situation awareness application and technologies</a:t>
            </a:r>
          </a:p>
          <a:p>
            <a:r>
              <a:rPr lang="en-US" dirty="0"/>
              <a:t>My (partial) list of challenges</a:t>
            </a:r>
          </a:p>
          <a:p>
            <a:pPr lvl="1"/>
            <a:r>
              <a:rPr lang="en-US" dirty="0"/>
              <a:t>SA model and supporting technologies</a:t>
            </a:r>
          </a:p>
          <a:p>
            <a:pPr lvl="1"/>
            <a:r>
              <a:rPr lang="en-US" dirty="0"/>
              <a:t>Data ingest with user defined mix of operational characteristics – too many to mention here</a:t>
            </a:r>
          </a:p>
          <a:p>
            <a:pPr lvl="1"/>
            <a:r>
              <a:rPr lang="en-US" dirty="0"/>
              <a:t>Use immutability of data to merge data and journal</a:t>
            </a:r>
          </a:p>
          <a:p>
            <a:pPr lvl="1"/>
            <a:r>
              <a:rPr lang="en-US" dirty="0"/>
              <a:t>Comprehensive meta-data management </a:t>
            </a:r>
          </a:p>
          <a:p>
            <a:pPr lvl="1"/>
            <a:r>
              <a:rPr lang="en-US" dirty="0"/>
              <a:t>Powerful event detection including abnormal conditional, not just instances of patterns</a:t>
            </a:r>
          </a:p>
          <a:p>
            <a:pPr lvl="1"/>
            <a:r>
              <a:rPr lang="en-US" dirty="0"/>
              <a:t>Events at a point in time (change in state) and situations (as typically used in daily life)</a:t>
            </a:r>
          </a:p>
          <a:p>
            <a:pPr lvl="1"/>
            <a:r>
              <a:rPr lang="en-US" dirty="0"/>
              <a:t>Flexible workflow/sagas based on declarative definitions</a:t>
            </a:r>
          </a:p>
          <a:p>
            <a:pPr lvl="1"/>
            <a:r>
              <a:rPr lang="en-US" dirty="0"/>
              <a:t>Data management needs temporal and event support in a consistent way</a:t>
            </a:r>
          </a:p>
          <a:p>
            <a:pPr lvl="1"/>
            <a:r>
              <a:rPr lang="en-US" dirty="0"/>
              <a:t>ML/AI needs to become deterministic – much like MSET (Multivariate State Estimation Technique)</a:t>
            </a:r>
          </a:p>
          <a:p>
            <a:pPr lvl="1"/>
            <a:r>
              <a:rPr lang="en-US" dirty="0"/>
              <a:t>And much more </a:t>
            </a:r>
          </a:p>
        </p:txBody>
      </p:sp>
      <p:sp>
        <p:nvSpPr>
          <p:cNvPr id="4" name="Slide Number Placeholder 3"/>
          <p:cNvSpPr>
            <a:spLocks noGrp="1"/>
          </p:cNvSpPr>
          <p:nvPr>
            <p:ph type="sldNum" sz="quarter" idx="10"/>
          </p:nvPr>
        </p:nvSpPr>
        <p:spPr/>
        <p:txBody>
          <a:bodyPr/>
          <a:lstStyle/>
          <a:p>
            <a:pPr>
              <a:defRPr/>
            </a:pPr>
            <a:r>
              <a:rPr lang="en-US"/>
              <a:t>Slide </a:t>
            </a:r>
            <a:fld id="{DC5FB746-B6B8-417D-AC16-61CDB61CC4D6}" type="slidenum">
              <a:rPr lang="en-US" smtClean="0"/>
              <a:pPr>
                <a:defRPr/>
              </a:pPr>
              <a:t>25</a:t>
            </a:fld>
            <a:endParaRPr lang="en-US" dirty="0"/>
          </a:p>
        </p:txBody>
      </p:sp>
      <p:sp>
        <p:nvSpPr>
          <p:cNvPr id="5" name="Date Placeholder 4"/>
          <p:cNvSpPr>
            <a:spLocks noGrp="1"/>
          </p:cNvSpPr>
          <p:nvPr>
            <p:ph type="dt" sz="half" idx="11"/>
          </p:nvPr>
        </p:nvSpPr>
        <p:spPr/>
        <p:txBody>
          <a:bodyPr/>
          <a:lstStyle/>
          <a:p>
            <a:r>
              <a:rPr lang="en-US"/>
              <a:t>May 27, 2023</a:t>
            </a:r>
            <a:endParaRPr lang="en-US" dirty="0"/>
          </a:p>
        </p:txBody>
      </p:sp>
      <p:sp>
        <p:nvSpPr>
          <p:cNvPr id="6" name="Footer Placeholder 5"/>
          <p:cNvSpPr>
            <a:spLocks noGrp="1"/>
          </p:cNvSpPr>
          <p:nvPr>
            <p:ph type="ftr" sz="quarter" idx="12"/>
          </p:nvPr>
        </p:nvSpPr>
        <p:spPr/>
        <p:txBody>
          <a:bodyPr/>
          <a:lstStyle/>
          <a:p>
            <a:r>
              <a:rPr lang="en-US"/>
              <a:t>MArburg - Turning Points</a:t>
            </a:r>
            <a:endParaRPr lang="en-US" dirty="0"/>
          </a:p>
        </p:txBody>
      </p:sp>
    </p:spTree>
    <p:extLst>
      <p:ext uri="{BB962C8B-B14F-4D97-AF65-F5344CB8AC3E}">
        <p14:creationId xmlns:p14="http://schemas.microsoft.com/office/powerpoint/2010/main" val="425320763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normAutofit lnSpcReduction="10000"/>
          </a:bodyPr>
          <a:lstStyle/>
          <a:p>
            <a:r>
              <a:rPr lang="en-US" dirty="0"/>
              <a:t>A short Bio</a:t>
            </a:r>
          </a:p>
          <a:p>
            <a:r>
              <a:rPr lang="en-US" dirty="0"/>
              <a:t>Getting (high end) OLTP started</a:t>
            </a:r>
          </a:p>
          <a:p>
            <a:pPr lvl="1"/>
            <a:r>
              <a:rPr lang="en-US" dirty="0"/>
              <a:t>IMS/FP</a:t>
            </a:r>
          </a:p>
          <a:p>
            <a:pPr lvl="1"/>
            <a:r>
              <a:rPr lang="en-US" dirty="0"/>
              <a:t>I/O optimizations</a:t>
            </a:r>
          </a:p>
          <a:p>
            <a:pPr lvl="1"/>
            <a:r>
              <a:rPr lang="en-US" dirty="0"/>
              <a:t>A reflection about the OLTP evolution</a:t>
            </a:r>
          </a:p>
          <a:p>
            <a:r>
              <a:rPr lang="en-US" dirty="0"/>
              <a:t>Situation Awareness</a:t>
            </a:r>
          </a:p>
          <a:p>
            <a:pPr lvl="1"/>
            <a:r>
              <a:rPr lang="en-US" dirty="0"/>
              <a:t>A short look at the history</a:t>
            </a:r>
          </a:p>
          <a:p>
            <a:pPr lvl="1"/>
            <a:r>
              <a:rPr lang="en-US" dirty="0"/>
              <a:t>A review of the status</a:t>
            </a:r>
          </a:p>
          <a:p>
            <a:pPr lvl="1"/>
            <a:r>
              <a:rPr lang="en-US" dirty="0"/>
              <a:t>Some major challenges</a:t>
            </a:r>
          </a:p>
          <a:p>
            <a:r>
              <a:rPr lang="en-US" b="1" dirty="0"/>
              <a:t>Conclusion</a:t>
            </a: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26</a:t>
            </a:fld>
            <a:endParaRPr lang="en-US"/>
          </a:p>
        </p:txBody>
      </p:sp>
    </p:spTree>
    <p:extLst>
      <p:ext uri="{BB962C8B-B14F-4D97-AF65-F5344CB8AC3E}">
        <p14:creationId xmlns:p14="http://schemas.microsoft.com/office/powerpoint/2010/main" val="3253816473"/>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t>
            </a:r>
          </a:p>
        </p:txBody>
      </p:sp>
      <p:sp>
        <p:nvSpPr>
          <p:cNvPr id="3" name="Content Placeholder 2"/>
          <p:cNvSpPr>
            <a:spLocks noGrp="1"/>
          </p:cNvSpPr>
          <p:nvPr>
            <p:ph idx="1"/>
          </p:nvPr>
        </p:nvSpPr>
        <p:spPr/>
        <p:txBody>
          <a:bodyPr>
            <a:normAutofit/>
          </a:bodyPr>
          <a:lstStyle/>
          <a:p>
            <a:pPr marL="0" indent="0">
              <a:buNone/>
            </a:pPr>
            <a:endParaRPr lang="en-US" dirty="0"/>
          </a:p>
          <a:p>
            <a:r>
              <a:rPr lang="en-US" dirty="0"/>
              <a:t>We have visited two turning points</a:t>
            </a:r>
          </a:p>
          <a:p>
            <a:pPr lvl="1"/>
            <a:endParaRPr lang="en-US" b="1" dirty="0"/>
          </a:p>
          <a:p>
            <a:pPr lvl="1"/>
            <a:r>
              <a:rPr lang="en-US" dirty="0"/>
              <a:t>The </a:t>
            </a:r>
            <a:r>
              <a:rPr lang="en-US" b="1" dirty="0"/>
              <a:t>OLTP Turning Point </a:t>
            </a:r>
            <a:r>
              <a:rPr lang="en-US" dirty="0"/>
              <a:t>started about 50 years ago</a:t>
            </a:r>
          </a:p>
          <a:p>
            <a:pPr lvl="2"/>
            <a:r>
              <a:rPr lang="en-US" dirty="0"/>
              <a:t>There are still many important challenges</a:t>
            </a:r>
          </a:p>
          <a:p>
            <a:pPr lvl="1"/>
            <a:endParaRPr lang="en-US" dirty="0"/>
          </a:p>
          <a:p>
            <a:pPr lvl="1"/>
            <a:r>
              <a:rPr lang="en-US" dirty="0"/>
              <a:t>The start of the </a:t>
            </a:r>
            <a:r>
              <a:rPr lang="en-US" b="1" dirty="0"/>
              <a:t>Situation Awareness Turning Point </a:t>
            </a:r>
            <a:r>
              <a:rPr lang="en-US" dirty="0"/>
              <a:t>is upon us</a:t>
            </a:r>
          </a:p>
          <a:p>
            <a:pPr lvl="2"/>
            <a:r>
              <a:rPr lang="en-US" dirty="0"/>
              <a:t>There is much important work ahead of us</a:t>
            </a:r>
          </a:p>
          <a:p>
            <a:pPr lvl="2"/>
            <a:r>
              <a:rPr lang="en-US" b="1" dirty="0"/>
              <a:t>Leverage this great opportunity</a:t>
            </a:r>
          </a:p>
          <a:p>
            <a:pPr lvl="1"/>
            <a:endParaRPr lang="en-US" b="1" dirty="0"/>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27</a:t>
            </a:fld>
            <a:endParaRPr lang="en-US"/>
          </a:p>
        </p:txBody>
      </p:sp>
    </p:spTree>
    <p:extLst>
      <p:ext uri="{BB962C8B-B14F-4D97-AF65-F5344CB8AC3E}">
        <p14:creationId xmlns:p14="http://schemas.microsoft.com/office/powerpoint/2010/main" val="2703211443"/>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p:txBody>
          <a:bodyPr>
            <a:normAutofit/>
          </a:bodyPr>
          <a:lstStyle/>
          <a:p>
            <a:pPr marL="0" indent="0">
              <a:buNone/>
            </a:pPr>
            <a:endParaRPr lang="en-US" dirty="0"/>
          </a:p>
          <a:p>
            <a:pPr marL="273050" lvl="1" indent="0" algn="ctr">
              <a:buNone/>
            </a:pPr>
            <a:endParaRPr lang="en-US" b="1" dirty="0"/>
          </a:p>
          <a:p>
            <a:pPr marL="273050" lvl="1" indent="0" algn="ctr">
              <a:buNone/>
            </a:pPr>
            <a:endParaRPr lang="en-US" b="1" dirty="0"/>
          </a:p>
          <a:p>
            <a:pPr marL="273050" lvl="1" indent="0" algn="ctr">
              <a:buNone/>
            </a:pPr>
            <a:r>
              <a:rPr lang="en-US" sz="7200" b="1" dirty="0">
                <a:solidFill>
                  <a:srgbClr val="FF0000"/>
                </a:solidFill>
                <a:latin typeface="Lucida Handwriting" panose="03010101010101010101" pitchFamily="66" charset="0"/>
              </a:rPr>
              <a:t>Thank You</a:t>
            </a:r>
            <a:endParaRPr lang="en-US" sz="7200" b="1" dirty="0">
              <a:solidFill>
                <a:srgbClr val="FF0000"/>
              </a:solidFill>
              <a:latin typeface="Calibri" panose="020F0502020204030204" pitchFamily="34" charset="0"/>
              <a:cs typeface="Calibri" panose="020F0502020204030204" pitchFamily="34" charset="0"/>
            </a:endParaRPr>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28</a:t>
            </a:fld>
            <a:endParaRPr lang="en-US"/>
          </a:p>
        </p:txBody>
      </p:sp>
    </p:spTree>
    <p:extLst>
      <p:ext uri="{BB962C8B-B14F-4D97-AF65-F5344CB8AC3E}">
        <p14:creationId xmlns:p14="http://schemas.microsoft.com/office/powerpoint/2010/main" val="2928485972"/>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Potential Subjects for the discussion </a:t>
            </a:r>
          </a:p>
        </p:txBody>
      </p:sp>
      <p:sp>
        <p:nvSpPr>
          <p:cNvPr id="3" name="Content Placeholder 2"/>
          <p:cNvSpPr>
            <a:spLocks noGrp="1"/>
          </p:cNvSpPr>
          <p:nvPr>
            <p:ph idx="1"/>
          </p:nvPr>
        </p:nvSpPr>
        <p:spPr/>
        <p:txBody>
          <a:bodyPr>
            <a:normAutofit fontScale="92500" lnSpcReduction="20000"/>
          </a:bodyPr>
          <a:lstStyle/>
          <a:p>
            <a:r>
              <a:rPr lang="en-US" dirty="0"/>
              <a:t>Data spaces</a:t>
            </a:r>
          </a:p>
          <a:p>
            <a:r>
              <a:rPr lang="en-US" dirty="0"/>
              <a:t>SRB’s and there types, fast SVCs – super visor calls</a:t>
            </a:r>
          </a:p>
          <a:p>
            <a:r>
              <a:rPr lang="en-US" dirty="0"/>
              <a:t>Hardware support </a:t>
            </a:r>
            <a:r>
              <a:rPr lang="en-US"/>
              <a:t>to change </a:t>
            </a:r>
            <a:r>
              <a:rPr lang="en-US" dirty="0"/>
              <a:t>authorization </a:t>
            </a:r>
          </a:p>
          <a:p>
            <a:r>
              <a:rPr lang="en-US" dirty="0"/>
              <a:t>AWE – Asynchronous Work Elements</a:t>
            </a:r>
          </a:p>
          <a:p>
            <a:r>
              <a:rPr lang="en-US" dirty="0"/>
              <a:t>Data first or Schema first – a choice between chaos and structure?</a:t>
            </a:r>
          </a:p>
          <a:p>
            <a:r>
              <a:rPr lang="en-US" dirty="0"/>
              <a:t>Refine instruction count by cycle count and pipeline impact </a:t>
            </a:r>
          </a:p>
          <a:p>
            <a:r>
              <a:rPr lang="en-US" dirty="0"/>
              <a:t>RDB technology – a step back in many respects?</a:t>
            </a:r>
          </a:p>
          <a:p>
            <a:r>
              <a:rPr lang="en-US" dirty="0"/>
              <a:t>Expressions as data types</a:t>
            </a:r>
          </a:p>
          <a:p>
            <a:r>
              <a:rPr lang="en-US" dirty="0"/>
              <a:t>Meta data</a:t>
            </a:r>
          </a:p>
          <a:p>
            <a:r>
              <a:rPr lang="en-US" dirty="0"/>
              <a:t>Immutable data</a:t>
            </a:r>
          </a:p>
          <a:p>
            <a:endParaRPr lang="en-US" dirty="0"/>
          </a:p>
          <a:p>
            <a:endParaRPr lang="en-US" dirty="0"/>
          </a:p>
          <a:p>
            <a:pPr lvl="1"/>
            <a:endParaRPr lang="en-US" b="1" dirty="0"/>
          </a:p>
        </p:txBody>
      </p:sp>
      <p:sp>
        <p:nvSpPr>
          <p:cNvPr id="4" name="Date Placeholder 3"/>
          <p:cNvSpPr>
            <a:spLocks noGrp="1"/>
          </p:cNvSpPr>
          <p:nvPr>
            <p:ph type="dt" sz="half" idx="10"/>
          </p:nvPr>
        </p:nvSpPr>
        <p:spPr/>
        <p:txBody>
          <a:bodyPr/>
          <a:lstStyle/>
          <a:p>
            <a:r>
              <a:rPr lang="en-US"/>
              <a:t>May 27, 2023</a:t>
            </a:r>
          </a:p>
        </p:txBody>
      </p:sp>
      <p:sp>
        <p:nvSpPr>
          <p:cNvPr id="5" name="Footer Placeholder 4"/>
          <p:cNvSpPr>
            <a:spLocks noGrp="1"/>
          </p:cNvSpPr>
          <p:nvPr>
            <p:ph type="ftr" sz="quarter" idx="11"/>
          </p:nvPr>
        </p:nvSpPr>
        <p:spPr/>
        <p:txBody>
          <a:bodyPr/>
          <a:lstStyle/>
          <a:p>
            <a:pPr>
              <a:defRPr/>
            </a:pPr>
            <a:r>
              <a:rPr lang="en-US"/>
              <a:t>MArburg - Turning Points</a:t>
            </a:r>
          </a:p>
        </p:txBody>
      </p:sp>
      <p:sp>
        <p:nvSpPr>
          <p:cNvPr id="6" name="Slide Number Placeholder 5"/>
          <p:cNvSpPr>
            <a:spLocks noGrp="1"/>
          </p:cNvSpPr>
          <p:nvPr>
            <p:ph type="sldNum" sz="quarter" idx="12"/>
          </p:nvPr>
        </p:nvSpPr>
        <p:spPr/>
        <p:txBody>
          <a:bodyPr/>
          <a:lstStyle/>
          <a:p>
            <a:fld id="{B9C143FC-47DE-4D18-B57A-9E2A542ABB25}" type="slidenum">
              <a:rPr lang="en-US" smtClean="0"/>
              <a:pPr/>
              <a:t>29</a:t>
            </a:fld>
            <a:endParaRPr lang="en-US"/>
          </a:p>
        </p:txBody>
      </p:sp>
    </p:spTree>
    <p:extLst>
      <p:ext uri="{BB962C8B-B14F-4D97-AF65-F5344CB8AC3E}">
        <p14:creationId xmlns:p14="http://schemas.microsoft.com/office/powerpoint/2010/main" val="3236842252"/>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Oracle_16x9_2014_521">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themeOverride>
</file>

<file path=ppt/theme/themeOverride2.xml><?xml version="1.0" encoding="utf-8"?>
<a:themeOverride xmlns:a="http://schemas.openxmlformats.org/drawingml/2006/main">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themeOverride>
</file>

<file path=ppt/theme/themeOverride3.xml><?xml version="1.0" encoding="utf-8"?>
<a:themeOverride xmlns:a="http://schemas.openxmlformats.org/drawingml/2006/main">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themeOverride>
</file>

<file path=ppt/theme/themeOverride4.xml><?xml version="1.0" encoding="utf-8"?>
<a:themeOverride xmlns:a="http://schemas.openxmlformats.org/drawingml/2006/main">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themeOverride>
</file>

<file path=ppt/theme/themeOverride5.xml><?xml version="1.0" encoding="utf-8"?>
<a:themeOverride xmlns:a="http://schemas.openxmlformats.org/drawingml/2006/main">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Oracle_16x9_2014_521</Template>
  <TotalTime>62513</TotalTime>
  <Words>2853</Words>
  <Application>Microsoft Office PowerPoint</Application>
  <PresentationFormat>Custom</PresentationFormat>
  <Paragraphs>417</Paragraphs>
  <Slides>29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Lucida Handwriting</vt:lpstr>
      <vt:lpstr>Times New Roman</vt:lpstr>
      <vt:lpstr>Oracle_16x9_2014_521</vt:lpstr>
      <vt:lpstr>PowerPoint Presentation</vt:lpstr>
      <vt:lpstr>Turning Points: OLTP in the 1970's, SA (Situation Awareness) in the 2020's</vt:lpstr>
      <vt:lpstr>PowerPoint Presentation</vt:lpstr>
      <vt:lpstr>Agenda</vt:lpstr>
      <vt:lpstr>A Short Bio</vt:lpstr>
      <vt:lpstr>Agenda</vt:lpstr>
      <vt:lpstr>Getting (High End) OLTP Started</vt:lpstr>
      <vt:lpstr>The Typical Banking Transaction</vt:lpstr>
      <vt:lpstr>A More Realistic Banking Transaction </vt:lpstr>
      <vt:lpstr>Implementation and Lesson Learned</vt:lpstr>
      <vt:lpstr>Implementation and Lesson Learned</vt:lpstr>
      <vt:lpstr>Dealing with System Failures</vt:lpstr>
      <vt:lpstr>I/O Optimization</vt:lpstr>
      <vt:lpstr>I/O Optimization - Continuation</vt:lpstr>
      <vt:lpstr>One More Thing</vt:lpstr>
      <vt:lpstr>A Short Reflection About the OLTP Evolution</vt:lpstr>
      <vt:lpstr>Agenda</vt:lpstr>
      <vt:lpstr>What is Situation Awareness (SA)?</vt:lpstr>
      <vt:lpstr>More Specifically</vt:lpstr>
      <vt:lpstr>Why do We Care?</vt:lpstr>
      <vt:lpstr>The OODA Loop – John Boyd (1976)</vt:lpstr>
      <vt:lpstr>KIDS – Mapping the OODA Loop to IT Technology</vt:lpstr>
      <vt:lpstr>KIDS – Alternative View</vt:lpstr>
      <vt:lpstr>Status</vt:lpstr>
      <vt:lpstr>Status and Challenges </vt:lpstr>
      <vt:lpstr>Agenda</vt:lpstr>
      <vt:lpstr>Conclusion </vt:lpstr>
      <vt:lpstr> </vt:lpstr>
      <vt:lpstr>Potential Subjects for the discussion </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the PowerPoint Template</dc:title>
  <dc:creator>Zhen Hua Liu</dc:creator>
  <cp:keywords>Oracle corporate Tagline</cp:keywords>
  <cp:lastModifiedBy>Peter Vogel</cp:lastModifiedBy>
  <cp:revision>485</cp:revision>
  <dcterms:created xsi:type="dcterms:W3CDTF">2014-06-16T20:06:08Z</dcterms:created>
  <dcterms:modified xsi:type="dcterms:W3CDTF">2024-12-31T15:51:46Z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