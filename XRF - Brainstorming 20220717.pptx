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7010400" cy="9296400"/>
  <p:embeddedFontLst>
    <p:embeddedFont>
      <p:font typeface="Dancing Script" panose="020B0604020202020204" charset="0"/>
      <p:regular r:id="rId10"/>
      <p:bold r:id="rId11"/>
    </p:embeddedFont>
    <p:embeddedFont>
      <p:font typeface="Times" panose="02020603050405020304" pitchFamily="18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hhg30aataETIZ0Fu1vj+sck74M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1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title"/>
          </p:nvPr>
        </p:nvSpPr>
        <p:spPr>
          <a:xfrm>
            <a:off x="1185333" y="304800"/>
            <a:ext cx="10109200" cy="94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dt" idx="10"/>
          </p:nvPr>
        </p:nvSpPr>
        <p:spPr>
          <a:xfrm>
            <a:off x="590551" y="6338888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/>
          <p:nvPr/>
        </p:nvSpPr>
        <p:spPr>
          <a:xfrm>
            <a:off x="1219200" y="914401"/>
            <a:ext cx="3765551" cy="2824163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&lt;Insert Picture Here&gt;</a:t>
            </a:r>
            <a:endParaRPr/>
          </a:p>
        </p:txBody>
      </p:sp>
      <p:pic>
        <p:nvPicPr>
          <p:cNvPr id="27" name="Google Shape;27;p10" descr="Tall R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14401"/>
            <a:ext cx="1219200" cy="28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0" descr="Wide R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2634" y="914401"/>
            <a:ext cx="7209367" cy="282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2268" y="4338638"/>
            <a:ext cx="3901017" cy="36671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0"/>
          <p:cNvSpPr txBox="1">
            <a:spLocks noGrp="1"/>
          </p:cNvSpPr>
          <p:nvPr>
            <p:ph type="ctrTitle"/>
          </p:nvPr>
        </p:nvSpPr>
        <p:spPr>
          <a:xfrm>
            <a:off x="1117600" y="4800601"/>
            <a:ext cx="10363200" cy="86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ubTitle" idx="1"/>
          </p:nvPr>
        </p:nvSpPr>
        <p:spPr>
          <a:xfrm>
            <a:off x="1117600" y="57150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dt" idx="10"/>
          </p:nvPr>
        </p:nvSpPr>
        <p:spPr>
          <a:xfrm>
            <a:off x="590551" y="6539789"/>
            <a:ext cx="2844800" cy="27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>
                <a:solidFill>
                  <a:srgbClr val="000000"/>
                </a:solidFill>
              </a:defRPr>
            </a:lvl1pPr>
            <a:lvl2pPr marL="0" lvl="1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>
                <a:solidFill>
                  <a:srgbClr val="000000"/>
                </a:solidFill>
              </a:defRPr>
            </a:lvl2pPr>
            <a:lvl3pPr marL="0" lvl="2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>
                <a:solidFill>
                  <a:srgbClr val="000000"/>
                </a:solidFill>
              </a:defRPr>
            </a:lvl3pPr>
            <a:lvl4pPr marL="0" lvl="3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>
                <a:solidFill>
                  <a:srgbClr val="000000"/>
                </a:solidFill>
              </a:defRPr>
            </a:lvl4pPr>
            <a:lvl5pPr marL="0" lvl="4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>
                <a:solidFill>
                  <a:srgbClr val="000000"/>
                </a:solidFill>
              </a:defRPr>
            </a:lvl5pPr>
            <a:lvl6pPr marL="0" lvl="5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>
                <a:solidFill>
                  <a:srgbClr val="000000"/>
                </a:solidFill>
              </a:defRPr>
            </a:lvl6pPr>
            <a:lvl7pPr marL="0" lvl="6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>
                <a:solidFill>
                  <a:srgbClr val="000000"/>
                </a:solidFill>
              </a:defRPr>
            </a:lvl7pPr>
            <a:lvl8pPr marL="0" lvl="7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>
                <a:solidFill>
                  <a:srgbClr val="000000"/>
                </a:solidFill>
              </a:defRPr>
            </a:lvl8pPr>
            <a:lvl9pPr marL="0" lvl="8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146551" y="6554419"/>
            <a:ext cx="3860800" cy="289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>
            <a:spLocks noGrp="1"/>
          </p:cNvSpPr>
          <p:nvPr>
            <p:ph type="title"/>
          </p:nvPr>
        </p:nvSpPr>
        <p:spPr>
          <a:xfrm>
            <a:off x="1185333" y="304800"/>
            <a:ext cx="10109200" cy="94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0049933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rgbClr val="FF0000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buClr>
                <a:srgbClr val="FF0000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buClr>
                <a:srgbClr val="FF0000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buClr>
                <a:srgbClr val="FF0000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buClr>
                <a:srgbClr val="FF0000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buClr>
                <a:srgbClr val="FF0000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buClr>
                <a:srgbClr val="FF0000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buClr>
                <a:srgbClr val="FF0000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buClr>
                <a:srgbClr val="FF0000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Figure</a:t>
            </a:r>
            <a:fld id="{00000000-1234-1234-1234-123412341234}" type="slidenum">
              <a:rPr lang="en-US" sz="4000"/>
              <a:t>‹#›</a:t>
            </a:fld>
            <a:endParaRPr sz="4000"/>
          </a:p>
        </p:txBody>
      </p:sp>
      <p:sp>
        <p:nvSpPr>
          <p:cNvPr id="39" name="Google Shape;39;p11"/>
          <p:cNvSpPr txBox="1">
            <a:spLocks noGrp="1"/>
          </p:cNvSpPr>
          <p:nvPr>
            <p:ph type="dt" idx="10"/>
          </p:nvPr>
        </p:nvSpPr>
        <p:spPr>
          <a:xfrm>
            <a:off x="590551" y="6380452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ftr" idx="11"/>
          </p:nvPr>
        </p:nvSpPr>
        <p:spPr>
          <a:xfrm>
            <a:off x="3711120" y="6382430"/>
            <a:ext cx="5552623" cy="475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dt" idx="10"/>
          </p:nvPr>
        </p:nvSpPr>
        <p:spPr>
          <a:xfrm>
            <a:off x="590551" y="6338888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1185333" y="304800"/>
            <a:ext cx="10109200" cy="94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1"/>
          </p:nvPr>
        </p:nvSpPr>
        <p:spPr>
          <a:xfrm>
            <a:off x="914401" y="1600200"/>
            <a:ext cx="4923367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body" idx="2"/>
          </p:nvPr>
        </p:nvSpPr>
        <p:spPr>
          <a:xfrm>
            <a:off x="6040967" y="1600200"/>
            <a:ext cx="4923367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dt" idx="10"/>
          </p:nvPr>
        </p:nvSpPr>
        <p:spPr>
          <a:xfrm>
            <a:off x="590551" y="6338888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  <a:defRPr sz="1600"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dt" idx="10"/>
          </p:nvPr>
        </p:nvSpPr>
        <p:spPr>
          <a:xfrm>
            <a:off x="590551" y="6338888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590551" y="6380452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•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  <a:defRPr sz="2000"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dt" idx="10"/>
          </p:nvPr>
        </p:nvSpPr>
        <p:spPr>
          <a:xfrm>
            <a:off x="590551" y="6338888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dt" idx="10"/>
          </p:nvPr>
        </p:nvSpPr>
        <p:spPr>
          <a:xfrm>
            <a:off x="590551" y="6338888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1185333" y="304800"/>
            <a:ext cx="10109200" cy="94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 rot="5400000">
            <a:off x="3767667" y="-1253066"/>
            <a:ext cx="4343400" cy="1004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dt" idx="10"/>
          </p:nvPr>
        </p:nvSpPr>
        <p:spPr>
          <a:xfrm>
            <a:off x="590551" y="6338888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 rot="5400000">
            <a:off x="7177617" y="1826684"/>
            <a:ext cx="5638800" cy="259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 rot="5400000">
            <a:off x="1885951" y="-666750"/>
            <a:ext cx="5638800" cy="75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590551" y="6338888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8" descr="Red Bar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6172201"/>
            <a:ext cx="12192000" cy="22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8" descr="Small Red Square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" y="0"/>
            <a:ext cx="918633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8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10049933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title"/>
          </p:nvPr>
        </p:nvSpPr>
        <p:spPr>
          <a:xfrm>
            <a:off x="1185333" y="304800"/>
            <a:ext cx="10109200" cy="94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/>
          <p:nvPr/>
        </p:nvSpPr>
        <p:spPr>
          <a:xfrm>
            <a:off x="0" y="6172200"/>
            <a:ext cx="1219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" name="Google Shape;15;p8" descr="Oracle WHITE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60000" y="6226176"/>
            <a:ext cx="1263651" cy="11906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8"/>
          <p:cNvSpPr txBox="1"/>
          <p:nvPr/>
        </p:nvSpPr>
        <p:spPr>
          <a:xfrm>
            <a:off x="105834" y="6126163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1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590551" y="6338888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>
                <a:solidFill>
                  <a:srgbClr val="000000"/>
                </a:solidFill>
              </a:rPr>
              <a:t>Slide </a:t>
            </a: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dt" idx="10"/>
          </p:nvPr>
        </p:nvSpPr>
        <p:spPr>
          <a:xfrm>
            <a:off x="590551" y="6338888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None/>
            </a:pPr>
            <a:r>
              <a:rPr lang="en-US">
                <a:solidFill>
                  <a:srgbClr val="000000"/>
                </a:solidFill>
              </a:rPr>
              <a:t>10/29/2022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0" name="Google Shape;100;p1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None/>
            </a:pPr>
            <a:r>
              <a:rPr lang="en-US">
                <a:solidFill>
                  <a:srgbClr val="000000"/>
                </a:solidFill>
              </a:rPr>
              <a:t>The list of papers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914400" y="1600200"/>
            <a:ext cx="10380133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373188" marR="0" lvl="4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3188" marR="0" lvl="4" indent="0" algn="ctr" rtl="0">
              <a:spcBef>
                <a:spcPts val="24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FF0000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  <a:p>
            <a:pPr marL="1373188" marR="0" lvl="4" indent="0" algn="ctr" rtl="0">
              <a:spcBef>
                <a:spcPts val="24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FF0000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  <a:p>
            <a:pPr marL="1373188" marR="0" lvl="4" indent="0" algn="ctr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Dancing Script"/>
              <a:buNone/>
            </a:pPr>
            <a:r>
              <a:rPr lang="en-US" sz="4000" b="0" i="0" u="none" strike="noStrike" cap="none">
                <a:solidFill>
                  <a:srgbClr val="FF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Paper </a:t>
            </a:r>
            <a:endParaRPr/>
          </a:p>
          <a:p>
            <a:pPr marL="1373188" marR="0" lvl="4" indent="0" algn="ctr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endParaRPr sz="4000" b="0" i="0" u="none" strike="noStrike" cap="none">
              <a:solidFill>
                <a:srgbClr val="FF0000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  <a:p>
            <a:pPr marL="1373188" marR="0" lvl="4" indent="0" algn="ctr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Dancing Script"/>
              <a:buNone/>
            </a:pPr>
            <a:r>
              <a:rPr lang="en-US" sz="4000" b="0" i="0" u="none" strike="noStrike" cap="none">
                <a:solidFill>
                  <a:srgbClr val="FF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Structure</a:t>
            </a:r>
            <a:endParaRPr/>
          </a:p>
          <a:p>
            <a:pPr marL="1258888" marR="0" lvl="3" indent="-103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7013" marR="0" lvl="0" indent="-74613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>
            <a:spLocks noGrp="1"/>
          </p:cNvSpPr>
          <p:nvPr>
            <p:ph type="title"/>
          </p:nvPr>
        </p:nvSpPr>
        <p:spPr>
          <a:xfrm>
            <a:off x="1185333" y="304800"/>
            <a:ext cx="10109200" cy="94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Papers – Name and Content</a:t>
            </a:r>
            <a:endParaRPr sz="2400"/>
          </a:p>
        </p:txBody>
      </p:sp>
      <p:sp>
        <p:nvSpPr>
          <p:cNvPr id="108" name="Google Shape;108;p2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>
                <a:solidFill>
                  <a:srgbClr val="000000"/>
                </a:solidFill>
              </a:rPr>
              <a:t>Slide </a:t>
            </a:r>
            <a:fld id="{00000000-1234-1234-1234-123412341234}" type="slidenum">
              <a:rPr lang="en-US">
                <a:solidFill>
                  <a:srgbClr val="000000"/>
                </a:solidFill>
              </a:rPr>
              <a:t>2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09" name="Google Shape;109;p2"/>
          <p:cNvSpPr txBox="1">
            <a:spLocks noGrp="1"/>
          </p:cNvSpPr>
          <p:nvPr>
            <p:ph type="dt" idx="10"/>
          </p:nvPr>
        </p:nvSpPr>
        <p:spPr>
          <a:xfrm>
            <a:off x="590551" y="6338888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None/>
            </a:pPr>
            <a:r>
              <a:rPr lang="en-US">
                <a:solidFill>
                  <a:srgbClr val="000000"/>
                </a:solidFill>
              </a:rPr>
              <a:t>10/29/2022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0" name="Google Shape;110;p2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None/>
            </a:pPr>
            <a:r>
              <a:rPr lang="en-US">
                <a:solidFill>
                  <a:srgbClr val="000000"/>
                </a:solidFill>
              </a:rPr>
              <a:t>The list of papers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914400" y="1600200"/>
            <a:ext cx="10049933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7013" marR="0" lvl="0" indent="-22701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Introduction</a:t>
            </a:r>
            <a:endParaRPr/>
          </a:p>
          <a:p>
            <a:pPr marL="569913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objective	</a:t>
            </a:r>
            <a:endParaRPr/>
          </a:p>
          <a:p>
            <a:pPr marL="569913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(preliminary) sequence</a:t>
            </a:r>
            <a:endParaRPr/>
          </a:p>
          <a:p>
            <a:pPr marL="569913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personal background</a:t>
            </a:r>
            <a:endParaRPr/>
          </a:p>
          <a:p>
            <a:pPr marL="227013" marR="0" lvl="0" indent="-227013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beginning of high end OLTP</a:t>
            </a:r>
            <a:endParaRPr/>
          </a:p>
          <a:p>
            <a:pPr marL="569913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the IMS/FP part – maybe it requires two parts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objectives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architectural principles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functional model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core contribution</a:t>
            </a:r>
            <a:endParaRPr/>
          </a:p>
          <a:p>
            <a:pPr marL="227013" marR="0" lvl="0" indent="-74613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7013" marR="0" lvl="0" indent="-74613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1185333" y="304800"/>
            <a:ext cx="10109200" cy="94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Papers – Name and Content - continuation</a:t>
            </a:r>
            <a:endParaRPr sz="2400"/>
          </a:p>
        </p:txBody>
      </p:sp>
      <p:sp>
        <p:nvSpPr>
          <p:cNvPr id="118" name="Google Shape;118;p3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>
                <a:solidFill>
                  <a:srgbClr val="000000"/>
                </a:solidFill>
              </a:rPr>
              <a:t>Slide </a:t>
            </a: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19" name="Google Shape;119;p3"/>
          <p:cNvSpPr txBox="1">
            <a:spLocks noGrp="1"/>
          </p:cNvSpPr>
          <p:nvPr>
            <p:ph type="dt" idx="10"/>
          </p:nvPr>
        </p:nvSpPr>
        <p:spPr>
          <a:xfrm>
            <a:off x="590551" y="6338888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None/>
            </a:pPr>
            <a:r>
              <a:rPr lang="en-US">
                <a:solidFill>
                  <a:srgbClr val="000000"/>
                </a:solidFill>
              </a:rPr>
              <a:t>10/29/2022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0" name="Google Shape;120;p3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None/>
            </a:pPr>
            <a:r>
              <a:rPr lang="en-US">
                <a:solidFill>
                  <a:srgbClr val="000000"/>
                </a:solidFill>
              </a:rPr>
              <a:t>The list of papers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914400" y="1600200"/>
            <a:ext cx="10049933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227013" marR="0" lvl="0" indent="-19272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Removing service interruptions</a:t>
            </a:r>
            <a:endParaRPr/>
          </a:p>
          <a:p>
            <a:pPr marL="569913" marR="0" lvl="1" indent="-200025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the XRF part</a:t>
            </a:r>
            <a:endParaRPr/>
          </a:p>
          <a:p>
            <a:pPr marL="914400" marR="0" lvl="2" indent="-201612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objectives</a:t>
            </a:r>
            <a:endParaRPr/>
          </a:p>
          <a:p>
            <a:pPr marL="914400" marR="0" lvl="2" indent="-201612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architectural principles</a:t>
            </a:r>
            <a:endParaRPr/>
          </a:p>
          <a:p>
            <a:pPr marL="914400" marR="0" lvl="2" indent="-201612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functional model</a:t>
            </a:r>
            <a:endParaRPr/>
          </a:p>
          <a:p>
            <a:pPr marL="914400" marR="0" lvl="2" indent="-201612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core contribution</a:t>
            </a:r>
            <a:endParaRPr/>
          </a:p>
          <a:p>
            <a:pPr marL="227013" marR="0" lvl="0" indent="-192723" algn="l" rtl="0">
              <a:spcBef>
                <a:spcPts val="372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algorithms to improve I/O performance</a:t>
            </a:r>
            <a:endParaRPr/>
          </a:p>
          <a:p>
            <a:pPr marL="569913" marR="0" lvl="1" indent="-200025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LWA (Log Write Ahead data set)</a:t>
            </a:r>
            <a:endParaRPr/>
          </a:p>
          <a:p>
            <a:pPr marL="914400" marR="0" lvl="2" indent="-201612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Dropping delay for LWA from 30 ms to 1 ms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69913" marR="0" lvl="1" indent="-200025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LSM (Log Structured Merge Tree) </a:t>
            </a:r>
            <a:endParaRPr/>
          </a:p>
          <a:p>
            <a:pPr marL="914400" marR="0" lvl="2" indent="-201612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LWA was the inspiration for the LSM idea</a:t>
            </a:r>
            <a:endParaRPr/>
          </a:p>
          <a:p>
            <a:pPr marL="569913" marR="0" lvl="1" indent="-200025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A-RAID 5</a:t>
            </a:r>
            <a:endParaRPr/>
          </a:p>
          <a:p>
            <a:pPr marL="914400" marR="0" lvl="2" indent="-201612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Pushing the boundaries of throughput and reliability</a:t>
            </a:r>
            <a:endParaRPr/>
          </a:p>
          <a:p>
            <a:pPr marL="569913" marR="0" lvl="1" indent="-200025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Introducing solid state device/media</a:t>
            </a:r>
            <a:endParaRPr/>
          </a:p>
          <a:p>
            <a:pPr marL="914400" marR="0" lvl="2" indent="-201612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Leveraging high IOPS</a:t>
            </a:r>
            <a:endParaRPr/>
          </a:p>
          <a:p>
            <a:pPr marL="569913" marR="0" lvl="1" indent="-130175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72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marL="569913" marR="0" lvl="1" indent="-130175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01788" marR="0" lvl="4" indent="-130175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58888" marR="0" lvl="3" indent="-131762" algn="l" rtl="0"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7013" marR="0" lvl="0" indent="-108903" algn="l" rtl="0">
              <a:spcBef>
                <a:spcPts val="372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7013" marR="0" lvl="0" indent="-108903" algn="l" rtl="0">
              <a:spcBef>
                <a:spcPts val="372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1185333" y="304800"/>
            <a:ext cx="10109200" cy="94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Papers – Name and Content - continuation</a:t>
            </a:r>
            <a:endParaRPr/>
          </a:p>
        </p:txBody>
      </p:sp>
      <p:sp>
        <p:nvSpPr>
          <p:cNvPr id="128" name="Google Shape;128;p4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>
                <a:solidFill>
                  <a:srgbClr val="000000"/>
                </a:solidFill>
              </a:rPr>
              <a:t>Slide </a:t>
            </a:r>
            <a:fld id="{00000000-1234-1234-1234-123412341234}" type="slidenum">
              <a:rPr lang="en-US">
                <a:solidFill>
                  <a:srgbClr val="000000"/>
                </a:solidFill>
              </a:rPr>
              <a:t>4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29" name="Google Shape;129;p4"/>
          <p:cNvSpPr txBox="1">
            <a:spLocks noGrp="1"/>
          </p:cNvSpPr>
          <p:nvPr>
            <p:ph type="dt" idx="10"/>
          </p:nvPr>
        </p:nvSpPr>
        <p:spPr>
          <a:xfrm>
            <a:off x="590551" y="6338888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None/>
            </a:pPr>
            <a:r>
              <a:rPr lang="en-US">
                <a:solidFill>
                  <a:srgbClr val="000000"/>
                </a:solidFill>
              </a:rPr>
              <a:t>10/29/2022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0" name="Google Shape;130;p4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None/>
            </a:pPr>
            <a:r>
              <a:rPr lang="en-US">
                <a:solidFill>
                  <a:srgbClr val="000000"/>
                </a:solidFill>
              </a:rPr>
              <a:t>The list of papers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914400" y="1600200"/>
            <a:ext cx="10049933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7013" marR="0" lvl="0" indent="-22701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Expression Filter  	</a:t>
            </a:r>
            <a:endParaRPr/>
          </a:p>
          <a:p>
            <a:pPr marL="569913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significant extension of the data management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objectives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architectural principles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functional model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core contribution</a:t>
            </a:r>
            <a:endParaRPr/>
          </a:p>
          <a:p>
            <a:pPr marL="227013" marR="0" lvl="0" indent="-227013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based queue management</a:t>
            </a:r>
            <a:endParaRPr/>
          </a:p>
          <a:p>
            <a:pPr marL="569913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leverage database technology for business level queue management 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objectives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architectural principles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functional model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core contribution</a:t>
            </a:r>
            <a:endParaRPr/>
          </a:p>
          <a:p>
            <a:pPr marL="569913" marR="0" lvl="1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69913" marR="0" lvl="1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4212" marR="0" lvl="2" indent="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01788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58888" marR="0" lvl="3" indent="-103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7013" marR="0" lvl="0" indent="-74613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1185333" y="304800"/>
            <a:ext cx="10109200" cy="94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Papers – Name and Content - continuation</a:t>
            </a:r>
            <a:endParaRPr sz="2400"/>
          </a:p>
        </p:txBody>
      </p:sp>
      <p:sp>
        <p:nvSpPr>
          <p:cNvPr id="138" name="Google Shape;138;p5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>
                <a:solidFill>
                  <a:srgbClr val="000000"/>
                </a:solidFill>
              </a:rPr>
              <a:t>Slide </a:t>
            </a:r>
            <a:fld id="{00000000-1234-1234-1234-123412341234}" type="slidenum">
              <a:rPr lang="en-US">
                <a:solidFill>
                  <a:srgbClr val="000000"/>
                </a:solidFill>
              </a:rPr>
              <a:t>5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39" name="Google Shape;139;p5"/>
          <p:cNvSpPr txBox="1">
            <a:spLocks noGrp="1"/>
          </p:cNvSpPr>
          <p:nvPr>
            <p:ph type="dt" idx="10"/>
          </p:nvPr>
        </p:nvSpPr>
        <p:spPr>
          <a:xfrm>
            <a:off x="590551" y="6338888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None/>
            </a:pPr>
            <a:r>
              <a:rPr lang="en-US">
                <a:solidFill>
                  <a:srgbClr val="000000"/>
                </a:solidFill>
              </a:rPr>
              <a:t>10/29/2022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None/>
            </a:pPr>
            <a:r>
              <a:rPr lang="en-US">
                <a:solidFill>
                  <a:srgbClr val="000000"/>
                </a:solidFill>
              </a:rPr>
              <a:t>The list of papers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914400" y="1600200"/>
            <a:ext cx="10049933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7013" marR="0" lvl="0" indent="-22701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Transactions, Sagas, and Workflow</a:t>
            </a:r>
            <a:endParaRPr/>
          </a:p>
          <a:p>
            <a:pPr marL="569913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issues: A big conflict: Atomicity separates, Sagas/Workflows connect transactions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objectives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architectural principles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functional model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core contribution</a:t>
            </a:r>
            <a:endParaRPr/>
          </a:p>
          <a:p>
            <a:pPr marL="227013" marR="0" lvl="0" indent="-227013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Situation Awareness</a:t>
            </a:r>
            <a:endParaRPr/>
          </a:p>
          <a:p>
            <a:pPr marL="569913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too complex to add here, there is another brainstorming file</a:t>
            </a:r>
            <a:endParaRPr/>
          </a:p>
          <a:p>
            <a:pPr marL="914400" marR="0" lvl="2" indent="-103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7013" marR="0" lvl="0" indent="-74613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69913" marR="0" lvl="1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01788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58888" marR="0" lvl="3" indent="-103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7013" marR="0" lvl="0" indent="-74613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>
            <a:spLocks noGrp="1"/>
          </p:cNvSpPr>
          <p:nvPr>
            <p:ph type="title"/>
          </p:nvPr>
        </p:nvSpPr>
        <p:spPr>
          <a:xfrm>
            <a:off x="1185333" y="304800"/>
            <a:ext cx="10109200" cy="94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Papers – Name and Content - continuation</a:t>
            </a:r>
            <a:endParaRPr sz="2400"/>
          </a:p>
        </p:txBody>
      </p:sp>
      <p:sp>
        <p:nvSpPr>
          <p:cNvPr id="148" name="Google Shape;148;p6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>
                <a:solidFill>
                  <a:srgbClr val="000000"/>
                </a:solidFill>
              </a:rPr>
              <a:t>Slide </a:t>
            </a:r>
            <a:fld id="{00000000-1234-1234-1234-123412341234}" type="slidenum">
              <a:rPr lang="en-US">
                <a:solidFill>
                  <a:srgbClr val="000000"/>
                </a:solidFill>
              </a:rPr>
              <a:t>6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49" name="Google Shape;149;p6"/>
          <p:cNvSpPr txBox="1">
            <a:spLocks noGrp="1"/>
          </p:cNvSpPr>
          <p:nvPr>
            <p:ph type="dt" idx="10"/>
          </p:nvPr>
        </p:nvSpPr>
        <p:spPr>
          <a:xfrm>
            <a:off x="590551" y="6338888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None/>
            </a:pPr>
            <a:r>
              <a:rPr lang="en-US">
                <a:solidFill>
                  <a:srgbClr val="000000"/>
                </a:solidFill>
              </a:rPr>
              <a:t>10/29/2022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0" name="Google Shape;150;p6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None/>
            </a:pPr>
            <a:r>
              <a:rPr lang="en-US">
                <a:solidFill>
                  <a:srgbClr val="000000"/>
                </a:solidFill>
              </a:rPr>
              <a:t>The list of papers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914400" y="1600200"/>
            <a:ext cx="10049933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7013" marR="0" lvl="0" indent="-22701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Things that may deserve their own chapter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Temporal databases – provide a look into the past</a:t>
            </a:r>
            <a:endParaRPr/>
          </a:p>
          <a:p>
            <a:pPr marL="1258888" marR="0" lvl="3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snapshots to evolutions</a:t>
            </a:r>
            <a:endParaRPr/>
          </a:p>
          <a:p>
            <a:pPr marL="1258888" marR="0" lvl="3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the power of provenance to analytics and ML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processing/Situation Awareness– identify in real time what needs attention</a:t>
            </a:r>
            <a:endParaRPr/>
          </a:p>
          <a:p>
            <a:pPr marL="1258888" marR="0" lvl="3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Notify people/actors as soon an abnormal condition is detected</a:t>
            </a:r>
            <a:endParaRPr/>
          </a:p>
          <a:p>
            <a:pPr marL="1258888" marR="0" lvl="3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Leverage  CQN (Continuous Query Notification) for Streams</a:t>
            </a:r>
            <a:endParaRPr/>
          </a:p>
          <a:p>
            <a:pPr marL="914400" marR="0" lvl="2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Unify temporal and event processing support</a:t>
            </a:r>
            <a:endParaRPr/>
          </a:p>
          <a:p>
            <a:pPr marL="1258888" marR="0" lvl="3" indent="-230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should be a single model looking at the past and the future </a:t>
            </a:r>
            <a:endParaRPr/>
          </a:p>
          <a:p>
            <a:pPr marL="341313" marR="0" lvl="1" indent="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69913" marR="0" lvl="1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01788" marR="0" lvl="4" indent="-101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58888" marR="0" lvl="3" indent="-10318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7013" marR="0" lvl="0" indent="-74613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>
            <a:spLocks noGrp="1"/>
          </p:cNvSpPr>
          <p:nvPr>
            <p:ph type="title"/>
          </p:nvPr>
        </p:nvSpPr>
        <p:spPr>
          <a:xfrm>
            <a:off x="1185333" y="304800"/>
            <a:ext cx="10109200" cy="941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Papers – Name and Content - continuation</a:t>
            </a:r>
            <a:endParaRPr sz="2400"/>
          </a:p>
        </p:txBody>
      </p:sp>
      <p:sp>
        <p:nvSpPr>
          <p:cNvPr id="158" name="Google Shape;158;p7"/>
          <p:cNvSpPr txBox="1">
            <a:spLocks noGrp="1"/>
          </p:cNvSpPr>
          <p:nvPr>
            <p:ph type="sldNum" idx="12"/>
          </p:nvPr>
        </p:nvSpPr>
        <p:spPr>
          <a:xfrm>
            <a:off x="9389533" y="630078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>
                <a:solidFill>
                  <a:srgbClr val="000000"/>
                </a:solidFill>
              </a:rPr>
              <a:t>Slide </a:t>
            </a:r>
            <a:fld id="{00000000-1234-1234-1234-123412341234}" type="slidenum">
              <a:rPr lang="en-US">
                <a:solidFill>
                  <a:srgbClr val="000000"/>
                </a:solidFill>
              </a:rPr>
              <a:t>7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59" name="Google Shape;159;p7"/>
          <p:cNvSpPr txBox="1">
            <a:spLocks noGrp="1"/>
          </p:cNvSpPr>
          <p:nvPr>
            <p:ph type="dt" idx="10"/>
          </p:nvPr>
        </p:nvSpPr>
        <p:spPr>
          <a:xfrm>
            <a:off x="590551" y="6338888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None/>
            </a:pPr>
            <a:r>
              <a:rPr lang="en-US">
                <a:solidFill>
                  <a:srgbClr val="000000"/>
                </a:solidFill>
              </a:rPr>
              <a:t>10/30/2022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0" name="Google Shape;160;p7"/>
          <p:cNvSpPr txBox="1">
            <a:spLocks noGrp="1"/>
          </p:cNvSpPr>
          <p:nvPr>
            <p:ph type="ftr" idx="11"/>
          </p:nvPr>
        </p:nvSpPr>
        <p:spPr>
          <a:xfrm>
            <a:off x="4146551" y="6367463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None/>
            </a:pPr>
            <a:r>
              <a:rPr lang="en-US">
                <a:solidFill>
                  <a:srgbClr val="000000"/>
                </a:solidFill>
              </a:rPr>
              <a:t>The list of papers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914400" y="1600200"/>
            <a:ext cx="10049933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8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Track paper updates on the following topics:</a:t>
            </a:r>
            <a:endParaRPr/>
          </a:p>
          <a:p>
            <a:pPr marL="457200" marR="0" lvl="0" indent="-22701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8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Techniques for efficient transaction processing</a:t>
            </a:r>
            <a:endParaRPr/>
          </a:p>
          <a:p>
            <a:pPr marL="8001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See IMS/FP section</a:t>
            </a:r>
            <a:endParaRPr sz="1400" b="0" i="0" u="none" strike="noStrike" cap="none">
              <a:solidFill>
                <a:srgbClr val="4242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701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8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Techniques for building failure-resistant transaction processing systems</a:t>
            </a:r>
            <a:endParaRPr/>
          </a:p>
          <a:p>
            <a:pPr marL="8001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See IMS/FP and XRF section</a:t>
            </a:r>
            <a:endParaRPr sz="1400" b="0" i="0" u="none" strike="noStrike" cap="none">
              <a:solidFill>
                <a:srgbClr val="4242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701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8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Techniques for high-speed data ingest</a:t>
            </a:r>
            <a:endParaRPr/>
          </a:p>
          <a:p>
            <a:pPr marL="8001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We have to defer this – this will be an application of LWADS, LSM, and A-RAiID5</a:t>
            </a:r>
            <a:endParaRPr/>
          </a:p>
          <a:p>
            <a:pPr marL="457200" marR="0" lvl="0" indent="-22701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8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Queuing, Event Processing, and Expression Filters</a:t>
            </a:r>
            <a:endParaRPr/>
          </a:p>
          <a:p>
            <a:pPr marL="8001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Event processing  could be thought as a technology that consists of</a:t>
            </a:r>
            <a:endParaRPr/>
          </a:p>
          <a:p>
            <a:pPr marL="1144587" marR="0" lvl="2" indent="-23018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Event specification</a:t>
            </a:r>
            <a:endParaRPr/>
          </a:p>
          <a:p>
            <a:pPr marL="1144587" marR="0" lvl="2" indent="-23018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Event detection</a:t>
            </a:r>
            <a:endParaRPr/>
          </a:p>
          <a:p>
            <a:pPr marL="1144587" marR="0" lvl="2" indent="-23018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Event notification</a:t>
            </a:r>
            <a:endParaRPr/>
          </a:p>
          <a:p>
            <a:pPr marL="1144587" marR="0" lvl="2" indent="-230187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Messaging as underlying communications technology</a:t>
            </a:r>
            <a:endParaRPr/>
          </a:p>
          <a:p>
            <a:pPr marL="8001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Expression Filter needs a different home – it should be a section by itself</a:t>
            </a:r>
            <a:endParaRPr/>
          </a:p>
          <a:p>
            <a:pPr marL="457200" marR="0" lvl="0" indent="-22701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8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KIDS:  What behaviors define KIDS</a:t>
            </a:r>
            <a:endParaRPr/>
          </a:p>
          <a:p>
            <a:pPr marL="8001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IT layer with communication in IT jargon: data ingest, data cleanup, data storage, (ML based) event detection, model development, …</a:t>
            </a:r>
            <a:endParaRPr/>
          </a:p>
          <a:p>
            <a:pPr marL="8001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SME (Subject Matter Expert) layer with communication in domain specific languages – classification, root cause analysis, resolution guided by best matching examples/experience potentially from other (leading) SMEs.</a:t>
            </a:r>
            <a:endParaRPr/>
          </a:p>
          <a:p>
            <a:pPr marL="457200" marR="0" lvl="0" indent="-22701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Metadata – this is a big gap </a:t>
            </a:r>
            <a:endParaRPr/>
          </a:p>
          <a:p>
            <a:pPr marL="8001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There is substantial work with the University Leipzig – we have a prototype and a paper, we have made progress in the consistent access to the past and the future. </a:t>
            </a:r>
            <a:endParaRPr/>
          </a:p>
          <a:p>
            <a:pPr marL="341313" marR="0" lvl="1" indent="0" algn="l" rtl="0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69913" marR="0" lvl="1" indent="-111125" algn="l" rtl="0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01788" marR="0" lvl="4" indent="-111125" algn="l" rtl="0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58888" marR="0" lvl="3" indent="-112712" algn="l" rtl="0">
              <a:spcBef>
                <a:spcPts val="37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7013" marR="0" lvl="0" indent="-86043" algn="l" rtl="0">
              <a:spcBef>
                <a:spcPts val="444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Blank Presentation">
  <a:themeElements>
    <a:clrScheme name="Foundry">
      <a:dk1>
        <a:srgbClr val="000000"/>
      </a:dk1>
      <a:lt1>
        <a:srgbClr val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</Words>
  <Application>Microsoft Office PowerPoint</Application>
  <PresentationFormat>Widescreen</PresentationFormat>
  <Paragraphs>133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Dancing Script</vt:lpstr>
      <vt:lpstr>Times New Roman</vt:lpstr>
      <vt:lpstr>Times</vt:lpstr>
      <vt:lpstr>Calibri</vt:lpstr>
      <vt:lpstr>Arial</vt:lpstr>
      <vt:lpstr>Blank Presentation</vt:lpstr>
      <vt:lpstr>PowerPoint Presentation</vt:lpstr>
      <vt:lpstr>The Papers – Name and Content</vt:lpstr>
      <vt:lpstr>The Papers – Name and Content - continuation</vt:lpstr>
      <vt:lpstr>The Papers – Name and Content - continuation</vt:lpstr>
      <vt:lpstr>The Papers – Name and Content - continuation</vt:lpstr>
      <vt:lpstr>The Papers – Name and Content - continuation</vt:lpstr>
      <vt:lpstr>The Papers – Name and Content - continuation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Dieter Gawlick</dc:creator>
  <cp:lastModifiedBy>Peter Vogel</cp:lastModifiedBy>
  <cp:revision>1</cp:revision>
  <dcterms:created xsi:type="dcterms:W3CDTF">2017-11-07T18:17:29Z</dcterms:created>
  <dcterms:modified xsi:type="dcterms:W3CDTF">2025-08-29T11:46:32Z</dcterms:modified>
</cp:coreProperties>
</file>